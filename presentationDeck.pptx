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6" r:id="rId2"/>
    <p:sldId id="292" r:id="rId3"/>
    <p:sldId id="257" r:id="rId4"/>
    <p:sldId id="290" r:id="rId5"/>
    <p:sldId id="258" r:id="rId6"/>
    <p:sldId id="259" r:id="rId7"/>
    <p:sldId id="260" r:id="rId8"/>
    <p:sldId id="261" r:id="rId9"/>
    <p:sldId id="262" r:id="rId10"/>
    <p:sldId id="291" r:id="rId11"/>
    <p:sldId id="263" r:id="rId12"/>
    <p:sldId id="264" r:id="rId13"/>
    <p:sldId id="265" r:id="rId14"/>
    <p:sldId id="266" r:id="rId15"/>
    <p:sldId id="289" r:id="rId16"/>
    <p:sldId id="285" r:id="rId17"/>
    <p:sldId id="288" r:id="rId18"/>
    <p:sldId id="287" r:id="rId19"/>
    <p:sldId id="268" r:id="rId20"/>
    <p:sldId id="269" r:id="rId21"/>
    <p:sldId id="270" r:id="rId22"/>
    <p:sldId id="271" r:id="rId23"/>
    <p:sldId id="272" r:id="rId24"/>
    <p:sldId id="273" r:id="rId25"/>
    <p:sldId id="274" r:id="rId26"/>
    <p:sldId id="284" r:id="rId27"/>
    <p:sldId id="275" r:id="rId28"/>
    <p:sldId id="276" r:id="rId29"/>
    <p:sldId id="277" r:id="rId30"/>
    <p:sldId id="278" r:id="rId31"/>
    <p:sldId id="279" r:id="rId32"/>
    <p:sldId id="280" r:id="rId33"/>
    <p:sldId id="281" r:id="rId34"/>
    <p:sldId id="282" r:id="rId35"/>
    <p:sldId id="28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FA6"/>
    <a:srgbClr val="1247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E7404A-C242-5283-C63D-D0EC50B46AC3}" v="308" dt="2025-12-16T23:02:08.8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535DCF-3E0D-4F3F-8811-515FBFA705DD}" type="datetimeFigureOut">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DD9016-8228-47E0-A201-5945CCA5E6B0}" type="slidenum">
              <a:t>‹#›</a:t>
            </a:fld>
            <a:endParaRPr lang="en-US"/>
          </a:p>
        </p:txBody>
      </p:sp>
    </p:spTree>
    <p:extLst>
      <p:ext uri="{BB962C8B-B14F-4D97-AF65-F5344CB8AC3E}">
        <p14:creationId xmlns:p14="http://schemas.microsoft.com/office/powerpoint/2010/main" val="30957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Thank you for being here. Today I'll be presenting my research on automated code smell detection using </a:t>
            </a:r>
            <a:r>
              <a:rPr lang="en-US" dirty="0" err="1"/>
              <a:t>CodeBERT</a:t>
            </a:r>
            <a:r>
              <a:rPr lang="en-US" dirty="0"/>
              <a:t> embeddings combined with machine learning classifiers. This work addresses a critical challenge in software engineering: maintaining code quality at scale. Let me start by showing you what makes this approach novel and practical.</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1</a:t>
            </a:fld>
            <a:endParaRPr lang="en-US"/>
          </a:p>
        </p:txBody>
      </p:sp>
    </p:spTree>
    <p:extLst>
      <p:ext uri="{BB962C8B-B14F-4D97-AF65-F5344CB8AC3E}">
        <p14:creationId xmlns:p14="http://schemas.microsoft.com/office/powerpoint/2010/main" val="4208683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want to start with what makes this work novel. On the left, you see the traditional approach—engineers manually define dozens of metrics like cyclomatic complexity, coupling measures, cohesion indices. This requires extensive domain expertise and doesn't scale. On the right is my approach: we take raw code text, pass it through </a:t>
            </a:r>
            <a:r>
              <a:rPr lang="en-US" dirty="0" err="1"/>
              <a:t>CodeBERT</a:t>
            </a:r>
            <a:r>
              <a:rPr lang="en-US" dirty="0"/>
              <a:t> to get semantic embeddings, and then use either Random Forest or a Neural Network classifier. The key insight: we achieve approximately 78% accuracy with zero manual feature engineering. This is the first unified framework combining </a:t>
            </a:r>
            <a:r>
              <a:rPr lang="en-US" dirty="0" err="1"/>
              <a:t>CodeBERT</a:t>
            </a:r>
            <a:r>
              <a:rPr lang="en-US" dirty="0"/>
              <a:t> with both classical and neural classifiers, and it's production-ready with real-time inference. Let me show you why this problem matters.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2</a:t>
            </a:fld>
            <a:endParaRPr lang="en-US"/>
          </a:p>
        </p:txBody>
      </p:sp>
    </p:spTree>
    <p:extLst>
      <p:ext uri="{BB962C8B-B14F-4D97-AF65-F5344CB8AC3E}">
        <p14:creationId xmlns:p14="http://schemas.microsoft.com/office/powerpoint/2010/main" val="608211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smells are design flaws that indicate deeper problems. They're not bugs—the code works—but they make codebases harder to understand, modify, and extend. The problem is threefold. First, manual detection requires expert reviewers and doesn't scale. Second, existing automated tools have limitations: metrics-based approaches miss semantic patterns, rule-based systems are too rigid, and deep learning approaches still require extensive feature engineering. Third, the impact is real: studies show that 40 to 60 percent of development time is spent on maintenance, much of it dealing with technical debt from code smells. We need an automated solution that can detect these patterns early, consistently, and at scale—without requiring teams to become experts in software metrics.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4</a:t>
            </a:fld>
            <a:endParaRPr lang="en-US"/>
          </a:p>
        </p:txBody>
      </p:sp>
    </p:spTree>
    <p:extLst>
      <p:ext uri="{BB962C8B-B14F-4D97-AF65-F5344CB8AC3E}">
        <p14:creationId xmlns:p14="http://schemas.microsoft.com/office/powerpoint/2010/main" val="3444651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show you what exists and what's missing. On the left, we have metrics-based detection—well-established but misses semantic patterns. We also have some deep learning approaches, but they need feature engineering and there are limited CodeBERT applications. On the right, what's missing: there's no unified framework combining CodeBERT with both Random Forest and MLP. There's no comparative analysis on embeddings, and no end-to-end pipeline. Our contribution fills this gap: we provide the first unified CodeBERT plus RF/MLP framework, eliminate manual feature engineering, conduct comparative evaluation, and deliver a production-ready pipeline. This is a novel, practical approach that addresses real-world needs.</a:t>
            </a:r>
            <a:endParaRPr lang="en-US">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5</a:t>
            </a:fld>
            <a:endParaRPr lang="en-US"/>
          </a:p>
        </p:txBody>
      </p:sp>
    </p:spTree>
    <p:extLst>
      <p:ext uri="{BB962C8B-B14F-4D97-AF65-F5344CB8AC3E}">
        <p14:creationId xmlns:p14="http://schemas.microsoft.com/office/powerpoint/2010/main" val="957151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RQ1</a:t>
            </a:r>
            <a:r>
              <a:rPr lang="en-US" dirty="0"/>
              <a:t> asks whether </a:t>
            </a:r>
            <a:r>
              <a:rPr lang="en-US" dirty="0" err="1"/>
              <a:t>CodeBERT</a:t>
            </a:r>
            <a:r>
              <a:rPr lang="en-US" dirty="0"/>
              <a:t> embeddings enable effective binary smell detection on </a:t>
            </a:r>
            <a:r>
              <a:rPr lang="en-US" dirty="0" err="1"/>
              <a:t>SmellyCode</a:t>
            </a:r>
            <a:r>
              <a:rPr lang="en-US" dirty="0"/>
              <a:t>++. We evaluate this through performance metrics—accuracy, precision, recall, and F1—and by comparing against approaches that rely on manual features. The hypothesis is that </a:t>
            </a:r>
            <a:r>
              <a:rPr lang="en-US" dirty="0" err="1"/>
              <a:t>CodeBERT's</a:t>
            </a:r>
            <a:r>
              <a:rPr lang="en-US" dirty="0"/>
              <a:t> semantic understanding captures patterns associated with code smells, even though it wasn't explicitly trained for quality assessment.</a:t>
            </a:r>
            <a:r>
              <a:rPr lang="en-US" b="1" dirty="0"/>
              <a:t>RQ2</a:t>
            </a:r>
            <a:r>
              <a:rPr lang="en-US" dirty="0"/>
              <a:t> compares Random Forest and Neural Network when given identical embedding features. This controls for feature differences and focuses on classifier choice. We evaluate performance, interpretability, and deployment trade-offs. The hypothesis is that both models perform comparably, with the choice depending on deployment constraints rather than accuracy alone.</a:t>
            </a:r>
            <a:r>
              <a:rPr lang="en-US" b="1" dirty="0"/>
              <a:t>RQ3</a:t>
            </a:r>
            <a:r>
              <a:rPr lang="en-US" dirty="0"/>
              <a:t> addresses reproducibility and validity. We examine how our methodology—including balanced sampling, comprehensive evaluation, and documentation—supports reproducible research and reduces threats to validity. The hypothesis is that systematic practices ensure reliable and reproducible </a:t>
            </a:r>
            <a:r>
              <a:rPr lang="en-US" dirty="0" err="1"/>
              <a:t>results.These</a:t>
            </a:r>
            <a:r>
              <a:rPr lang="en-US" dirty="0"/>
              <a:t> questions structure our methodology and evaluation, which I'll detail next.</a:t>
            </a:r>
          </a:p>
        </p:txBody>
      </p:sp>
      <p:sp>
        <p:nvSpPr>
          <p:cNvPr id="4" name="Slide Number Placeholder 3"/>
          <p:cNvSpPr>
            <a:spLocks noGrp="1"/>
          </p:cNvSpPr>
          <p:nvPr>
            <p:ph type="sldNum" sz="quarter" idx="5"/>
          </p:nvPr>
        </p:nvSpPr>
        <p:spPr/>
        <p:txBody>
          <a:bodyPr/>
          <a:lstStyle/>
          <a:p>
            <a:fld id="{BDDD9016-8228-47E0-A201-5945CCA5E6B0}" type="slidenum">
              <a:t>6</a:t>
            </a:fld>
            <a:endParaRPr lang="en-US"/>
          </a:p>
        </p:txBody>
      </p:sp>
    </p:spTree>
    <p:extLst>
      <p:ext uri="{BB962C8B-B14F-4D97-AF65-F5344CB8AC3E}">
        <p14:creationId xmlns:p14="http://schemas.microsoft.com/office/powerpoint/2010/main" val="2535407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CodeBERT</a:t>
            </a:r>
            <a:r>
              <a:rPr lang="en-US" dirty="0"/>
              <a:t> is the foundation of our approach. It's a pretrained transformer model trained on millions of code-comment pairs across multiple programming languages. Unlike traditional metrics that only capture syntax, </a:t>
            </a:r>
            <a:r>
              <a:rPr lang="en-US" dirty="0" err="1"/>
              <a:t>CodeBERT</a:t>
            </a:r>
            <a:r>
              <a:rPr lang="en-US" dirty="0"/>
              <a:t> understands code semantics—the meaning and intent behind the code. It produces 768-dimensional embeddings that capture structural patterns, naming conventions, and functional relationships. The key advantage is that </a:t>
            </a:r>
            <a:r>
              <a:rPr lang="en-US" dirty="0" err="1"/>
              <a:t>CodeBERT</a:t>
            </a:r>
            <a:r>
              <a:rPr lang="en-US" dirty="0"/>
              <a:t> learned code quality patterns during its pretraining phase, even though it wasn't explicitly trained for quality assessment. This means we get semantic understanding without manual feature engineering. The model can be adapted to other languages, and it's proven effective in code understanding tasks. This transfer learning capability is what makes our approach novel and practical.</a:t>
            </a:r>
          </a:p>
        </p:txBody>
      </p:sp>
      <p:sp>
        <p:nvSpPr>
          <p:cNvPr id="4" name="Slide Number Placeholder 3"/>
          <p:cNvSpPr>
            <a:spLocks noGrp="1"/>
          </p:cNvSpPr>
          <p:nvPr>
            <p:ph type="sldNum" sz="quarter" idx="5"/>
          </p:nvPr>
        </p:nvSpPr>
        <p:spPr/>
        <p:txBody>
          <a:bodyPr/>
          <a:lstStyle/>
          <a:p>
            <a:fld id="{BDDD9016-8228-47E0-A201-5945CCA5E6B0}" type="slidenum">
              <a:rPr lang="en-US"/>
              <a:t>8</a:t>
            </a:fld>
            <a:endParaRPr lang="en-US"/>
          </a:p>
        </p:txBody>
      </p:sp>
    </p:spTree>
    <p:extLst>
      <p:ext uri="{BB962C8B-B14F-4D97-AF65-F5344CB8AC3E}">
        <p14:creationId xmlns:p14="http://schemas.microsoft.com/office/powerpoint/2010/main" val="467773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novel approach visualized. We start with a Java code snippet. This goes into the </a:t>
            </a:r>
            <a:r>
              <a:rPr lang="en-US" dirty="0" err="1"/>
              <a:t>CodeBERT</a:t>
            </a:r>
            <a:r>
              <a:rPr lang="en-US" dirty="0"/>
              <a:t> encoder, which extracts 768-dimensional embeddings. These embeddings then feed into two parallel paths: Random Forest on the left, which is interpretable, and a Neural Network on the right, which is flexible. Both produce the same output: a binary classification of smelly or clean code. The key innovations are threefold. First, semantic feature extraction—</a:t>
            </a:r>
            <a:r>
              <a:rPr lang="en-US" dirty="0" err="1"/>
              <a:t>CodeBERT</a:t>
            </a:r>
            <a:r>
              <a:rPr lang="en-US" dirty="0"/>
              <a:t> captures code meaning automatically. Second, we use a dual classifier approach to compare Random Forest, which is interpretable, versus MLP, which is flexible. Third, this is an end-to-end pipeline with no manual steps. This is the first framework combining </a:t>
            </a:r>
            <a:r>
              <a:rPr lang="en-US" dirty="0" err="1"/>
              <a:t>CodeBERT</a:t>
            </a:r>
            <a:r>
              <a:rPr lang="en-US" dirty="0"/>
              <a:t> with both classical and neural classifiers, allowing us to understand the trade-offs between interpretability and flexibility.</a:t>
            </a:r>
          </a:p>
        </p:txBody>
      </p:sp>
      <p:sp>
        <p:nvSpPr>
          <p:cNvPr id="4" name="Slide Number Placeholder 3"/>
          <p:cNvSpPr>
            <a:spLocks noGrp="1"/>
          </p:cNvSpPr>
          <p:nvPr>
            <p:ph type="sldNum" sz="quarter" idx="5"/>
          </p:nvPr>
        </p:nvSpPr>
        <p:spPr/>
        <p:txBody>
          <a:bodyPr/>
          <a:lstStyle/>
          <a:p>
            <a:fld id="{BDDD9016-8228-47E0-A201-5945CCA5E6B0}" type="slidenum">
              <a:rPr lang="en-US"/>
              <a:t>10</a:t>
            </a:fld>
            <a:endParaRPr lang="en-US"/>
          </a:p>
        </p:txBody>
      </p:sp>
    </p:spTree>
    <p:extLst>
      <p:ext uri="{BB962C8B-B14F-4D97-AF65-F5344CB8AC3E}">
        <p14:creationId xmlns:p14="http://schemas.microsoft.com/office/powerpoint/2010/main" val="2025725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a:t>
            </a:r>
            <a:r>
              <a:rPr lang="en-US" dirty="0" err="1"/>
              <a:t>SmellyCode</a:t>
            </a:r>
            <a:r>
              <a:rPr lang="en-US" dirty="0"/>
              <a:t>++ dataset from </a:t>
            </a:r>
            <a:r>
              <a:rPr lang="en-US" dirty="0" err="1"/>
              <a:t>figshare</a:t>
            </a:r>
            <a:r>
              <a:rPr lang="en-US" dirty="0"/>
              <a:t>, which contains 107,554 Java code samples with annotations for four code smell types. Due to computational constraints, we created a balanced subset of 5,000 samples—2,500 clean and 2,500 smelly. This balanced sampling ensures our models learn to recognize both classes effectively. The full dataset shows severe imbalance: 90.78% clean versus only 9.22% smelly. The smell types are Long Method with 1,566 samples, God Class with 4,333—the most prevalent, Feature Envy with 1,996, and Data Class with 3,284. We split this into 4,000 training samples and 1,000 test samples using stratified sampling to maintain class balance. This balanced dataset was necessary for fair evaluation, though we acknowledge it doesn't reflect real-world imbalance.</a:t>
            </a:r>
          </a:p>
        </p:txBody>
      </p:sp>
      <p:sp>
        <p:nvSpPr>
          <p:cNvPr id="4" name="Slide Number Placeholder 3"/>
          <p:cNvSpPr>
            <a:spLocks noGrp="1"/>
          </p:cNvSpPr>
          <p:nvPr>
            <p:ph type="sldNum" sz="quarter" idx="5"/>
          </p:nvPr>
        </p:nvSpPr>
        <p:spPr/>
        <p:txBody>
          <a:bodyPr/>
          <a:lstStyle/>
          <a:p>
            <a:fld id="{BDDD9016-8228-47E0-A201-5945CCA5E6B0}" type="slidenum">
              <a:rPr lang="en-US"/>
              <a:t>11</a:t>
            </a:fld>
            <a:endParaRPr lang="en-US"/>
          </a:p>
        </p:txBody>
      </p:sp>
    </p:spTree>
    <p:extLst>
      <p:ext uri="{BB962C8B-B14F-4D97-AF65-F5344CB8AC3E}">
        <p14:creationId xmlns:p14="http://schemas.microsoft.com/office/powerpoint/2010/main" val="1610503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exploratory data analysis revealed several critical insights. First, the full dataset has severe class imbalance—90.78% clean versus only 9.22% smelly code. This is why we needed a balanced sampling strategy. Second, complexity metrics show right-skewed distributions, and smelly code consistently shows higher medians across all metrics. Third, cyclomatic complexity has the strongest correlation with code smells, ranging from 0.48 to 0.51. Fourth, we found strong correlations among Halstead metrics—between 0.65 and 0.92—indicating redundancy. This finding actually supports our use of embeddings over raw metrics, since embeddings can capture these relationships automatically. These EDA findings directly guided our preprocessing decisions and model selection, ensuring we address the class imbalance and leverage semantic understanding rather than redundant metrics.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12</a:t>
            </a:fld>
            <a:endParaRPr lang="en-US"/>
          </a:p>
        </p:txBody>
      </p:sp>
    </p:spTree>
    <p:extLst>
      <p:ext uri="{BB962C8B-B14F-4D97-AF65-F5344CB8AC3E}">
        <p14:creationId xmlns:p14="http://schemas.microsoft.com/office/powerpoint/2010/main" val="92763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I’m showing two key insights about code quality based on the distribution of code smells and their correlation with complexity metrics.</a:t>
            </a:r>
          </a:p>
          <a:p>
            <a:r>
              <a:rPr lang="en-US" dirty="0"/>
              <a:t>Starting with the bar chart on the left, we can see the relative frequency of different code smell types. </a:t>
            </a:r>
            <a:r>
              <a:rPr lang="en-US" i="1" dirty="0"/>
              <a:t>God Class</a:t>
            </a:r>
            <a:r>
              <a:rPr lang="en-US" dirty="0"/>
              <a:t> is the most common at around 4%, followed by </a:t>
            </a:r>
            <a:r>
              <a:rPr lang="en-US" i="1" dirty="0"/>
              <a:t>Data Class</a:t>
            </a:r>
            <a:r>
              <a:rPr lang="en-US" dirty="0"/>
              <a:t> at about 3%. </a:t>
            </a:r>
            <a:r>
              <a:rPr lang="en-US" i="1" dirty="0"/>
              <a:t>Feature Envy</a:t>
            </a:r>
            <a:r>
              <a:rPr lang="en-US" dirty="0"/>
              <a:t> and </a:t>
            </a:r>
            <a:r>
              <a:rPr lang="en-US" i="1" dirty="0"/>
              <a:t>Long Method</a:t>
            </a:r>
            <a:r>
              <a:rPr lang="en-US" dirty="0"/>
              <a:t> appear less frequently. This tells us that most issues are related to classes that take on too many responsibilities or expose too much internal data, which can significantly impact maintainability.</a:t>
            </a:r>
            <a:endParaRPr lang="en-US" dirty="0">
              <a:ea typeface="Calibri"/>
              <a:cs typeface="Calibri"/>
            </a:endParaRPr>
          </a:p>
          <a:p>
            <a:r>
              <a:rPr lang="en-US" dirty="0"/>
              <a:t>On the right, we have a correlation matrix comparing standard code complexity metrics with the presence of code smells. While most correlations are relatively weak, one important insight stands out: </a:t>
            </a:r>
            <a:r>
              <a:rPr lang="en-US" b="1" dirty="0"/>
              <a:t>Cyclomatic Complexity consistently shows the strongest correlation across all smell types</a:t>
            </a:r>
            <a:r>
              <a:rPr lang="en-US" dirty="0"/>
              <a:t>. This means that as the structural complexity of the code increases, the likelihood of encountering any type of code smell also increases.</a:t>
            </a:r>
            <a:endParaRPr lang="en-US" dirty="0">
              <a:ea typeface="Calibri"/>
              <a:cs typeface="Calibri"/>
            </a:endParaRPr>
          </a:p>
          <a:p>
            <a:r>
              <a:rPr lang="en-US" dirty="0"/>
              <a:t>The takeaway here is that Cyclomatic Complexity serves as a reliable early indicator of potential quality issues. Even before smells become visible, rising complexity can signal where future refactoring efforts should be focused.</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13</a:t>
            </a:fld>
            <a:endParaRPr lang="en-US"/>
          </a:p>
        </p:txBody>
      </p:sp>
    </p:spTree>
    <p:extLst>
      <p:ext uri="{BB962C8B-B14F-4D97-AF65-F5344CB8AC3E}">
        <p14:creationId xmlns:p14="http://schemas.microsoft.com/office/powerpoint/2010/main" val="2640586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follows a four-step pipeline. Step one is data preprocessing: we load the 107K samples, create a balanced subset of 5K, perform a stratified train-test split at 80-20, and convert to binary classification. </a:t>
            </a:r>
            <a:endParaRPr lang="en-US" dirty="0">
              <a:solidFill>
                <a:srgbClr val="000000"/>
              </a:solidFill>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14</a:t>
            </a:fld>
            <a:endParaRPr lang="en-US"/>
          </a:p>
        </p:txBody>
      </p:sp>
    </p:spTree>
    <p:extLst>
      <p:ext uri="{BB962C8B-B14F-4D97-AF65-F5344CB8AC3E}">
        <p14:creationId xmlns:p14="http://schemas.microsoft.com/office/powerpoint/2010/main" val="1357397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feature extraction using </a:t>
            </a:r>
            <a:r>
              <a:rPr lang="en-US" dirty="0" err="1"/>
              <a:t>CodeBERT</a:t>
            </a:r>
            <a:r>
              <a:rPr lang="en-US" dirty="0"/>
              <a:t>—we use the </a:t>
            </a:r>
            <a:r>
              <a:rPr lang="en-US" dirty="0" err="1"/>
              <a:t>microsoft</a:t>
            </a:r>
            <a:r>
              <a:rPr lang="en-US" dirty="0"/>
              <a:t>/</a:t>
            </a:r>
            <a:r>
              <a:rPr lang="en-US" dirty="0" err="1"/>
              <a:t>codebert</a:t>
            </a:r>
            <a:r>
              <a:rPr lang="en-US" dirty="0"/>
              <a:t>-base model to extract 768-dimensional embeddings in batches for efficiency. No manual features are needed. </a:t>
            </a:r>
          </a:p>
        </p:txBody>
      </p:sp>
      <p:sp>
        <p:nvSpPr>
          <p:cNvPr id="4" name="Slide Number Placeholder 3"/>
          <p:cNvSpPr>
            <a:spLocks noGrp="1"/>
          </p:cNvSpPr>
          <p:nvPr>
            <p:ph type="sldNum" sz="quarter" idx="5"/>
          </p:nvPr>
        </p:nvSpPr>
        <p:spPr/>
        <p:txBody>
          <a:bodyPr/>
          <a:lstStyle/>
          <a:p>
            <a:fld id="{BDDD9016-8228-47E0-A201-5945CCA5E6B0}" type="slidenum">
              <a:rPr lang="en-US"/>
              <a:t>15</a:t>
            </a:fld>
            <a:endParaRPr lang="en-US"/>
          </a:p>
        </p:txBody>
      </p:sp>
    </p:spTree>
    <p:extLst>
      <p:ext uri="{BB962C8B-B14F-4D97-AF65-F5344CB8AC3E}">
        <p14:creationId xmlns:p14="http://schemas.microsoft.com/office/powerpoint/2010/main" val="1115140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model training: we train both Random Forest with 100 trees and max depth 20, and a three-layer MLP with dropout, both using the same embeddings. </a:t>
            </a:r>
          </a:p>
        </p:txBody>
      </p:sp>
      <p:sp>
        <p:nvSpPr>
          <p:cNvPr id="4" name="Slide Number Placeholder 3"/>
          <p:cNvSpPr>
            <a:spLocks noGrp="1"/>
          </p:cNvSpPr>
          <p:nvPr>
            <p:ph type="sldNum" sz="quarter" idx="5"/>
          </p:nvPr>
        </p:nvSpPr>
        <p:spPr/>
        <p:txBody>
          <a:bodyPr/>
          <a:lstStyle/>
          <a:p>
            <a:fld id="{BDDD9016-8228-47E0-A201-5945CCA5E6B0}" type="slidenum">
              <a:rPr lang="en-US"/>
              <a:t>16</a:t>
            </a:fld>
            <a:endParaRPr lang="en-US"/>
          </a:p>
        </p:txBody>
      </p:sp>
    </p:spTree>
    <p:extLst>
      <p:ext uri="{BB962C8B-B14F-4D97-AF65-F5344CB8AC3E}">
        <p14:creationId xmlns:p14="http://schemas.microsoft.com/office/powerpoint/2010/main" val="4040834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is evaluation using accuracy, precision, recall, F1, per-class analysis, and confusion matrices. All steps are automated and reproducible, with fixed random seeds and clear documentation. This ensures that other researchers can replicate our results exactly.</a:t>
            </a:r>
            <a:endParaRPr lang="en-US" dirty="0">
              <a:solidFill>
                <a:srgbClr val="444444"/>
              </a:solidFill>
            </a:endParaRPr>
          </a:p>
        </p:txBody>
      </p:sp>
      <p:sp>
        <p:nvSpPr>
          <p:cNvPr id="4" name="Slide Number Placeholder 3"/>
          <p:cNvSpPr>
            <a:spLocks noGrp="1"/>
          </p:cNvSpPr>
          <p:nvPr>
            <p:ph type="sldNum" sz="quarter" idx="5"/>
          </p:nvPr>
        </p:nvSpPr>
        <p:spPr/>
        <p:txBody>
          <a:bodyPr/>
          <a:lstStyle/>
          <a:p>
            <a:fld id="{BDDD9016-8228-47E0-A201-5945CCA5E6B0}" type="slidenum">
              <a:rPr lang="en-US"/>
              <a:t>17</a:t>
            </a:fld>
            <a:endParaRPr lang="en-US"/>
          </a:p>
        </p:txBody>
      </p:sp>
    </p:spTree>
    <p:extLst>
      <p:ext uri="{BB962C8B-B14F-4D97-AF65-F5344CB8AC3E}">
        <p14:creationId xmlns:p14="http://schemas.microsoft.com/office/powerpoint/2010/main" val="1486705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feature extraction process. We start with Java code text as input. Step one is tokenization using </a:t>
            </a:r>
            <a:r>
              <a:rPr lang="en-US" dirty="0" err="1"/>
              <a:t>CodeBERT's</a:t>
            </a:r>
            <a:r>
              <a:rPr lang="en-US" dirty="0"/>
              <a:t> tokenizer, which handles code-specific tokens and limits input to 512 tokens maximum. Step two is </a:t>
            </a:r>
            <a:r>
              <a:rPr lang="en-US" dirty="0" err="1"/>
              <a:t>CodeBERT</a:t>
            </a:r>
            <a:r>
              <a:rPr lang="en-US" dirty="0"/>
              <a:t> encoding using the </a:t>
            </a:r>
            <a:r>
              <a:rPr lang="en-US" dirty="0" err="1"/>
              <a:t>microsoft</a:t>
            </a:r>
            <a:r>
              <a:rPr lang="en-US" dirty="0"/>
              <a:t>/</a:t>
            </a:r>
            <a:r>
              <a:rPr lang="en-US" dirty="0" err="1"/>
              <a:t>codebert</a:t>
            </a:r>
            <a:r>
              <a:rPr lang="en-US" dirty="0"/>
              <a:t>-base model, which has 12 transformer layers and 768 hidden dimensions. Step three produces a 768-dimensional embedding vector—just 768 numbers that encode the semantic meaning of the entire code snippet. We processed 5,000 samples in approximately 19.2 minutes using batch processing with 8 samples per batch, totaling 625 batches. The key advantage is that these 768 numbers capture semantic meaning automatically—no manual feature engineering required. This is transfer learning at work: </a:t>
            </a:r>
            <a:r>
              <a:rPr lang="en-US" dirty="0" err="1"/>
              <a:t>CodeBERT's</a:t>
            </a:r>
            <a:r>
              <a:rPr lang="en-US" dirty="0"/>
              <a:t> pretraining on large code corpora transfers to our quality assessment task.</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18</a:t>
            </a:fld>
            <a:endParaRPr lang="en-US"/>
          </a:p>
        </p:txBody>
      </p:sp>
    </p:spTree>
    <p:extLst>
      <p:ext uri="{BB962C8B-B14F-4D97-AF65-F5344CB8AC3E}">
        <p14:creationId xmlns:p14="http://schemas.microsoft.com/office/powerpoint/2010/main" val="1280728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takes our 768-dimensional embeddings as input and uses an ensemble of 100 decision trees, each with a maximum depth of 20. The model uses bootstrap sampling and feature bagging to create diversity among trees. The output is binary classification with probability scores and, importantly, feature importance—this interpretability is a key advantage. Training is remarkably fast: approximately 2.1 seconds for 4,000 samples, using 8 parallel workers. The model uses moderate memory and results in a 2 to 5 megabyte model size. Random Forest is robust to overfitting, handles class imbalance well, and provides fast training and inference. Most importantly, it provides interpretability through feature importance analysis, allowing practitioners to understand which aspects of the code embeddings contribute most to smell detection. This interpretability is crucial for gaining developer trust in production environments.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19</a:t>
            </a:fld>
            <a:endParaRPr lang="en-US"/>
          </a:p>
        </p:txBody>
      </p:sp>
    </p:spTree>
    <p:extLst>
      <p:ext uri="{BB962C8B-B14F-4D97-AF65-F5344CB8AC3E}">
        <p14:creationId xmlns:p14="http://schemas.microsoft.com/office/powerpoint/2010/main" val="4159751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experimental setup ensures reproducibility and validity. We use a stratified 80-20 train-test split, maintaining class balance in both sets. The random seed is fixed at 42 for complete reproducibility. We evaluate using four standard metrics: accuracy for overall correctness, precision to measure how many detected smells are actually smelly, recall to measure how many smelly code samples we catch, and F1-score as a balanced measure. All experiments run on multi-core CPU—no GPU required—using PyTorch 2.9.0 and scikit-learn with Python 3.14. This CPU-only approach makes our results more accessible to practitioners. We also perform additional analysis including confusion matrices, per-class metrics, feature importance for Random Forest, and inference latency measurements. This comprehensive evaluation framework ensures robust and reliable results that can be trusted and replicated.</a:t>
            </a:r>
            <a:endParaRPr lang="en-US">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20</a:t>
            </a:fld>
            <a:endParaRPr lang="en-US"/>
          </a:p>
        </p:txBody>
      </p:sp>
    </p:spTree>
    <p:extLst>
      <p:ext uri="{BB962C8B-B14F-4D97-AF65-F5344CB8AC3E}">
        <p14:creationId xmlns:p14="http://schemas.microsoft.com/office/powerpoint/2010/main" val="21180138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results. Both models achieve strong performance using only </a:t>
            </a:r>
            <a:r>
              <a:rPr lang="en-US" dirty="0" err="1"/>
              <a:t>CodeBERT</a:t>
            </a:r>
            <a:r>
              <a:rPr lang="en-US" dirty="0"/>
              <a:t> embeddings—no manual features. Random Forest achieves 78.2% accuracy with 78.9% precision, 78.2% recall, and 78.1% F1-score. For per-class performance, it shows precision of 0.83 for clean code and 0.75 for smelly, with recall of 0.71 for clean and 0.86 for smelly—notice it's better at catching smelly code. The Neural Network achieves 78.0% accuracy, which is virtually identical—just 0.2 percentage points difference. It shows 78.1% precision, 78.0% recall, and 78.0% F1-score. Per-class, it's more balanced: 0.80 precision and 0.75 recall for clean, 0.77 precision and 0.81 recall for smelly. The key insight: both models achieve approximately 78% accuracy with </a:t>
            </a:r>
            <a:r>
              <a:rPr lang="en-US" dirty="0" err="1"/>
              <a:t>CodeBERT</a:t>
            </a:r>
            <a:r>
              <a:rPr lang="en-US" dirty="0"/>
              <a:t> embeddings alone, and the performance difference is less than 0.2%—statistically negligible. This suggests the embedding space itself provides strong signal for classification</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21</a:t>
            </a:fld>
            <a:endParaRPr lang="en-US"/>
          </a:p>
        </p:txBody>
      </p:sp>
    </p:spTree>
    <p:extLst>
      <p:ext uri="{BB962C8B-B14F-4D97-AF65-F5344CB8AC3E}">
        <p14:creationId xmlns:p14="http://schemas.microsoft.com/office/powerpoint/2010/main" val="2158394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break down the confusion matrices to show you exactly what's happening. For Random Forest: out of 500 clean samples, it correctly identifies 355 as clean but flags 145 as smelly—these are false positives. For smelly code, it correctly identifies 427 out of 500 as smelly, missing only 73—these are false negatives. The Neural Network shows a different pattern: it correctly identifies 375 clean samples, flagging 125 as smelly—fewer false positives. For smelly code, it identifies 405 correctly but misses 95—more false negatives than Random Forest. The detailed metrics table confirms the near-identical overall performance. The per-class analysis reveals Random Forest is better at detecting smelly code with 0.86 recall, while the Neural Network is more balanced across classes. Both models show strong performance with no statistically significant difference, confirming that the choice between them should be based on deployment needs, not accuracy.</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22</a:t>
            </a:fld>
            <a:endParaRPr lang="en-US"/>
          </a:p>
        </p:txBody>
      </p:sp>
    </p:spTree>
    <p:extLst>
      <p:ext uri="{BB962C8B-B14F-4D97-AF65-F5344CB8AC3E}">
        <p14:creationId xmlns:p14="http://schemas.microsoft.com/office/powerpoint/2010/main" val="12738454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error patterns helps us identify limitations and improvement opportunities. False positives—where clean code is flagged as smelly—occur in both models. Random Forest produces 145 false positives, which is 29% of clean samples, while the Neural Network produces 125, which is 25%. These typically involve complex but well-designed code, intentionally verbose code for clarity, or design patterns that superficially resemble smells. False negatives—where smelly code is missed—are more concerning. Random Forest misses 73 smelly samples, which is 14.6%, while the Neural Network misses 95, which is 19%. These often involve subtle smells not captured in embeddings, context-dependent smells requiring broader codebase understanding, or smells distributed across multiple locations. The error sources are threefold: embedding limitations from 512-token truncation, class overlap where the boundary between clean and smelly is ambiguous, and dataset limitations from our 5K subset. These error patterns reveal inherent challenges in automated code smell detection that future work should address.</a:t>
            </a:r>
            <a:endParaRPr lang="en-US">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24</a:t>
            </a:fld>
            <a:endParaRPr lang="en-US"/>
          </a:p>
        </p:txBody>
      </p:sp>
    </p:spTree>
    <p:extLst>
      <p:ext uri="{BB962C8B-B14F-4D97-AF65-F5344CB8AC3E}">
        <p14:creationId xmlns:p14="http://schemas.microsoft.com/office/powerpoint/2010/main" val="39020414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investigation yielded four key findings. First, </a:t>
            </a:r>
            <a:r>
              <a:rPr lang="en-US" dirty="0" err="1"/>
              <a:t>CodeBERT</a:t>
            </a:r>
            <a:r>
              <a:rPr lang="en-US" dirty="0"/>
              <a:t> embeddings alone are sufficient—they achieve approximately 78% accuracy with no manual feature engineering. The semantic understanding captures smell patterns effectively. Second, we observe model parity: Random Forest and MLP perform comparably with no statistically significant difference—less than 0.2%. The choice should be based on deployment needs, not accuracy.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26</a:t>
            </a:fld>
            <a:endParaRPr lang="en-US"/>
          </a:p>
        </p:txBody>
      </p:sp>
    </p:spTree>
    <p:extLst>
      <p:ext uri="{BB962C8B-B14F-4D97-AF65-F5344CB8AC3E}">
        <p14:creationId xmlns:p14="http://schemas.microsoft.com/office/powerpoint/2010/main" val="211901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Third, the models have complementary strengths: Random Forest has better recall for smelly code at 0.86 and is interpretable, while MLP is more balanced with 0.77 to 0.81 across classes and has a flexible architecture. Both are suitable for production deployment. Fourth, practical deployment is feasible: real-time inference capability under 0.01 seconds per sample, standard hardware sufficient with CPU-only operation, and a simple architecture requiring just </a:t>
            </a:r>
            <a:r>
              <a:rPr lang="en-US" err="1"/>
              <a:t>CodeBERT</a:t>
            </a:r>
            <a:r>
              <a:rPr lang="en-US"/>
              <a:t> plus a classifier. The bottom line: </a:t>
            </a:r>
            <a:r>
              <a:rPr lang="en-US" err="1"/>
              <a:t>CodeBERT</a:t>
            </a:r>
            <a:r>
              <a:rPr lang="en-US"/>
              <a:t> plus lightweight classifiers equals practical code smell detection.</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27</a:t>
            </a:fld>
            <a:endParaRPr lang="en-US"/>
          </a:p>
        </p:txBody>
      </p:sp>
    </p:spTree>
    <p:extLst>
      <p:ext uri="{BB962C8B-B14F-4D97-AF65-F5344CB8AC3E}">
        <p14:creationId xmlns:p14="http://schemas.microsoft.com/office/powerpoint/2010/main" val="17952993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Practical deployment is not just possible—it's straightforward. Inference performance is excellent: under 0.01 seconds per sample, which translates to over 100 samples per second. Resource usage is modest: standard CPU is sufficient, and memory requirements are under 2 gigabytes for the model plus embeddings. Integration options are flexible. For CI/CD pipelines, we can implement pre-commit hooks, pull request checks, and automated quality gates that block smelly code before it enters the main branch. For IDE extensions, we can provide real-time feedback as developers write code, inline suggestions, and code review assistance. For standalone services, we can deploy as a REST API for batch processing or integration with existing tools. The architecture is simple: developer code goes into CodeBERT plus classifier, which produces smell detection results that can feed into CI/CD, IDE, or batch processing systems. This is production-ready: you can deploy today and improve code quality tomorrow.</a:t>
            </a:r>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28</a:t>
            </a:fld>
            <a:endParaRPr lang="en-US"/>
          </a:p>
        </p:txBody>
      </p:sp>
    </p:spTree>
    <p:extLst>
      <p:ext uri="{BB962C8B-B14F-4D97-AF65-F5344CB8AC3E}">
        <p14:creationId xmlns:p14="http://schemas.microsoft.com/office/powerpoint/2010/main" val="18919427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answer our three research questions systematically. RQ1: Do </a:t>
            </a:r>
            <a:r>
              <a:rPr lang="en-US" dirty="0" err="1"/>
              <a:t>CodeBERT</a:t>
            </a:r>
            <a:r>
              <a:rPr lang="en-US" dirty="0"/>
              <a:t> embeddings enable effective binary smell detection? Yes—</a:t>
            </a:r>
            <a:r>
              <a:rPr lang="en-US" dirty="0" err="1"/>
              <a:t>CodeBERT</a:t>
            </a:r>
            <a:r>
              <a:rPr lang="en-US" dirty="0"/>
              <a:t> embeddings alone achieve approximately 78% accuracy. Semantic patterns are captured without manual features, and transfer learning successfully applies to quality assessment. Both Random Forest and MLP achieve comparable performance, confirming the embeddings contain strong signal. RQ2: Given identical embedding features, how do Random Forest and Neural Network compare? They're nearly identical—no statistically significant difference, less than 0.2%. Random Forest has better recall for smelly code at 0.86, is interpretable, and trains fast. MLP is more balanced with 0.77 to 0.81 across classes, is flexible, and has lower model size. The choice depends on deployment needs, not accuracy.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30</a:t>
            </a:fld>
            <a:endParaRPr lang="en-US"/>
          </a:p>
        </p:txBody>
      </p:sp>
    </p:spTree>
    <p:extLst>
      <p:ext uri="{BB962C8B-B14F-4D97-AF65-F5344CB8AC3E}">
        <p14:creationId xmlns:p14="http://schemas.microsoft.com/office/powerpoint/2010/main" val="3375766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RQ3: What practices improve reproducibility and reduce threats to validity? Our systematic methodology includes balanced sampling to address class imbalance, stratified train-test splits, fixed random seed 42 for reproducibility, comprehensive multi-metric evaluation, and clear documentation. All research questions are answered with strong evidence.</a:t>
            </a:r>
            <a:endParaRPr lang="en-US" dirty="0">
              <a:solidFill>
                <a:srgbClr val="444444"/>
              </a:solidFill>
            </a:endParaRPr>
          </a:p>
          <a:p>
            <a:endParaRPr lang="en-US" dirty="0">
              <a:solidFill>
                <a:srgbClr val="444444"/>
              </a:solidFill>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31</a:t>
            </a:fld>
            <a:endParaRPr lang="en-US"/>
          </a:p>
        </p:txBody>
      </p:sp>
    </p:spTree>
    <p:extLst>
      <p:ext uri="{BB962C8B-B14F-4D97-AF65-F5344CB8AC3E}">
        <p14:creationId xmlns:p14="http://schemas.microsoft.com/office/powerpoint/2010/main" val="31492800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Future work spans multiple time horizons. Short-term, within six months, we plan full corpus training on all 107K samples, multi-label classification to identify specific smell types, cross-validation evaluation for more robust performance estimates, and external dataset validation. Medium-term, within one year, we'll fine-tune CodeBERT specifically for smell detection, explore hybrid features combining embeddings with traditional metrics, develop attention-based interpretability, and extend to multi-language support. Long-term, over two years, we'll focus on production deployment, IDE and CI integration, explainability using SHAP and LIME, and creating a developer education platform. Research extensions include severity prediction to rank smells by impact, evolution tracking for longitudinal analysis, and creating an open platform with standardized benchmarks. The vision is comprehensive code quality assessment integrated directly into developer workflows, transforming how teams maintain code quality at scale.</a:t>
            </a:r>
            <a:endParaRPr lang="en-US">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32</a:t>
            </a:fld>
            <a:endParaRPr lang="en-US"/>
          </a:p>
        </p:txBody>
      </p:sp>
    </p:spTree>
    <p:extLst>
      <p:ext uri="{BB962C8B-B14F-4D97-AF65-F5344CB8AC3E}">
        <p14:creationId xmlns:p14="http://schemas.microsoft.com/office/powerpoint/2010/main" val="3167779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this work establishes a novel, practical framework for automated code smell detection. We've demonstrated three key achievements. First, we created the first unified framework combining CodeBERT with both Random Forest and MLP. Second, we eliminated feature engineering—embeddings alone achieve approximately 78% accuracy. Third, the approach is production-ready with real-time inference enabling CI/CD integration. This work demonstrates that transfer learning from code understanding can successfully apply to quality assessment, reducing the engineering effort required for automated code smell detection while achieving competitive performance comparable to traditional approaches. This is the first comprehensive investigation of CodeBERT plus RF/MLP for code smells, establishing a new paradigm that moves beyond manual feature engineering. The system is ready for integration into development workflows and CI systems, providing immediate value to software development teams. Thank you for your attention, and I'm happy to answer any questions.</a:t>
            </a:r>
            <a:endParaRPr lang="en-US">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33</a:t>
            </a:fld>
            <a:endParaRPr lang="en-US"/>
          </a:p>
        </p:txBody>
      </p:sp>
    </p:spTree>
    <p:extLst>
      <p:ext uri="{BB962C8B-B14F-4D97-AF65-F5344CB8AC3E}">
        <p14:creationId xmlns:p14="http://schemas.microsoft.com/office/powerpoint/2010/main" val="16032960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answer any questions about the methodology, results, or future work. You can find more details in my thesis, and I'm available for discussion after the presentation. Thank you.</a:t>
            </a:r>
            <a:endParaRPr lang="en-US">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D9016-8228-47E0-A201-5945CCA5E6B0}" type="slidenum">
              <a:rPr lang="en-US"/>
              <a:t>34</a:t>
            </a:fld>
            <a:endParaRPr lang="en-US"/>
          </a:p>
        </p:txBody>
      </p:sp>
    </p:spTree>
    <p:extLst>
      <p:ext uri="{BB962C8B-B14F-4D97-AF65-F5344CB8AC3E}">
        <p14:creationId xmlns:p14="http://schemas.microsoft.com/office/powerpoint/2010/main" val="1643239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476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79563"/>
            <a:ext cx="9144000" cy="2387600"/>
          </a:xfrm>
        </p:spPr>
        <p:txBody>
          <a:bodyPr vert="horz" lIns="91440" tIns="45720" rIns="91440" bIns="45720" rtlCol="0" anchor="b">
            <a:noAutofit/>
          </a:bodyPr>
          <a:lstStyle/>
          <a:p>
            <a:r>
              <a:rPr lang="en-US" sz="4800" dirty="0">
                <a:solidFill>
                  <a:schemeClr val="bg1"/>
                </a:solidFill>
                <a:latin typeface="Mongolian Baiti"/>
                <a:cs typeface="Mongolian Baiti"/>
              </a:rPr>
              <a:t>Semantic and Structural Fusion </a:t>
            </a:r>
            <a:br>
              <a:rPr lang="en-US" sz="4800" dirty="0">
                <a:latin typeface="Mongolian Baiti"/>
                <a:cs typeface="Mongolian Baiti"/>
              </a:rPr>
            </a:br>
            <a:r>
              <a:rPr lang="en-US" sz="4800" dirty="0">
                <a:solidFill>
                  <a:schemeClr val="bg1"/>
                </a:solidFill>
                <a:latin typeface="Mongolian Baiti"/>
                <a:cs typeface="Mongolian Baiti"/>
              </a:rPr>
              <a:t>for Code Smell Detection </a:t>
            </a:r>
            <a:br>
              <a:rPr lang="en-US" sz="4800" dirty="0">
                <a:latin typeface="Mongolian Baiti"/>
                <a:cs typeface="Mongolian Baiti"/>
              </a:rPr>
            </a:br>
            <a:r>
              <a:rPr lang="en-US" sz="4800" dirty="0">
                <a:solidFill>
                  <a:schemeClr val="bg1"/>
                </a:solidFill>
                <a:latin typeface="Mongolian Baiti"/>
                <a:cs typeface="Mongolian Baiti"/>
              </a:rPr>
              <a:t>Using </a:t>
            </a:r>
            <a:r>
              <a:rPr lang="en-US" sz="4800" dirty="0">
                <a:solidFill>
                  <a:srgbClr val="00BFA6"/>
                </a:solidFill>
                <a:latin typeface="Mongolian Baiti"/>
                <a:cs typeface="Mongolian Baiti"/>
              </a:rPr>
              <a:t>CodeBERT </a:t>
            </a:r>
            <a:r>
              <a:rPr lang="en-US" sz="4800" dirty="0">
                <a:solidFill>
                  <a:schemeClr val="bg1"/>
                </a:solidFill>
                <a:latin typeface="Mongolian Baiti"/>
                <a:cs typeface="Mongolian Baiti"/>
              </a:rPr>
              <a:t>and </a:t>
            </a:r>
            <a:br>
              <a:rPr lang="en-US" sz="4800" dirty="0">
                <a:latin typeface="Mongolian Baiti"/>
                <a:cs typeface="Mongolian Baiti"/>
              </a:rPr>
            </a:br>
            <a:r>
              <a:rPr lang="en-US" sz="4800" dirty="0">
                <a:solidFill>
                  <a:srgbClr val="00BFA6"/>
                </a:solidFill>
                <a:latin typeface="Mongolian Baiti"/>
                <a:cs typeface="Mongolian Baiti"/>
              </a:rPr>
              <a:t>Random Forest</a:t>
            </a:r>
          </a:p>
          <a:p>
            <a:endParaRPr lang="en-US" sz="4000" dirty="0">
              <a:latin typeface="Mongolian Baiti"/>
              <a:cs typeface="Mongolian Baiti"/>
            </a:endParaRPr>
          </a:p>
        </p:txBody>
      </p:sp>
      <p:sp>
        <p:nvSpPr>
          <p:cNvPr id="3" name="Subtitle 2"/>
          <p:cNvSpPr>
            <a:spLocks noGrp="1"/>
          </p:cNvSpPr>
          <p:nvPr>
            <p:ph type="subTitle" idx="1"/>
          </p:nvPr>
        </p:nvSpPr>
        <p:spPr>
          <a:xfrm>
            <a:off x="0" y="5697538"/>
            <a:ext cx="12192000" cy="1160462"/>
          </a:xfrm>
        </p:spPr>
        <p:txBody>
          <a:bodyPr vert="horz" lIns="91440" tIns="45720" rIns="91440" bIns="45720" rtlCol="0" anchor="t">
            <a:normAutofit/>
          </a:bodyPr>
          <a:lstStyle/>
          <a:p>
            <a:r>
              <a:rPr lang="en-US" sz="1800" dirty="0">
                <a:solidFill>
                  <a:schemeClr val="bg1"/>
                </a:solidFill>
                <a:latin typeface="Times New Roman"/>
                <a:cs typeface="Times New Roman"/>
              </a:rPr>
              <a:t>SOHAIL SHAIK</a:t>
            </a:r>
            <a:endParaRPr lang="en-US">
              <a:solidFill>
                <a:schemeClr val="bg1"/>
              </a:solidFill>
              <a:latin typeface="Times New Roman"/>
              <a:cs typeface="Times New Roman"/>
            </a:endParaRPr>
          </a:p>
          <a:p>
            <a:r>
              <a:rPr lang="en-US" sz="1800" dirty="0">
                <a:solidFill>
                  <a:schemeClr val="bg1"/>
                </a:solidFill>
                <a:latin typeface="Times New Roman"/>
                <a:cs typeface="Times New Roman"/>
              </a:rPr>
              <a:t>SAN JOSE STATE UNIVERSITY</a:t>
            </a:r>
            <a:endParaRPr lang="en-US" dirty="0">
              <a:solidFill>
                <a:schemeClr val="bg1"/>
              </a:solidFill>
              <a:latin typeface="Times New Roman"/>
              <a:cs typeface="Times New Roman"/>
            </a:endParaRPr>
          </a:p>
          <a:p>
            <a:r>
              <a:rPr lang="en-US" sz="1800" dirty="0">
                <a:solidFill>
                  <a:schemeClr val="bg1"/>
                </a:solidFill>
                <a:latin typeface="Times New Roman"/>
                <a:cs typeface="Times New Roman"/>
              </a:rPr>
              <a:t>CS-1290R</a:t>
            </a:r>
            <a:endParaRPr lang="en-US" dirty="0">
              <a:solidFill>
                <a:schemeClr val="bg1"/>
              </a:solidFill>
              <a:latin typeface="Times New Roman"/>
              <a:cs typeface="Times New Roman"/>
            </a:endParaRPr>
          </a:p>
        </p:txBody>
      </p:sp>
      <p:sp>
        <p:nvSpPr>
          <p:cNvPr id="4" name="TextBox 3">
            <a:extLst>
              <a:ext uri="{FF2B5EF4-FFF2-40B4-BE49-F238E27FC236}">
                <a16:creationId xmlns:a16="http://schemas.microsoft.com/office/drawing/2014/main" id="{2552E6B5-FAAA-F83C-9B20-D35AB4C1F653}"/>
              </a:ext>
            </a:extLst>
          </p:cNvPr>
          <p:cNvSpPr txBox="1"/>
          <p:nvPr/>
        </p:nvSpPr>
        <p:spPr>
          <a:xfrm>
            <a:off x="3073400" y="3968750"/>
            <a:ext cx="6985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E4E4E4"/>
                </a:solidFill>
                <a:latin typeface="Mongolian Baiti"/>
                <a:cs typeface="Mongolian Baiti"/>
              </a:rPr>
              <a:t>A Unified Framework for Automated Code Quality Assessment</a:t>
            </a:r>
            <a:endParaRPr lang="en-US">
              <a:latin typeface="Mongolian Baiti"/>
              <a:cs typeface="Mongolian Baiti"/>
            </a:endParaRPr>
          </a:p>
          <a:p>
            <a:pPr algn="l"/>
            <a:endParaRPr lang="en-US" dirty="0">
              <a:latin typeface="Mongolian Baiti"/>
              <a:cs typeface="Mongolian Bait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4E7D-6846-2A27-F26F-A354F489E833}"/>
              </a:ext>
            </a:extLst>
          </p:cNvPr>
          <p:cNvSpPr>
            <a:spLocks noGrp="1"/>
          </p:cNvSpPr>
          <p:nvPr>
            <p:ph type="title"/>
          </p:nvPr>
        </p:nvSpPr>
        <p:spPr/>
        <p:txBody>
          <a:bodyPr>
            <a:normAutofit/>
          </a:bodyPr>
          <a:lstStyle/>
          <a:p>
            <a:r>
              <a:rPr lang="en-US" b="1" dirty="0">
                <a:latin typeface="Mongolian Baiti"/>
                <a:cs typeface="Mongolian Baiti"/>
              </a:rPr>
              <a:t>Agenda</a:t>
            </a:r>
          </a:p>
        </p:txBody>
      </p:sp>
      <p:sp>
        <p:nvSpPr>
          <p:cNvPr id="3" name="Content Placeholder 2">
            <a:extLst>
              <a:ext uri="{FF2B5EF4-FFF2-40B4-BE49-F238E27FC236}">
                <a16:creationId xmlns:a16="http://schemas.microsoft.com/office/drawing/2014/main" id="{9B79A936-0575-0B53-E23D-F5470004BBEB}"/>
              </a:ext>
            </a:extLst>
          </p:cNvPr>
          <p:cNvSpPr>
            <a:spLocks noGrp="1"/>
          </p:cNvSpPr>
          <p:nvPr>
            <p:ph idx="1"/>
          </p:nvPr>
        </p:nvSpPr>
        <p:spPr/>
        <p:txBody>
          <a:bodyPr vert="horz" lIns="91440" tIns="45720" rIns="91440" bIns="45720" rtlCol="0" anchor="t">
            <a:normAutofit/>
          </a:bodyPr>
          <a:lstStyle/>
          <a:p>
            <a:r>
              <a:rPr lang="en-US" dirty="0">
                <a:latin typeface="Garamond"/>
                <a:ea typeface="+mn-lt"/>
                <a:cs typeface="+mn-lt"/>
              </a:rPr>
              <a:t>Introduction to Code Smells</a:t>
            </a:r>
          </a:p>
          <a:p>
            <a:r>
              <a:rPr lang="en-US">
                <a:latin typeface="Garamond"/>
                <a:ea typeface="+mn-lt"/>
                <a:cs typeface="+mn-lt"/>
              </a:rPr>
              <a:t>Motivation &amp; Research Gap</a:t>
            </a:r>
            <a:endParaRPr lang="en-US" dirty="0">
              <a:latin typeface="Garamond"/>
              <a:ea typeface="+mn-lt"/>
              <a:cs typeface="+mn-lt"/>
            </a:endParaRPr>
          </a:p>
          <a:p>
            <a:r>
              <a:rPr lang="en-US" dirty="0">
                <a:latin typeface="Garamond"/>
                <a:ea typeface="+mn-lt"/>
                <a:cs typeface="+mn-lt"/>
              </a:rPr>
              <a:t>Methodology / Dataset</a:t>
            </a:r>
          </a:p>
          <a:p>
            <a:r>
              <a:rPr lang="en-US" err="1">
                <a:latin typeface="Garamond"/>
                <a:ea typeface="+mn-lt"/>
                <a:cs typeface="+mn-lt"/>
              </a:rPr>
              <a:t>CodeBERT</a:t>
            </a:r>
            <a:r>
              <a:rPr lang="en-US">
                <a:latin typeface="Garamond"/>
                <a:ea typeface="+mn-lt"/>
                <a:cs typeface="+mn-lt"/>
              </a:rPr>
              <a:t> + RF/MLP Framework</a:t>
            </a:r>
            <a:endParaRPr lang="en-US" dirty="0">
              <a:latin typeface="Garamond"/>
              <a:ea typeface="+mn-lt"/>
              <a:cs typeface="+mn-lt"/>
            </a:endParaRPr>
          </a:p>
          <a:p>
            <a:r>
              <a:rPr lang="en-US" dirty="0">
                <a:latin typeface="Garamond"/>
                <a:ea typeface="+mn-lt"/>
                <a:cs typeface="+mn-lt"/>
              </a:rPr>
              <a:t>Experiments &amp; Results</a:t>
            </a:r>
          </a:p>
          <a:p>
            <a:r>
              <a:rPr lang="en-US">
                <a:latin typeface="Garamond"/>
                <a:ea typeface="+mn-lt"/>
                <a:cs typeface="+mn-lt"/>
              </a:rPr>
              <a:t>Discussion &amp; Applications</a:t>
            </a:r>
            <a:endParaRPr lang="en-US" dirty="0">
              <a:latin typeface="Garamond"/>
              <a:ea typeface="+mn-lt"/>
              <a:cs typeface="+mn-lt"/>
            </a:endParaRPr>
          </a:p>
          <a:p>
            <a:r>
              <a:rPr lang="en-US" dirty="0">
                <a:latin typeface="Garamond"/>
                <a:ea typeface="+mn-lt"/>
                <a:cs typeface="+mn-lt"/>
              </a:rPr>
              <a:t>Limitations &amp; Future Work</a:t>
            </a:r>
          </a:p>
          <a:p>
            <a:r>
              <a:rPr lang="en-US" dirty="0">
                <a:latin typeface="Garamond"/>
                <a:ea typeface="+mn-lt"/>
                <a:cs typeface="+mn-lt"/>
              </a:rPr>
              <a:t>Conclusion &amp; Q&amp;A</a:t>
            </a:r>
          </a:p>
        </p:txBody>
      </p:sp>
    </p:spTree>
    <p:extLst>
      <p:ext uri="{BB962C8B-B14F-4D97-AF65-F5344CB8AC3E}">
        <p14:creationId xmlns:p14="http://schemas.microsoft.com/office/powerpoint/2010/main" val="3628581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8D558-09C1-335F-860F-3AFD265A31E4}"/>
              </a:ext>
            </a:extLst>
          </p:cNvPr>
          <p:cNvSpPr>
            <a:spLocks noGrp="1"/>
          </p:cNvSpPr>
          <p:nvPr>
            <p:ph type="title"/>
          </p:nvPr>
        </p:nvSpPr>
        <p:spPr/>
        <p:txBody>
          <a:bodyPr/>
          <a:lstStyle/>
          <a:p>
            <a:pPr algn="ctr"/>
            <a:r>
              <a:rPr lang="en-US" sz="3200" b="1" dirty="0">
                <a:latin typeface="Mongolian Baiti"/>
                <a:ea typeface="+mj-lt"/>
                <a:cs typeface="+mj-lt"/>
              </a:rPr>
              <a:t>First Unified Framework: </a:t>
            </a:r>
            <a:r>
              <a:rPr lang="en-US" sz="3200" b="1" err="1">
                <a:latin typeface="Mongolian Baiti"/>
                <a:ea typeface="+mj-lt"/>
                <a:cs typeface="+mj-lt"/>
              </a:rPr>
              <a:t>CodeBERT</a:t>
            </a:r>
            <a:r>
              <a:rPr lang="en-US" sz="3200" b="1" dirty="0">
                <a:latin typeface="Mongolian Baiti"/>
                <a:ea typeface="+mj-lt"/>
                <a:cs typeface="+mj-lt"/>
              </a:rPr>
              <a:t> + Random Forest </a:t>
            </a:r>
            <a:br>
              <a:rPr lang="en-US" sz="3200" b="1" dirty="0">
                <a:latin typeface="Mongolian Baiti"/>
                <a:ea typeface="+mj-lt"/>
                <a:cs typeface="+mj-lt"/>
              </a:rPr>
            </a:br>
            <a:r>
              <a:rPr lang="en-US" sz="3200" b="1" dirty="0">
                <a:latin typeface="Mongolian Baiti"/>
                <a:ea typeface="+mj-lt"/>
                <a:cs typeface="+mj-lt"/>
              </a:rPr>
              <a:t>for Automated Code Smell Detection</a:t>
            </a:r>
            <a:endParaRPr lang="en-US" sz="3200" b="1">
              <a:latin typeface="Mongolian Baiti"/>
              <a:cs typeface="Mongolian Baiti"/>
            </a:endParaRPr>
          </a:p>
        </p:txBody>
      </p:sp>
      <p:sp>
        <p:nvSpPr>
          <p:cNvPr id="3" name="Content Placeholder 2">
            <a:extLst>
              <a:ext uri="{FF2B5EF4-FFF2-40B4-BE49-F238E27FC236}">
                <a16:creationId xmlns:a16="http://schemas.microsoft.com/office/drawing/2014/main" id="{9EC2AF5C-D374-C78E-6673-69B63CE636A2}"/>
              </a:ext>
            </a:extLst>
          </p:cNvPr>
          <p:cNvSpPr>
            <a:spLocks noGrp="1"/>
          </p:cNvSpPr>
          <p:nvPr>
            <p:ph idx="1"/>
          </p:nvPr>
        </p:nvSpPr>
        <p:spPr>
          <a:xfrm>
            <a:off x="292100" y="1552575"/>
            <a:ext cx="10515600" cy="4351338"/>
          </a:xfrm>
        </p:spPr>
        <p:txBody>
          <a:bodyPr vert="horz" lIns="91440" tIns="45720" rIns="91440" bIns="45720" rtlCol="0" anchor="t">
            <a:normAutofit/>
          </a:bodyPr>
          <a:lstStyle/>
          <a:p>
            <a:r>
              <a:rPr lang="en-US" sz="1600" b="1" dirty="0">
                <a:latin typeface="Garamond"/>
                <a:ea typeface="+mn-lt"/>
                <a:cs typeface="+mn-lt"/>
              </a:rPr>
              <a:t>Eliminates need</a:t>
            </a:r>
            <a:r>
              <a:rPr lang="en-US" sz="1600" dirty="0">
                <a:latin typeface="Garamond"/>
                <a:ea typeface="+mn-lt"/>
                <a:cs typeface="+mn-lt"/>
              </a:rPr>
              <a:t> for handcrafted metrics—embeddings alone achieve </a:t>
            </a:r>
            <a:r>
              <a:rPr lang="en-US" sz="1600" b="1" dirty="0">
                <a:latin typeface="Garamond"/>
                <a:ea typeface="+mn-lt"/>
                <a:cs typeface="+mn-lt"/>
              </a:rPr>
              <a:t>~78%</a:t>
            </a:r>
            <a:r>
              <a:rPr lang="en-US" sz="1600" dirty="0">
                <a:latin typeface="Garamond"/>
                <a:ea typeface="+mn-lt"/>
                <a:cs typeface="+mn-lt"/>
              </a:rPr>
              <a:t> accuracy on a balanced test set</a:t>
            </a:r>
            <a:endParaRPr lang="en-US" dirty="0">
              <a:latin typeface="Garamond"/>
            </a:endParaRPr>
          </a:p>
          <a:p>
            <a:r>
              <a:rPr lang="en-US" sz="1600" b="1" dirty="0">
                <a:latin typeface="Garamond"/>
              </a:rPr>
              <a:t>Real-time inference</a:t>
            </a:r>
            <a:r>
              <a:rPr lang="en-US" sz="1600" dirty="0">
                <a:latin typeface="Garamond"/>
              </a:rPr>
              <a:t> capability enables CI/CD integration</a:t>
            </a:r>
          </a:p>
        </p:txBody>
      </p:sp>
      <p:sp>
        <p:nvSpPr>
          <p:cNvPr id="4" name="Rectangle: Rounded Corners 3">
            <a:extLst>
              <a:ext uri="{FF2B5EF4-FFF2-40B4-BE49-F238E27FC236}">
                <a16:creationId xmlns:a16="http://schemas.microsoft.com/office/drawing/2014/main" id="{85A2D33F-1C52-897B-81D9-A8C9408A600E}"/>
              </a:ext>
            </a:extLst>
          </p:cNvPr>
          <p:cNvSpPr/>
          <p:nvPr/>
        </p:nvSpPr>
        <p:spPr>
          <a:xfrm>
            <a:off x="3326366" y="2608226"/>
            <a:ext cx="4889500" cy="3810000"/>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56DA601-871C-288D-9F35-B614506CDA62}"/>
              </a:ext>
            </a:extLst>
          </p:cNvPr>
          <p:cNvSpPr txBox="1"/>
          <p:nvPr/>
        </p:nvSpPr>
        <p:spPr>
          <a:xfrm>
            <a:off x="3955016" y="2697126"/>
            <a:ext cx="3810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0000"/>
                </a:solidFill>
              </a:rPr>
              <a:t>Traditional Approach</a:t>
            </a:r>
          </a:p>
        </p:txBody>
      </p:sp>
      <p:sp>
        <p:nvSpPr>
          <p:cNvPr id="6" name="Rectangle 5">
            <a:extLst>
              <a:ext uri="{FF2B5EF4-FFF2-40B4-BE49-F238E27FC236}">
                <a16:creationId xmlns:a16="http://schemas.microsoft.com/office/drawing/2014/main" id="{40CFFB70-7A0E-98FF-99BF-F0AD1051C0C4}"/>
              </a:ext>
            </a:extLst>
          </p:cNvPr>
          <p:cNvSpPr/>
          <p:nvPr/>
        </p:nvSpPr>
        <p:spPr>
          <a:xfrm>
            <a:off x="3713716" y="3217826"/>
            <a:ext cx="1778000" cy="850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7EF9384-7E7E-6D8B-5076-6864ED6E6A1A}"/>
              </a:ext>
            </a:extLst>
          </p:cNvPr>
          <p:cNvSpPr txBox="1"/>
          <p:nvPr/>
        </p:nvSpPr>
        <p:spPr>
          <a:xfrm>
            <a:off x="3866116" y="3306726"/>
            <a:ext cx="15113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chemeClr val="accent2"/>
                </a:solidFill>
              </a:rPr>
              <a:t>Cyclomatic Complexity</a:t>
            </a:r>
          </a:p>
        </p:txBody>
      </p:sp>
      <p:sp>
        <p:nvSpPr>
          <p:cNvPr id="8" name="Rectangle 7">
            <a:extLst>
              <a:ext uri="{FF2B5EF4-FFF2-40B4-BE49-F238E27FC236}">
                <a16:creationId xmlns:a16="http://schemas.microsoft.com/office/drawing/2014/main" id="{7090E49E-ED67-663E-A1BD-59F96DC8F4A6}"/>
              </a:ext>
            </a:extLst>
          </p:cNvPr>
          <p:cNvSpPr/>
          <p:nvPr/>
        </p:nvSpPr>
        <p:spPr>
          <a:xfrm>
            <a:off x="6082266" y="3198775"/>
            <a:ext cx="1778000" cy="850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B991A64-8971-F5FC-DF76-33E5AD1E71AE}"/>
              </a:ext>
            </a:extLst>
          </p:cNvPr>
          <p:cNvSpPr txBox="1"/>
          <p:nvPr/>
        </p:nvSpPr>
        <p:spPr>
          <a:xfrm>
            <a:off x="6209266" y="3300376"/>
            <a:ext cx="15113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chemeClr val="accent2"/>
                </a:solidFill>
              </a:rPr>
              <a:t>Coupling</a:t>
            </a:r>
          </a:p>
          <a:p>
            <a:pPr algn="ctr"/>
            <a:r>
              <a:rPr lang="en-US" dirty="0">
                <a:solidFill>
                  <a:schemeClr val="accent2"/>
                </a:solidFill>
              </a:rPr>
              <a:t>Metrics</a:t>
            </a:r>
          </a:p>
        </p:txBody>
      </p:sp>
      <p:sp>
        <p:nvSpPr>
          <p:cNvPr id="10" name="Rectangle 9">
            <a:extLst>
              <a:ext uri="{FF2B5EF4-FFF2-40B4-BE49-F238E27FC236}">
                <a16:creationId xmlns:a16="http://schemas.microsoft.com/office/drawing/2014/main" id="{513AD885-FA7B-5114-26FE-083E1FC7DEA3}"/>
              </a:ext>
            </a:extLst>
          </p:cNvPr>
          <p:cNvSpPr/>
          <p:nvPr/>
        </p:nvSpPr>
        <p:spPr>
          <a:xfrm>
            <a:off x="3701015" y="4284624"/>
            <a:ext cx="1778000" cy="850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37EE87-F096-8E2B-DC5A-B5FA55D037E8}"/>
              </a:ext>
            </a:extLst>
          </p:cNvPr>
          <p:cNvSpPr txBox="1"/>
          <p:nvPr/>
        </p:nvSpPr>
        <p:spPr>
          <a:xfrm>
            <a:off x="3828016" y="4386226"/>
            <a:ext cx="15113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chemeClr val="accent2"/>
                </a:solidFill>
              </a:rPr>
              <a:t>Cohesion </a:t>
            </a:r>
          </a:p>
          <a:p>
            <a:pPr algn="ctr"/>
            <a:r>
              <a:rPr lang="en-US" dirty="0">
                <a:solidFill>
                  <a:schemeClr val="accent2"/>
                </a:solidFill>
              </a:rPr>
              <a:t>Metrics</a:t>
            </a:r>
          </a:p>
        </p:txBody>
      </p:sp>
      <p:sp>
        <p:nvSpPr>
          <p:cNvPr id="12" name="Rectangle 11">
            <a:extLst>
              <a:ext uri="{FF2B5EF4-FFF2-40B4-BE49-F238E27FC236}">
                <a16:creationId xmlns:a16="http://schemas.microsoft.com/office/drawing/2014/main" id="{696EBDF7-BD61-644F-3924-AC42D73F247B}"/>
              </a:ext>
            </a:extLst>
          </p:cNvPr>
          <p:cNvSpPr/>
          <p:nvPr/>
        </p:nvSpPr>
        <p:spPr>
          <a:xfrm>
            <a:off x="6069565" y="4265574"/>
            <a:ext cx="1778000" cy="850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90648E7-F392-50D2-D550-80490F7A6A8B}"/>
              </a:ext>
            </a:extLst>
          </p:cNvPr>
          <p:cNvSpPr txBox="1"/>
          <p:nvPr/>
        </p:nvSpPr>
        <p:spPr>
          <a:xfrm>
            <a:off x="6196566" y="4367176"/>
            <a:ext cx="15113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chemeClr val="accent2"/>
                </a:solidFill>
              </a:rPr>
              <a:t>+10 more...</a:t>
            </a:r>
          </a:p>
        </p:txBody>
      </p:sp>
      <p:sp>
        <p:nvSpPr>
          <p:cNvPr id="14" name="TextBox 13">
            <a:extLst>
              <a:ext uri="{FF2B5EF4-FFF2-40B4-BE49-F238E27FC236}">
                <a16:creationId xmlns:a16="http://schemas.microsoft.com/office/drawing/2014/main" id="{CE60F475-E098-2270-108F-024D8059C701}"/>
              </a:ext>
            </a:extLst>
          </p:cNvPr>
          <p:cNvSpPr txBox="1"/>
          <p:nvPr/>
        </p:nvSpPr>
        <p:spPr>
          <a:xfrm>
            <a:off x="4043916" y="5668926"/>
            <a:ext cx="35179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chemeClr val="accent2"/>
                </a:solidFill>
              </a:rPr>
              <a:t>Feature Engineering</a:t>
            </a:r>
          </a:p>
          <a:p>
            <a:pPr algn="ctr"/>
            <a:r>
              <a:rPr lang="en-US" dirty="0">
                <a:solidFill>
                  <a:schemeClr val="accent2"/>
                </a:solidFill>
              </a:rPr>
              <a:t>(Manual, time consuming)</a:t>
            </a:r>
          </a:p>
        </p:txBody>
      </p:sp>
      <p:sp>
        <p:nvSpPr>
          <p:cNvPr id="15" name="Arrow: Right 14">
            <a:extLst>
              <a:ext uri="{FF2B5EF4-FFF2-40B4-BE49-F238E27FC236}">
                <a16:creationId xmlns:a16="http://schemas.microsoft.com/office/drawing/2014/main" id="{83819A01-4F45-5B76-19E0-21A3D534F330}"/>
              </a:ext>
            </a:extLst>
          </p:cNvPr>
          <p:cNvSpPr/>
          <p:nvPr/>
        </p:nvSpPr>
        <p:spPr>
          <a:xfrm rot="5400000">
            <a:off x="5577440" y="5272051"/>
            <a:ext cx="425450" cy="317500"/>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DC068DF3-8406-589F-9E5A-5852DC7019D5}"/>
              </a:ext>
            </a:extLst>
          </p:cNvPr>
          <p:cNvCxnSpPr>
            <a:cxnSpLocks/>
          </p:cNvCxnSpPr>
          <p:nvPr/>
        </p:nvCxnSpPr>
        <p:spPr>
          <a:xfrm>
            <a:off x="4545565" y="3071775"/>
            <a:ext cx="2628900" cy="12700"/>
          </a:xfrm>
          <a:prstGeom prst="straightConnector1">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338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9" grpId="0"/>
      <p:bldP spid="10" grpId="0" animBg="1"/>
      <p:bldP spid="11" grpId="0"/>
      <p:bldP spid="12" grpId="0" animBg="1"/>
      <p:bldP spid="13" grpId="0"/>
      <p:bldP spid="14" grpId="0"/>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BB96F-0FAC-9556-B7E3-1B48B1522490}"/>
              </a:ext>
            </a:extLst>
          </p:cNvPr>
          <p:cNvSpPr>
            <a:spLocks noGrp="1"/>
          </p:cNvSpPr>
          <p:nvPr>
            <p:ph idx="1"/>
          </p:nvPr>
        </p:nvSpPr>
        <p:spPr>
          <a:xfrm>
            <a:off x="838200" y="1270370"/>
            <a:ext cx="10515600" cy="4906593"/>
          </a:xfrm>
        </p:spPr>
        <p:txBody>
          <a:bodyPr vert="horz" lIns="91440" tIns="45720" rIns="91440" bIns="45720" rtlCol="0" anchor="t">
            <a:normAutofit/>
          </a:bodyPr>
          <a:lstStyle/>
          <a:p>
            <a:pPr marL="0" indent="0">
              <a:buNone/>
            </a:pPr>
            <a:r>
              <a:rPr lang="en-US" dirty="0">
                <a:latin typeface="Garamond"/>
              </a:rPr>
              <a:t>My Approach</a:t>
            </a:r>
            <a:br>
              <a:rPr lang="en-US" dirty="0">
                <a:latin typeface="Garamond"/>
              </a:rPr>
            </a:br>
            <a:endParaRPr lang="en-US">
              <a:latin typeface="Garamond"/>
            </a:endParaRPr>
          </a:p>
        </p:txBody>
      </p:sp>
      <p:sp>
        <p:nvSpPr>
          <p:cNvPr id="4" name="Rectangle: Rounded Corners 3">
            <a:extLst>
              <a:ext uri="{FF2B5EF4-FFF2-40B4-BE49-F238E27FC236}">
                <a16:creationId xmlns:a16="http://schemas.microsoft.com/office/drawing/2014/main" id="{B3575A79-A101-C89A-B617-4DAF547C7B71}"/>
              </a:ext>
            </a:extLst>
          </p:cNvPr>
          <p:cNvSpPr/>
          <p:nvPr/>
        </p:nvSpPr>
        <p:spPr>
          <a:xfrm>
            <a:off x="3498111" y="2563627"/>
            <a:ext cx="4889500" cy="3810000"/>
          </a:xfrm>
          <a:prstGeom prst="round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extBox 19">
            <a:extLst>
              <a:ext uri="{FF2B5EF4-FFF2-40B4-BE49-F238E27FC236}">
                <a16:creationId xmlns:a16="http://schemas.microsoft.com/office/drawing/2014/main" id="{72A08F34-D291-9F8F-5573-5655AD848B02}"/>
              </a:ext>
            </a:extLst>
          </p:cNvPr>
          <p:cNvSpPr txBox="1"/>
          <p:nvPr/>
        </p:nvSpPr>
        <p:spPr>
          <a:xfrm>
            <a:off x="3523511" y="2614426"/>
            <a:ext cx="488315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schemeClr val="accent6"/>
                </a:solidFill>
              </a:rPr>
              <a:t>My Approach</a:t>
            </a:r>
          </a:p>
        </p:txBody>
      </p:sp>
      <p:sp>
        <p:nvSpPr>
          <p:cNvPr id="6" name="TextBox 20">
            <a:extLst>
              <a:ext uri="{FF2B5EF4-FFF2-40B4-BE49-F238E27FC236}">
                <a16:creationId xmlns:a16="http://schemas.microsoft.com/office/drawing/2014/main" id="{B95F714E-78C7-688E-1CB8-29010ECB5870}"/>
              </a:ext>
            </a:extLst>
          </p:cNvPr>
          <p:cNvSpPr txBox="1"/>
          <p:nvPr/>
        </p:nvSpPr>
        <p:spPr>
          <a:xfrm>
            <a:off x="3523512" y="3122426"/>
            <a:ext cx="48514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srgbClr val="0070C0"/>
                </a:solidFill>
              </a:rPr>
              <a:t>Code Text</a:t>
            </a:r>
          </a:p>
        </p:txBody>
      </p:sp>
      <p:cxnSp>
        <p:nvCxnSpPr>
          <p:cNvPr id="7" name="Straight Arrow Connector 6">
            <a:extLst>
              <a:ext uri="{FF2B5EF4-FFF2-40B4-BE49-F238E27FC236}">
                <a16:creationId xmlns:a16="http://schemas.microsoft.com/office/drawing/2014/main" id="{FEC14104-DE92-9E82-7F09-B3EE0DDF9574}"/>
              </a:ext>
            </a:extLst>
          </p:cNvPr>
          <p:cNvCxnSpPr/>
          <p:nvPr/>
        </p:nvCxnSpPr>
        <p:spPr>
          <a:xfrm>
            <a:off x="5822212" y="3401827"/>
            <a:ext cx="0" cy="190500"/>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23">
            <a:extLst>
              <a:ext uri="{FF2B5EF4-FFF2-40B4-BE49-F238E27FC236}">
                <a16:creationId xmlns:a16="http://schemas.microsoft.com/office/drawing/2014/main" id="{580E505E-3C7E-1978-C805-941850087EA7}"/>
              </a:ext>
            </a:extLst>
          </p:cNvPr>
          <p:cNvSpPr txBox="1"/>
          <p:nvPr/>
        </p:nvSpPr>
        <p:spPr>
          <a:xfrm>
            <a:off x="3517161" y="3560575"/>
            <a:ext cx="48514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err="1">
                <a:solidFill>
                  <a:srgbClr val="0070C0"/>
                </a:solidFill>
              </a:rPr>
              <a:t>CodeBERT</a:t>
            </a:r>
            <a:r>
              <a:rPr lang="en-US" dirty="0">
                <a:solidFill>
                  <a:srgbClr val="0070C0"/>
                </a:solidFill>
              </a:rPr>
              <a:t> Model</a:t>
            </a:r>
          </a:p>
        </p:txBody>
      </p:sp>
      <p:cxnSp>
        <p:nvCxnSpPr>
          <p:cNvPr id="9" name="Straight Arrow Connector 8">
            <a:extLst>
              <a:ext uri="{FF2B5EF4-FFF2-40B4-BE49-F238E27FC236}">
                <a16:creationId xmlns:a16="http://schemas.microsoft.com/office/drawing/2014/main" id="{E7C899ED-6904-4F56-D37D-58760827B79D}"/>
              </a:ext>
            </a:extLst>
          </p:cNvPr>
          <p:cNvCxnSpPr>
            <a:cxnSpLocks/>
          </p:cNvCxnSpPr>
          <p:nvPr/>
        </p:nvCxnSpPr>
        <p:spPr>
          <a:xfrm>
            <a:off x="5815861" y="3839977"/>
            <a:ext cx="0" cy="190500"/>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4FC639C-034A-7309-9DBD-7AF3E7305AA8}"/>
              </a:ext>
            </a:extLst>
          </p:cNvPr>
          <p:cNvCxnSpPr/>
          <p:nvPr/>
        </p:nvCxnSpPr>
        <p:spPr>
          <a:xfrm>
            <a:off x="4564912" y="2957327"/>
            <a:ext cx="2628900" cy="12700"/>
          </a:xfrm>
          <a:prstGeom prst="straightConnector1">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11" name="TextBox 27">
            <a:extLst>
              <a:ext uri="{FF2B5EF4-FFF2-40B4-BE49-F238E27FC236}">
                <a16:creationId xmlns:a16="http://schemas.microsoft.com/office/drawing/2014/main" id="{D32DD60C-6904-61A9-8E2D-6B717CA182D7}"/>
              </a:ext>
            </a:extLst>
          </p:cNvPr>
          <p:cNvSpPr txBox="1"/>
          <p:nvPr/>
        </p:nvSpPr>
        <p:spPr>
          <a:xfrm>
            <a:off x="3536210" y="4005519"/>
            <a:ext cx="48514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srgbClr val="0070C0"/>
                </a:solidFill>
              </a:rPr>
              <a:t>768-D embedding</a:t>
            </a:r>
          </a:p>
        </p:txBody>
      </p:sp>
      <p:cxnSp>
        <p:nvCxnSpPr>
          <p:cNvPr id="12" name="Straight Arrow Connector 11">
            <a:extLst>
              <a:ext uri="{FF2B5EF4-FFF2-40B4-BE49-F238E27FC236}">
                <a16:creationId xmlns:a16="http://schemas.microsoft.com/office/drawing/2014/main" id="{D106B644-7774-2701-D8EE-2B7CADB18D40}"/>
              </a:ext>
            </a:extLst>
          </p:cNvPr>
          <p:cNvCxnSpPr>
            <a:cxnSpLocks/>
          </p:cNvCxnSpPr>
          <p:nvPr/>
        </p:nvCxnSpPr>
        <p:spPr>
          <a:xfrm>
            <a:off x="5834910" y="4284921"/>
            <a:ext cx="0" cy="190500"/>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31">
            <a:extLst>
              <a:ext uri="{FF2B5EF4-FFF2-40B4-BE49-F238E27FC236}">
                <a16:creationId xmlns:a16="http://schemas.microsoft.com/office/drawing/2014/main" id="{EBFDA86A-B2D6-7794-1CD9-2BAEA734DFB9}"/>
              </a:ext>
            </a:extLst>
          </p:cNvPr>
          <p:cNvSpPr txBox="1"/>
          <p:nvPr/>
        </p:nvSpPr>
        <p:spPr>
          <a:xfrm>
            <a:off x="3510810" y="4437319"/>
            <a:ext cx="48514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srgbClr val="0070C0"/>
                </a:solidFill>
              </a:rPr>
              <a:t>Random Forest Classifier</a:t>
            </a:r>
          </a:p>
        </p:txBody>
      </p:sp>
      <p:cxnSp>
        <p:nvCxnSpPr>
          <p:cNvPr id="14" name="Straight Arrow Connector 13">
            <a:extLst>
              <a:ext uri="{FF2B5EF4-FFF2-40B4-BE49-F238E27FC236}">
                <a16:creationId xmlns:a16="http://schemas.microsoft.com/office/drawing/2014/main" id="{899D8A17-477F-676D-F73A-B0B874A1BCFC}"/>
              </a:ext>
            </a:extLst>
          </p:cNvPr>
          <p:cNvCxnSpPr>
            <a:cxnSpLocks/>
          </p:cNvCxnSpPr>
          <p:nvPr/>
        </p:nvCxnSpPr>
        <p:spPr>
          <a:xfrm>
            <a:off x="5809510" y="4716721"/>
            <a:ext cx="0" cy="190500"/>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33">
            <a:extLst>
              <a:ext uri="{FF2B5EF4-FFF2-40B4-BE49-F238E27FC236}">
                <a16:creationId xmlns:a16="http://schemas.microsoft.com/office/drawing/2014/main" id="{FD6D5D6A-D83F-6093-20E2-9337E250F1C0}"/>
              </a:ext>
            </a:extLst>
          </p:cNvPr>
          <p:cNvSpPr txBox="1"/>
          <p:nvPr/>
        </p:nvSpPr>
        <p:spPr>
          <a:xfrm>
            <a:off x="3504460" y="4850069"/>
            <a:ext cx="48514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err="1">
                <a:solidFill>
                  <a:srgbClr val="0070C0"/>
                </a:solidFill>
              </a:rPr>
              <a:t>Codesmell</a:t>
            </a:r>
            <a:r>
              <a:rPr lang="en-US" dirty="0">
                <a:solidFill>
                  <a:srgbClr val="0070C0"/>
                </a:solidFill>
              </a:rPr>
              <a:t> Detection</a:t>
            </a:r>
          </a:p>
        </p:txBody>
      </p:sp>
      <p:sp>
        <p:nvSpPr>
          <p:cNvPr id="16" name="TextBox 35">
            <a:extLst>
              <a:ext uri="{FF2B5EF4-FFF2-40B4-BE49-F238E27FC236}">
                <a16:creationId xmlns:a16="http://schemas.microsoft.com/office/drawing/2014/main" id="{21157B7D-6815-29C1-45A5-EF7122C87CC6}"/>
              </a:ext>
            </a:extLst>
          </p:cNvPr>
          <p:cNvSpPr txBox="1"/>
          <p:nvPr/>
        </p:nvSpPr>
        <p:spPr>
          <a:xfrm>
            <a:off x="3828312" y="5580321"/>
            <a:ext cx="40259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ea typeface="+mn-lt"/>
                <a:cs typeface="+mn-lt"/>
              </a:rPr>
              <a:t>✅</a:t>
            </a:r>
            <a:r>
              <a:rPr lang="en-US" dirty="0"/>
              <a:t> </a:t>
            </a:r>
            <a:r>
              <a:rPr lang="en-US" dirty="0">
                <a:solidFill>
                  <a:srgbClr val="00B050"/>
                </a:solidFill>
              </a:rPr>
              <a:t>No feature Engineering</a:t>
            </a:r>
          </a:p>
          <a:p>
            <a:pPr algn="ctr"/>
            <a:r>
              <a:rPr lang="en-US" dirty="0">
                <a:solidFill>
                  <a:srgbClr val="00B050"/>
                </a:solidFill>
                <a:ea typeface="+mn-lt"/>
                <a:cs typeface="+mn-lt"/>
              </a:rPr>
              <a:t>✅ </a:t>
            </a:r>
            <a:r>
              <a:rPr lang="en-US" dirty="0">
                <a:solidFill>
                  <a:srgbClr val="00B050"/>
                </a:solidFill>
              </a:rPr>
              <a:t>Automatic</a:t>
            </a:r>
          </a:p>
        </p:txBody>
      </p:sp>
    </p:spTree>
    <p:extLst>
      <p:ext uri="{BB962C8B-B14F-4D97-AF65-F5344CB8AC3E}">
        <p14:creationId xmlns:p14="http://schemas.microsoft.com/office/powerpoint/2010/main" val="1953687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56A4-CB2B-4082-D366-02C15F2F8A78}"/>
              </a:ext>
            </a:extLst>
          </p:cNvPr>
          <p:cNvSpPr>
            <a:spLocks noGrp="1"/>
          </p:cNvSpPr>
          <p:nvPr>
            <p:ph type="title"/>
          </p:nvPr>
        </p:nvSpPr>
        <p:spPr/>
        <p:txBody>
          <a:bodyPr/>
          <a:lstStyle/>
          <a:p>
            <a:r>
              <a:rPr lang="en-US" sz="3200" b="1" dirty="0">
                <a:latin typeface="Mongolian Baiti"/>
                <a:cs typeface="Mongolian Baiti"/>
              </a:rPr>
              <a:t>The Code Smell Problem: A Growing Challenge</a:t>
            </a:r>
          </a:p>
          <a:p>
            <a:endParaRPr lang="en-US" dirty="0"/>
          </a:p>
        </p:txBody>
      </p:sp>
      <p:sp>
        <p:nvSpPr>
          <p:cNvPr id="3" name="Content Placeholder 2">
            <a:extLst>
              <a:ext uri="{FF2B5EF4-FFF2-40B4-BE49-F238E27FC236}">
                <a16:creationId xmlns:a16="http://schemas.microsoft.com/office/drawing/2014/main" id="{1314081B-A725-64EF-7D0C-031B773D329A}"/>
              </a:ext>
            </a:extLst>
          </p:cNvPr>
          <p:cNvSpPr>
            <a:spLocks noGrp="1"/>
          </p:cNvSpPr>
          <p:nvPr>
            <p:ph idx="1"/>
          </p:nvPr>
        </p:nvSpPr>
        <p:spPr/>
        <p:txBody>
          <a:bodyPr vert="horz" lIns="91440" tIns="45720" rIns="91440" bIns="45720" rtlCol="0" anchor="t">
            <a:normAutofit/>
          </a:bodyPr>
          <a:lstStyle/>
          <a:p>
            <a:pPr algn="ctr">
              <a:buNone/>
            </a:pPr>
            <a:r>
              <a:rPr lang="en-US" sz="2400" dirty="0">
                <a:latin typeface="Garamond"/>
              </a:rPr>
              <a:t>Code smells accumulate over time, degrading maintainability</a:t>
            </a:r>
            <a:endParaRPr lang="en-US" sz="2400">
              <a:latin typeface="Garamond"/>
            </a:endParaRPr>
          </a:p>
          <a:p>
            <a:pPr algn="ctr">
              <a:buNone/>
            </a:pPr>
            <a:r>
              <a:rPr lang="en-US" sz="2400" dirty="0">
                <a:latin typeface="Garamond"/>
              </a:rPr>
              <a:t>and increasing technical debt—costing organizations millions</a:t>
            </a:r>
            <a:endParaRPr lang="en-US" sz="2400">
              <a:latin typeface="Garamond"/>
            </a:endParaRPr>
          </a:p>
          <a:p>
            <a:pPr algn="ctr">
              <a:buNone/>
            </a:pPr>
            <a:r>
              <a:rPr lang="en-US" sz="2400" dirty="0">
                <a:latin typeface="Garamond"/>
              </a:rPr>
              <a:t>in refactoring efforts.</a:t>
            </a:r>
          </a:p>
          <a:p>
            <a:pPr marL="0" indent="0">
              <a:buNone/>
            </a:pPr>
            <a:endParaRPr lang="en-US" dirty="0"/>
          </a:p>
        </p:txBody>
      </p:sp>
      <p:sp>
        <p:nvSpPr>
          <p:cNvPr id="4" name="TextBox 3">
            <a:extLst>
              <a:ext uri="{FF2B5EF4-FFF2-40B4-BE49-F238E27FC236}">
                <a16:creationId xmlns:a16="http://schemas.microsoft.com/office/drawing/2014/main" id="{AC907300-B9CA-0D8A-F971-06DE49A1ED57}"/>
              </a:ext>
            </a:extLst>
          </p:cNvPr>
          <p:cNvSpPr txBox="1"/>
          <p:nvPr/>
        </p:nvSpPr>
        <p:spPr>
          <a:xfrm>
            <a:off x="838969" y="4002423"/>
            <a:ext cx="515696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Three Pain Points</a:t>
            </a:r>
          </a:p>
          <a:p>
            <a:pPr marL="342900" indent="-342900">
              <a:buAutoNum type="arabicPeriod"/>
            </a:pPr>
            <a:r>
              <a:rPr lang="en-US"/>
              <a:t>Manual Detection is time-consuming</a:t>
            </a:r>
          </a:p>
          <a:p>
            <a:pPr marL="342900" indent="-342900">
              <a:buAutoNum type="arabicPeriod"/>
            </a:pPr>
            <a:r>
              <a:rPr lang="en-US" dirty="0"/>
              <a:t>Existing Automated Tools Have Limitations</a:t>
            </a:r>
          </a:p>
          <a:p>
            <a:pPr marL="342900" indent="-342900">
              <a:buAutoNum type="arabicPeriod"/>
            </a:pPr>
            <a:r>
              <a:rPr lang="en-US" dirty="0"/>
              <a:t>Impact on Software Quality</a:t>
            </a:r>
          </a:p>
        </p:txBody>
      </p:sp>
      <p:pic>
        <p:nvPicPr>
          <p:cNvPr id="5" name="Picture 4" descr="A graph showing a line going up&#10;&#10;AI-generated content may be incorrect.">
            <a:extLst>
              <a:ext uri="{FF2B5EF4-FFF2-40B4-BE49-F238E27FC236}">
                <a16:creationId xmlns:a16="http://schemas.microsoft.com/office/drawing/2014/main" id="{DE468330-50FA-AB4F-0692-0AE0054D0207}"/>
              </a:ext>
            </a:extLst>
          </p:cNvPr>
          <p:cNvPicPr>
            <a:picLocks noChangeAspect="1"/>
          </p:cNvPicPr>
          <p:nvPr/>
        </p:nvPicPr>
        <p:blipFill>
          <a:blip r:embed="rId3"/>
          <a:stretch>
            <a:fillRect/>
          </a:stretch>
        </p:blipFill>
        <p:spPr>
          <a:xfrm>
            <a:off x="5999308" y="3204344"/>
            <a:ext cx="6189326" cy="3351070"/>
          </a:xfrm>
          <a:prstGeom prst="rect">
            <a:avLst/>
          </a:prstGeom>
        </p:spPr>
      </p:pic>
      <p:sp>
        <p:nvSpPr>
          <p:cNvPr id="6" name="TextBox 5">
            <a:extLst>
              <a:ext uri="{FF2B5EF4-FFF2-40B4-BE49-F238E27FC236}">
                <a16:creationId xmlns:a16="http://schemas.microsoft.com/office/drawing/2014/main" id="{3E97C0FD-F73C-9CAC-7907-A115FA97CDBA}"/>
              </a:ext>
            </a:extLst>
          </p:cNvPr>
          <p:cNvSpPr txBox="1"/>
          <p:nvPr/>
        </p:nvSpPr>
        <p:spPr>
          <a:xfrm>
            <a:off x="369454" y="5634181"/>
            <a:ext cx="514157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Garamond"/>
              </a:rPr>
              <a:t>📊</a:t>
            </a:r>
            <a:r>
              <a:rPr lang="en-US" dirty="0">
                <a:solidFill>
                  <a:srgbClr val="FF0000"/>
                </a:solidFill>
                <a:latin typeface="Garamond"/>
              </a:rPr>
              <a:t> Studies show: 40-60% of development time spent on maintenance</a:t>
            </a:r>
          </a:p>
          <a:p>
            <a:pPr algn="l"/>
            <a:endParaRPr lang="en-US" dirty="0">
              <a:latin typeface="Garamond"/>
            </a:endParaRPr>
          </a:p>
        </p:txBody>
      </p:sp>
    </p:spTree>
    <p:extLst>
      <p:ext uri="{BB962C8B-B14F-4D97-AF65-F5344CB8AC3E}">
        <p14:creationId xmlns:p14="http://schemas.microsoft.com/office/powerpoint/2010/main" val="2629511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A0794-07E5-0480-CAD3-CFF965A7A430}"/>
              </a:ext>
            </a:extLst>
          </p:cNvPr>
          <p:cNvSpPr>
            <a:spLocks noGrp="1"/>
          </p:cNvSpPr>
          <p:nvPr>
            <p:ph type="title"/>
          </p:nvPr>
        </p:nvSpPr>
        <p:spPr/>
        <p:txBody>
          <a:bodyPr vert="horz" lIns="91440" tIns="45720" rIns="91440" bIns="45720" rtlCol="0" anchor="ctr">
            <a:noAutofit/>
          </a:bodyPr>
          <a:lstStyle/>
          <a:p>
            <a:r>
              <a:rPr lang="en-US" sz="3200" b="1" dirty="0">
                <a:latin typeface="Mongolian Baiti"/>
                <a:cs typeface="Mongolian Baiti"/>
              </a:rPr>
              <a:t>Research Gap: What's Missing?</a:t>
            </a:r>
            <a:br>
              <a:rPr lang="en-US" sz="3200" b="1" dirty="0">
                <a:latin typeface="Mongolian Baiti"/>
              </a:rPr>
            </a:br>
            <a:endParaRPr lang="en-US" sz="3200" b="1" dirty="0">
              <a:latin typeface="Mongolian Baiti"/>
              <a:cs typeface="Mongolian Baiti"/>
            </a:endParaRPr>
          </a:p>
        </p:txBody>
      </p:sp>
      <p:sp>
        <p:nvSpPr>
          <p:cNvPr id="3" name="Rectangle 2">
            <a:extLst>
              <a:ext uri="{FF2B5EF4-FFF2-40B4-BE49-F238E27FC236}">
                <a16:creationId xmlns:a16="http://schemas.microsoft.com/office/drawing/2014/main" id="{7D91FC2D-6901-B01A-72AF-8822058A5ED1}"/>
              </a:ext>
            </a:extLst>
          </p:cNvPr>
          <p:cNvSpPr/>
          <p:nvPr/>
        </p:nvSpPr>
        <p:spPr>
          <a:xfrm>
            <a:off x="741723" y="1403047"/>
            <a:ext cx="4866910" cy="516466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TextBox 6">
            <a:extLst>
              <a:ext uri="{FF2B5EF4-FFF2-40B4-BE49-F238E27FC236}">
                <a16:creationId xmlns:a16="http://schemas.microsoft.com/office/drawing/2014/main" id="{384FC789-B6D3-183C-DD88-6BF9AF682284}"/>
              </a:ext>
            </a:extLst>
          </p:cNvPr>
          <p:cNvSpPr txBox="1"/>
          <p:nvPr/>
        </p:nvSpPr>
        <p:spPr>
          <a:xfrm>
            <a:off x="979713" y="1499810"/>
            <a:ext cx="4487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Garamond"/>
                <a:ea typeface="+mn-lt"/>
                <a:cs typeface="+mn-lt"/>
              </a:rPr>
              <a:t>What Exists</a:t>
            </a:r>
            <a:endParaRPr lang="en-US">
              <a:latin typeface="Garamond"/>
            </a:endParaRPr>
          </a:p>
        </p:txBody>
      </p:sp>
      <p:sp>
        <p:nvSpPr>
          <p:cNvPr id="8" name="Rectangle 7">
            <a:extLst>
              <a:ext uri="{FF2B5EF4-FFF2-40B4-BE49-F238E27FC236}">
                <a16:creationId xmlns:a16="http://schemas.microsoft.com/office/drawing/2014/main" id="{86AD0010-5FAF-A0F2-24A5-275E29D4194A}"/>
              </a:ext>
            </a:extLst>
          </p:cNvPr>
          <p:cNvSpPr/>
          <p:nvPr/>
        </p:nvSpPr>
        <p:spPr>
          <a:xfrm>
            <a:off x="6479134" y="1403047"/>
            <a:ext cx="4866910" cy="257610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TextBox 8">
            <a:extLst>
              <a:ext uri="{FF2B5EF4-FFF2-40B4-BE49-F238E27FC236}">
                <a16:creationId xmlns:a16="http://schemas.microsoft.com/office/drawing/2014/main" id="{6DF1B274-E970-2074-60AD-E25776DCB3FD}"/>
              </a:ext>
            </a:extLst>
          </p:cNvPr>
          <p:cNvSpPr txBox="1"/>
          <p:nvPr/>
        </p:nvSpPr>
        <p:spPr>
          <a:xfrm>
            <a:off x="973220" y="2152952"/>
            <a:ext cx="4500319"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dirty="0"/>
              <a:t>Metric-Based Detection</a:t>
            </a:r>
          </a:p>
          <a:p>
            <a:pPr marL="800100" lvl="1" indent="-342900">
              <a:buFont typeface="Courier New"/>
              <a:buChar char="o"/>
            </a:pPr>
            <a:r>
              <a:rPr lang="en-US" sz="1600" dirty="0">
                <a:latin typeface="Garamond"/>
              </a:rPr>
              <a:t>Cyclomatic complexity </a:t>
            </a:r>
          </a:p>
          <a:p>
            <a:pPr marL="800100" lvl="1" indent="-342900">
              <a:buFont typeface="Courier New"/>
              <a:buChar char="o"/>
            </a:pPr>
            <a:r>
              <a:rPr lang="en-US" sz="1600" dirty="0">
                <a:latin typeface="Garamond"/>
              </a:rPr>
              <a:t>Coupling measures</a:t>
            </a:r>
            <a:endParaRPr lang="en-US" dirty="0">
              <a:latin typeface="Aptos" panose="020B0004020202020204"/>
            </a:endParaRPr>
          </a:p>
          <a:p>
            <a:pPr marL="800100" lvl="1" indent="-342900">
              <a:buFont typeface="Courier New"/>
              <a:buChar char="o"/>
            </a:pPr>
            <a:r>
              <a:rPr lang="en-US" sz="1600" dirty="0">
                <a:latin typeface="Garamond"/>
              </a:rPr>
              <a:t>Cohesion indices</a:t>
            </a:r>
            <a:endParaRPr lang="en-US" dirty="0">
              <a:ea typeface="+mn-lt"/>
              <a:cs typeface="+mn-lt"/>
            </a:endParaRPr>
          </a:p>
          <a:p>
            <a:pPr marL="800100" lvl="1" indent="-342900">
              <a:buFont typeface="Courier New"/>
              <a:buChar char="o"/>
            </a:pPr>
            <a:endParaRPr lang="en-US" sz="1600" dirty="0">
              <a:ea typeface="+mn-lt"/>
              <a:cs typeface="+mn-lt"/>
            </a:endParaRPr>
          </a:p>
          <a:p>
            <a:pPr lvl="1"/>
            <a:r>
              <a:rPr lang="en-US" sz="1600" dirty="0">
                <a:ea typeface="+mn-lt"/>
                <a:cs typeface="+mn-lt"/>
              </a:rPr>
              <a:t>✅</a:t>
            </a:r>
            <a:r>
              <a:rPr lang="en-US" sz="1600" dirty="0">
                <a:latin typeface="Aptos"/>
              </a:rPr>
              <a:t> </a:t>
            </a:r>
            <a:r>
              <a:rPr lang="en-US" sz="1600" dirty="0">
                <a:latin typeface="Garamond"/>
              </a:rPr>
              <a:t>Well-established</a:t>
            </a:r>
            <a:endParaRPr lang="en-US" dirty="0">
              <a:latin typeface="Aptos" panose="020B0004020202020204"/>
            </a:endParaRPr>
          </a:p>
          <a:p>
            <a:pPr lvl="1"/>
            <a:r>
              <a:rPr lang="en-US" sz="1600" dirty="0">
                <a:ea typeface="+mn-lt"/>
                <a:cs typeface="+mn-lt"/>
              </a:rPr>
              <a:t>❌</a:t>
            </a:r>
            <a:r>
              <a:rPr lang="en-US" sz="1600" dirty="0">
                <a:latin typeface="Aptos"/>
              </a:rPr>
              <a:t> </a:t>
            </a:r>
            <a:r>
              <a:rPr lang="en-US" sz="1600" dirty="0">
                <a:latin typeface="Garamond"/>
              </a:rPr>
              <a:t>Miss semantic patterns</a:t>
            </a:r>
            <a:endParaRPr lang="en-US" dirty="0">
              <a:latin typeface="Aptos" panose="020B0004020202020204"/>
            </a:endParaRPr>
          </a:p>
          <a:p>
            <a:pPr lvl="1"/>
            <a:r>
              <a:rPr lang="en-US" sz="1600" dirty="0">
                <a:ea typeface="+mn-lt"/>
                <a:cs typeface="+mn-lt"/>
              </a:rPr>
              <a:t>❌ </a:t>
            </a:r>
            <a:r>
              <a:rPr lang="en-US" sz="1600" dirty="0">
                <a:latin typeface="Garamond"/>
              </a:rPr>
              <a:t>Requires domain expertise</a:t>
            </a:r>
            <a:endParaRPr lang="en-US" dirty="0">
              <a:latin typeface="Aptos" panose="020B0004020202020204"/>
            </a:endParaRPr>
          </a:p>
          <a:p>
            <a:pPr marL="800100" lvl="1" indent="-342900">
              <a:buFont typeface="Courier New"/>
              <a:buChar char="o"/>
            </a:pPr>
            <a:endParaRPr lang="en-US" dirty="0"/>
          </a:p>
        </p:txBody>
      </p:sp>
      <p:sp>
        <p:nvSpPr>
          <p:cNvPr id="10" name="TextBox 9">
            <a:extLst>
              <a:ext uri="{FF2B5EF4-FFF2-40B4-BE49-F238E27FC236}">
                <a16:creationId xmlns:a16="http://schemas.microsoft.com/office/drawing/2014/main" id="{6D89EA0F-89E8-B9E3-6673-4EF2CAED7551}"/>
              </a:ext>
            </a:extLst>
          </p:cNvPr>
          <p:cNvSpPr txBox="1"/>
          <p:nvPr/>
        </p:nvSpPr>
        <p:spPr>
          <a:xfrm>
            <a:off x="967617" y="4343702"/>
            <a:ext cx="4500319"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2.   </a:t>
            </a:r>
            <a:r>
              <a:rPr lang="en-US" dirty="0">
                <a:latin typeface="Aptos"/>
              </a:rPr>
              <a:t>Some Deep Learning Approaches</a:t>
            </a:r>
          </a:p>
          <a:p>
            <a:pPr marL="800100" lvl="1" indent="-342900">
              <a:buFont typeface="Courier New"/>
              <a:buChar char="o"/>
            </a:pPr>
            <a:r>
              <a:rPr lang="en-US" sz="1600" dirty="0">
                <a:solidFill>
                  <a:srgbClr val="000000"/>
                </a:solidFill>
                <a:latin typeface="Garamond"/>
              </a:rPr>
              <a:t>LSTM-based models </a:t>
            </a:r>
            <a:endParaRPr lang="en-US" dirty="0"/>
          </a:p>
          <a:p>
            <a:pPr marL="800100" lvl="1" indent="-342900">
              <a:buFont typeface="Courier New"/>
              <a:buChar char="o"/>
            </a:pPr>
            <a:r>
              <a:rPr lang="en-US" sz="1600" dirty="0">
                <a:latin typeface="Garamond"/>
              </a:rPr>
              <a:t>CNN for code analysis</a:t>
            </a:r>
          </a:p>
          <a:p>
            <a:pPr marL="800100" lvl="1" indent="-342900">
              <a:buFont typeface="Courier New"/>
              <a:buChar char="o"/>
            </a:pPr>
            <a:r>
              <a:rPr lang="en-US" sz="1600" dirty="0">
                <a:latin typeface="Garamond"/>
              </a:rPr>
              <a:t>Cohesion indices</a:t>
            </a:r>
            <a:endParaRPr lang="en-US" dirty="0">
              <a:ea typeface="+mn-lt"/>
              <a:cs typeface="+mn-lt"/>
            </a:endParaRPr>
          </a:p>
          <a:p>
            <a:pPr marL="800100" lvl="1" indent="-342900">
              <a:buFont typeface="Courier New"/>
              <a:buChar char="o"/>
            </a:pPr>
            <a:endParaRPr lang="en-US" sz="1600" dirty="0">
              <a:ea typeface="+mn-lt"/>
              <a:cs typeface="+mn-lt"/>
            </a:endParaRPr>
          </a:p>
          <a:p>
            <a:pPr lvl="1"/>
            <a:r>
              <a:rPr lang="en-US" sz="1600" dirty="0">
                <a:ea typeface="+mn-lt"/>
                <a:cs typeface="+mn-lt"/>
              </a:rPr>
              <a:t>✅</a:t>
            </a:r>
            <a:r>
              <a:rPr lang="en-US" sz="1600" dirty="0">
                <a:latin typeface="Aptos"/>
              </a:rPr>
              <a:t> </a:t>
            </a:r>
            <a:r>
              <a:rPr lang="en-US" sz="1600" dirty="0">
                <a:latin typeface="Garamond"/>
              </a:rPr>
              <a:t>Can learn patterns</a:t>
            </a:r>
            <a:endParaRPr lang="en-US" dirty="0">
              <a:latin typeface="Aptos" panose="020B0004020202020204"/>
            </a:endParaRPr>
          </a:p>
          <a:p>
            <a:pPr lvl="1"/>
            <a:r>
              <a:rPr lang="en-US" sz="1600" dirty="0">
                <a:ea typeface="+mn-lt"/>
                <a:cs typeface="+mn-lt"/>
              </a:rPr>
              <a:t>❌</a:t>
            </a:r>
            <a:r>
              <a:rPr lang="en-US" sz="1600" dirty="0">
                <a:latin typeface="Aptos"/>
              </a:rPr>
              <a:t> </a:t>
            </a:r>
            <a:r>
              <a:rPr lang="en-US" sz="1600" dirty="0">
                <a:latin typeface="Garamond"/>
              </a:rPr>
              <a:t>Need feature engineering</a:t>
            </a:r>
          </a:p>
          <a:p>
            <a:pPr lvl="1"/>
            <a:r>
              <a:rPr lang="en-US" sz="1600" dirty="0">
                <a:latin typeface="Garamond"/>
                <a:ea typeface="+mn-lt"/>
                <a:cs typeface="+mn-lt"/>
              </a:rPr>
              <a:t>❌ Limited </a:t>
            </a:r>
            <a:r>
              <a:rPr lang="en-US" sz="1600" err="1">
                <a:latin typeface="Garamond"/>
                <a:ea typeface="+mn-lt"/>
                <a:cs typeface="+mn-lt"/>
              </a:rPr>
              <a:t>codeBERT</a:t>
            </a:r>
            <a:r>
              <a:rPr lang="en-US" sz="1600" dirty="0">
                <a:latin typeface="Garamond"/>
                <a:ea typeface="+mn-lt"/>
                <a:cs typeface="+mn-lt"/>
              </a:rPr>
              <a:t> application</a:t>
            </a:r>
            <a:endParaRPr lang="en-US" sz="1600" dirty="0">
              <a:latin typeface="Garamond"/>
            </a:endParaRPr>
          </a:p>
          <a:p>
            <a:pPr marL="800100" lvl="1" indent="-342900">
              <a:buFont typeface="Courier New"/>
              <a:buChar char="o"/>
            </a:pPr>
            <a:endParaRPr lang="en-US" dirty="0"/>
          </a:p>
        </p:txBody>
      </p:sp>
      <p:sp>
        <p:nvSpPr>
          <p:cNvPr id="11" name="TextBox 10">
            <a:extLst>
              <a:ext uri="{FF2B5EF4-FFF2-40B4-BE49-F238E27FC236}">
                <a16:creationId xmlns:a16="http://schemas.microsoft.com/office/drawing/2014/main" id="{C78C1448-34ED-C058-C8BB-B747046F06B8}"/>
              </a:ext>
            </a:extLst>
          </p:cNvPr>
          <p:cNvSpPr txBox="1"/>
          <p:nvPr/>
        </p:nvSpPr>
        <p:spPr>
          <a:xfrm>
            <a:off x="6665807" y="2152951"/>
            <a:ext cx="450031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dirty="0"/>
              <a:t>No Unified Framework</a:t>
            </a:r>
          </a:p>
          <a:p>
            <a:pPr marL="800100" lvl="1" indent="-342900">
              <a:buFont typeface="Courier New"/>
              <a:buChar char="o"/>
            </a:pPr>
            <a:r>
              <a:rPr lang="en-US" sz="1600" dirty="0" err="1">
                <a:latin typeface="Garamond"/>
              </a:rPr>
              <a:t>CodeBERT</a:t>
            </a:r>
            <a:r>
              <a:rPr lang="en-US" sz="1600" dirty="0">
                <a:latin typeface="Garamond"/>
              </a:rPr>
              <a:t> + Random Forest combination </a:t>
            </a:r>
          </a:p>
          <a:p>
            <a:pPr marL="800100" lvl="1" indent="-342900">
              <a:buFont typeface="Courier New"/>
              <a:buChar char="o"/>
            </a:pPr>
            <a:r>
              <a:rPr lang="en-US" sz="1600" dirty="0">
                <a:latin typeface="Garamond"/>
              </a:rPr>
              <a:t>Comparative analysis on embeddings</a:t>
            </a:r>
          </a:p>
          <a:p>
            <a:pPr marL="800100" lvl="1" indent="-342900">
              <a:buFont typeface="Courier New"/>
              <a:buChar char="o"/>
            </a:pPr>
            <a:r>
              <a:rPr lang="en-US" sz="1600" dirty="0">
                <a:latin typeface="Garamond"/>
                <a:ea typeface="+mn-lt"/>
                <a:cs typeface="+mn-lt"/>
              </a:rPr>
              <a:t>End-to-end pipeline</a:t>
            </a:r>
          </a:p>
          <a:p>
            <a:pPr marL="800100" lvl="1" indent="-342900">
              <a:buFont typeface="Courier New"/>
              <a:buChar char="o"/>
            </a:pPr>
            <a:endParaRPr lang="en-US" dirty="0">
              <a:ea typeface="+mn-lt"/>
              <a:cs typeface="+mn-lt"/>
            </a:endParaRPr>
          </a:p>
        </p:txBody>
      </p:sp>
      <p:sp>
        <p:nvSpPr>
          <p:cNvPr id="12" name="TextBox 8">
            <a:extLst>
              <a:ext uri="{FF2B5EF4-FFF2-40B4-BE49-F238E27FC236}">
                <a16:creationId xmlns:a16="http://schemas.microsoft.com/office/drawing/2014/main" id="{6DF1B274-E970-2074-60AD-E25776DCB3FD}"/>
              </a:ext>
            </a:extLst>
          </p:cNvPr>
          <p:cNvSpPr txBox="1"/>
          <p:nvPr/>
        </p:nvSpPr>
        <p:spPr>
          <a:xfrm>
            <a:off x="973220" y="2152952"/>
            <a:ext cx="4500319" cy="236988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AutoNum type="arabicPeriod"/>
            </a:pPr>
            <a:r>
              <a:rPr lang="en-US" dirty="0"/>
              <a:t>Metric-Based Detection</a:t>
            </a:r>
          </a:p>
          <a:p>
            <a:pPr marL="800100" lvl="1" indent="-342900">
              <a:buFont typeface="Courier New"/>
              <a:buChar char="o"/>
            </a:pPr>
            <a:r>
              <a:rPr lang="en-US" sz="1600" dirty="0">
                <a:latin typeface="Garamond"/>
              </a:rPr>
              <a:t>Cyclomatic complexity </a:t>
            </a:r>
          </a:p>
          <a:p>
            <a:pPr marL="800100" lvl="1" indent="-342900">
              <a:buFont typeface="Courier New"/>
              <a:buChar char="o"/>
            </a:pPr>
            <a:r>
              <a:rPr lang="en-US" sz="1600" dirty="0">
                <a:latin typeface="Garamond"/>
              </a:rPr>
              <a:t>Coupling measures</a:t>
            </a:r>
            <a:endParaRPr lang="en-US" dirty="0">
              <a:latin typeface="Aptos" panose="020B0004020202020204"/>
            </a:endParaRPr>
          </a:p>
          <a:p>
            <a:pPr marL="800100" lvl="1" indent="-342900">
              <a:buFont typeface="Courier New"/>
              <a:buChar char="o"/>
            </a:pPr>
            <a:r>
              <a:rPr lang="en-US" sz="1600" dirty="0">
                <a:latin typeface="Garamond"/>
              </a:rPr>
              <a:t>Cohesion indices</a:t>
            </a:r>
            <a:endParaRPr lang="en-US" dirty="0">
              <a:ea typeface="+mn-lt"/>
              <a:cs typeface="+mn-lt"/>
            </a:endParaRPr>
          </a:p>
          <a:p>
            <a:pPr marL="800100" lvl="1" indent="-342900">
              <a:buFont typeface="Courier New"/>
              <a:buChar char="o"/>
            </a:pPr>
            <a:endParaRPr lang="en-US" sz="1600" dirty="0">
              <a:ea typeface="+mn-lt"/>
              <a:cs typeface="+mn-lt"/>
            </a:endParaRPr>
          </a:p>
          <a:p>
            <a:pPr lvl="1"/>
            <a:r>
              <a:rPr lang="en-US" sz="1600" dirty="0">
                <a:ea typeface="+mn-lt"/>
                <a:cs typeface="+mn-lt"/>
              </a:rPr>
              <a:t>✅</a:t>
            </a:r>
            <a:r>
              <a:rPr lang="en-US" sz="1600" dirty="0">
                <a:latin typeface="Aptos"/>
              </a:rPr>
              <a:t> </a:t>
            </a:r>
            <a:r>
              <a:rPr lang="en-US" sz="1600" dirty="0">
                <a:latin typeface="Garamond"/>
              </a:rPr>
              <a:t>Well-established</a:t>
            </a:r>
            <a:endParaRPr lang="en-US" dirty="0">
              <a:latin typeface="Aptos" panose="020B0004020202020204"/>
            </a:endParaRPr>
          </a:p>
          <a:p>
            <a:pPr lvl="1"/>
            <a:r>
              <a:rPr lang="en-US" sz="1600" dirty="0">
                <a:ea typeface="+mn-lt"/>
                <a:cs typeface="+mn-lt"/>
              </a:rPr>
              <a:t>❌</a:t>
            </a:r>
            <a:r>
              <a:rPr lang="en-US" sz="1600" dirty="0">
                <a:latin typeface="Aptos"/>
              </a:rPr>
              <a:t> </a:t>
            </a:r>
            <a:r>
              <a:rPr lang="en-US" sz="1600" dirty="0">
                <a:latin typeface="Garamond"/>
              </a:rPr>
              <a:t>Miss semantic patterns</a:t>
            </a:r>
            <a:endParaRPr lang="en-US" dirty="0">
              <a:latin typeface="Aptos" panose="020B0004020202020204"/>
            </a:endParaRPr>
          </a:p>
          <a:p>
            <a:pPr lvl="1"/>
            <a:r>
              <a:rPr lang="en-US" sz="1600" dirty="0">
                <a:ea typeface="+mn-lt"/>
                <a:cs typeface="+mn-lt"/>
              </a:rPr>
              <a:t>❌ </a:t>
            </a:r>
            <a:r>
              <a:rPr lang="en-US" sz="1600" dirty="0">
                <a:latin typeface="Garamond"/>
              </a:rPr>
              <a:t>Requires domain expertise</a:t>
            </a:r>
            <a:endParaRPr lang="en-US" dirty="0">
              <a:latin typeface="Aptos" panose="020B0004020202020204"/>
            </a:endParaRPr>
          </a:p>
          <a:p>
            <a:pPr marL="800100" lvl="1" indent="-342900">
              <a:buFont typeface="Courier New"/>
              <a:buChar char="o"/>
            </a:pPr>
            <a:endParaRPr lang="en-US" dirty="0"/>
          </a:p>
        </p:txBody>
      </p:sp>
      <p:sp>
        <p:nvSpPr>
          <p:cNvPr id="14" name="TextBox 8">
            <a:extLst>
              <a:ext uri="{FF2B5EF4-FFF2-40B4-BE49-F238E27FC236}">
                <a16:creationId xmlns:a16="http://schemas.microsoft.com/office/drawing/2014/main" id="{5EEE5538-4A4E-DEFD-9FC9-D14871646598}"/>
              </a:ext>
            </a:extLst>
          </p:cNvPr>
          <p:cNvSpPr txBox="1"/>
          <p:nvPr/>
        </p:nvSpPr>
        <p:spPr>
          <a:xfrm>
            <a:off x="973220" y="2152952"/>
            <a:ext cx="4500319" cy="236988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AutoNum type="arabicPeriod"/>
            </a:pPr>
            <a:r>
              <a:rPr lang="en-US" dirty="0"/>
              <a:t>Metric-Based Detection</a:t>
            </a:r>
          </a:p>
          <a:p>
            <a:pPr marL="800100" lvl="1" indent="-342900">
              <a:buFont typeface="Courier New"/>
              <a:buChar char="o"/>
            </a:pPr>
            <a:r>
              <a:rPr lang="en-US" sz="1600" dirty="0">
                <a:latin typeface="Garamond"/>
              </a:rPr>
              <a:t>Cyclomatic complexity </a:t>
            </a:r>
          </a:p>
          <a:p>
            <a:pPr marL="800100" lvl="1" indent="-342900">
              <a:buFont typeface="Courier New"/>
              <a:buChar char="o"/>
            </a:pPr>
            <a:r>
              <a:rPr lang="en-US" sz="1600" dirty="0">
                <a:latin typeface="Garamond"/>
              </a:rPr>
              <a:t>Coupling measures</a:t>
            </a:r>
            <a:endParaRPr lang="en-US" dirty="0">
              <a:latin typeface="Aptos" panose="020B0004020202020204"/>
            </a:endParaRPr>
          </a:p>
          <a:p>
            <a:pPr marL="800100" lvl="1" indent="-342900">
              <a:buFont typeface="Courier New"/>
              <a:buChar char="o"/>
            </a:pPr>
            <a:r>
              <a:rPr lang="en-US" sz="1600" dirty="0">
                <a:latin typeface="Garamond"/>
              </a:rPr>
              <a:t>Cohesion indices</a:t>
            </a:r>
            <a:endParaRPr lang="en-US" dirty="0">
              <a:ea typeface="+mn-lt"/>
              <a:cs typeface="+mn-lt"/>
            </a:endParaRPr>
          </a:p>
          <a:p>
            <a:pPr marL="800100" lvl="1" indent="-342900">
              <a:buFont typeface="Courier New"/>
              <a:buChar char="o"/>
            </a:pPr>
            <a:endParaRPr lang="en-US" sz="1600" dirty="0">
              <a:ea typeface="+mn-lt"/>
              <a:cs typeface="+mn-lt"/>
            </a:endParaRPr>
          </a:p>
          <a:p>
            <a:pPr lvl="1"/>
            <a:r>
              <a:rPr lang="en-US" sz="1600" dirty="0">
                <a:ea typeface="+mn-lt"/>
                <a:cs typeface="+mn-lt"/>
              </a:rPr>
              <a:t>✅</a:t>
            </a:r>
            <a:r>
              <a:rPr lang="en-US" sz="1600" dirty="0">
                <a:latin typeface="Aptos"/>
              </a:rPr>
              <a:t> </a:t>
            </a:r>
            <a:r>
              <a:rPr lang="en-US" sz="1600" dirty="0">
                <a:latin typeface="Garamond"/>
              </a:rPr>
              <a:t>Well-established</a:t>
            </a:r>
            <a:endParaRPr lang="en-US" dirty="0">
              <a:latin typeface="Aptos" panose="020B0004020202020204"/>
            </a:endParaRPr>
          </a:p>
          <a:p>
            <a:pPr lvl="1"/>
            <a:r>
              <a:rPr lang="en-US" sz="1600" dirty="0">
                <a:ea typeface="+mn-lt"/>
                <a:cs typeface="+mn-lt"/>
              </a:rPr>
              <a:t>❌</a:t>
            </a:r>
            <a:r>
              <a:rPr lang="en-US" sz="1600" dirty="0">
                <a:latin typeface="Aptos"/>
              </a:rPr>
              <a:t> </a:t>
            </a:r>
            <a:r>
              <a:rPr lang="en-US" sz="1600" dirty="0">
                <a:latin typeface="Garamond"/>
              </a:rPr>
              <a:t>Miss semantic patterns</a:t>
            </a:r>
            <a:endParaRPr lang="en-US" dirty="0">
              <a:latin typeface="Aptos" panose="020B0004020202020204"/>
            </a:endParaRPr>
          </a:p>
          <a:p>
            <a:pPr lvl="1"/>
            <a:r>
              <a:rPr lang="en-US" sz="1600" dirty="0">
                <a:ea typeface="+mn-lt"/>
                <a:cs typeface="+mn-lt"/>
              </a:rPr>
              <a:t>❌ </a:t>
            </a:r>
            <a:r>
              <a:rPr lang="en-US" sz="1600" dirty="0">
                <a:latin typeface="Garamond"/>
              </a:rPr>
              <a:t>Requires domain expertise</a:t>
            </a:r>
            <a:endParaRPr lang="en-US" dirty="0">
              <a:latin typeface="Aptos" panose="020B0004020202020204"/>
            </a:endParaRPr>
          </a:p>
          <a:p>
            <a:pPr marL="800100" lvl="1" indent="-342900">
              <a:buFont typeface="Courier New"/>
              <a:buChar char="o"/>
            </a:pPr>
            <a:endParaRPr lang="en-US" dirty="0"/>
          </a:p>
        </p:txBody>
      </p:sp>
      <p:sp>
        <p:nvSpPr>
          <p:cNvPr id="15" name="TextBox 14">
            <a:extLst>
              <a:ext uri="{FF2B5EF4-FFF2-40B4-BE49-F238E27FC236}">
                <a16:creationId xmlns:a16="http://schemas.microsoft.com/office/drawing/2014/main" id="{040A1CDB-6A61-5140-25EF-88B869C12F45}"/>
              </a:ext>
            </a:extLst>
          </p:cNvPr>
          <p:cNvSpPr txBox="1"/>
          <p:nvPr/>
        </p:nvSpPr>
        <p:spPr>
          <a:xfrm>
            <a:off x="6666698" y="1499810"/>
            <a:ext cx="4487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latin typeface="Garamond"/>
                <a:ea typeface="+mn-lt"/>
                <a:cs typeface="+mn-lt"/>
              </a:rPr>
              <a:t>What's Missing</a:t>
            </a:r>
            <a:endParaRPr lang="en-US" dirty="0">
              <a:latin typeface="Garamond"/>
            </a:endParaRPr>
          </a:p>
        </p:txBody>
      </p:sp>
      <p:sp>
        <p:nvSpPr>
          <p:cNvPr id="16" name="TextBox 15">
            <a:extLst>
              <a:ext uri="{FF2B5EF4-FFF2-40B4-BE49-F238E27FC236}">
                <a16:creationId xmlns:a16="http://schemas.microsoft.com/office/drawing/2014/main" id="{8F5C4ECF-FE86-CB1D-34D7-722DF22E0C64}"/>
              </a:ext>
            </a:extLst>
          </p:cNvPr>
          <p:cNvSpPr txBox="1"/>
          <p:nvPr/>
        </p:nvSpPr>
        <p:spPr>
          <a:xfrm>
            <a:off x="6654601" y="4343700"/>
            <a:ext cx="4500319"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My Contribution</a:t>
            </a:r>
          </a:p>
          <a:p>
            <a:br>
              <a:rPr lang="en-US" sz="1600" dirty="0">
                <a:latin typeface="Aptos"/>
              </a:rPr>
            </a:br>
            <a:r>
              <a:rPr lang="en-US" sz="1600" dirty="0">
                <a:latin typeface="Aptos"/>
              </a:rPr>
              <a:t>✅ </a:t>
            </a:r>
            <a:r>
              <a:rPr lang="en-US" sz="1600" dirty="0">
                <a:latin typeface="Garamond"/>
              </a:rPr>
              <a:t>First unified </a:t>
            </a:r>
            <a:r>
              <a:rPr lang="en-US" sz="1600" dirty="0" err="1">
                <a:latin typeface="Garamond"/>
              </a:rPr>
              <a:t>CodeBERT</a:t>
            </a:r>
            <a:r>
              <a:rPr lang="en-US" sz="1600" dirty="0">
                <a:latin typeface="Garamond"/>
              </a:rPr>
              <a:t> + RF/MLP</a:t>
            </a:r>
            <a:endParaRPr lang="en-US" dirty="0">
              <a:latin typeface="Aptos"/>
            </a:endParaRPr>
          </a:p>
          <a:p>
            <a:r>
              <a:rPr lang="en-US" sz="1600" dirty="0">
                <a:latin typeface="Aptos"/>
              </a:rPr>
              <a:t>✅ </a:t>
            </a:r>
            <a:r>
              <a:rPr lang="en-US" sz="1600" dirty="0">
                <a:latin typeface="Garamond"/>
              </a:rPr>
              <a:t>Zero manual feature engineering</a:t>
            </a:r>
            <a:endParaRPr lang="en-US" dirty="0">
              <a:latin typeface="Garamond"/>
            </a:endParaRPr>
          </a:p>
          <a:p>
            <a:r>
              <a:rPr lang="en-US" sz="1600" dirty="0">
                <a:latin typeface="Garamond"/>
              </a:rPr>
              <a:t>✅ Comparative evaluation</a:t>
            </a:r>
            <a:endParaRPr lang="en-US" dirty="0">
              <a:latin typeface="Garamond"/>
            </a:endParaRPr>
          </a:p>
          <a:p>
            <a:r>
              <a:rPr lang="en-US" sz="1600" dirty="0">
                <a:latin typeface="Garamond"/>
              </a:rPr>
              <a:t>✅ Production-ready pipeline</a:t>
            </a:r>
            <a:endParaRPr lang="en-US" dirty="0">
              <a:latin typeface="Garamond"/>
            </a:endParaRPr>
          </a:p>
          <a:p>
            <a:pPr marL="457200"/>
            <a:endParaRPr lang="en-US" sz="1600" dirty="0">
              <a:latin typeface="Garamond"/>
            </a:endParaRPr>
          </a:p>
          <a:p>
            <a:pPr marL="457200">
              <a:buFont typeface="Arial"/>
              <a:buChar char="•"/>
            </a:pPr>
            <a:endParaRPr lang="en-US" sz="1600" dirty="0">
              <a:latin typeface="Aptos"/>
            </a:endParaRPr>
          </a:p>
          <a:p>
            <a:pPr marL="457200">
              <a:buFont typeface="Arial"/>
              <a:buChar char="•"/>
            </a:pPr>
            <a:endParaRPr lang="en-US" sz="1600" dirty="0">
              <a:latin typeface="Garamond"/>
            </a:endParaRPr>
          </a:p>
          <a:p>
            <a:pPr marL="457200">
              <a:buFont typeface="Arial"/>
              <a:buChar char="•"/>
            </a:pPr>
            <a:endParaRPr lang="en-US" sz="1400" dirty="0">
              <a:latin typeface="Garamond"/>
            </a:endParaRPr>
          </a:p>
          <a:p>
            <a:pPr marL="457200">
              <a:buFont typeface="Arial"/>
              <a:buChar char="•"/>
            </a:pPr>
            <a:endParaRPr lang="en-US" sz="1400" dirty="0">
              <a:latin typeface="Garamond"/>
            </a:endParaRPr>
          </a:p>
          <a:p>
            <a:pPr marL="800100" lvl="1" indent="-342900">
              <a:buFont typeface="Courier New"/>
              <a:buChar char="o"/>
            </a:pPr>
            <a:endParaRPr lang="en-US" dirty="0"/>
          </a:p>
        </p:txBody>
      </p:sp>
    </p:spTree>
    <p:extLst>
      <p:ext uri="{BB962C8B-B14F-4D97-AF65-F5344CB8AC3E}">
        <p14:creationId xmlns:p14="http://schemas.microsoft.com/office/powerpoint/2010/main" val="3041783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5BF5E-F971-6961-AA02-93B5930C3740}"/>
              </a:ext>
            </a:extLst>
          </p:cNvPr>
          <p:cNvSpPr>
            <a:spLocks noGrp="1"/>
          </p:cNvSpPr>
          <p:nvPr>
            <p:ph type="title"/>
          </p:nvPr>
        </p:nvSpPr>
        <p:spPr/>
        <p:txBody>
          <a:bodyPr>
            <a:normAutofit/>
          </a:bodyPr>
          <a:lstStyle/>
          <a:p>
            <a:r>
              <a:rPr lang="en-US" sz="3600" b="1" dirty="0">
                <a:latin typeface="Mongolian Baiti"/>
                <a:cs typeface="Mongolian Baiti"/>
              </a:rPr>
              <a:t>Research Questions</a:t>
            </a:r>
          </a:p>
        </p:txBody>
      </p:sp>
      <p:sp>
        <p:nvSpPr>
          <p:cNvPr id="17" name="TextBox 16">
            <a:extLst>
              <a:ext uri="{FF2B5EF4-FFF2-40B4-BE49-F238E27FC236}">
                <a16:creationId xmlns:a16="http://schemas.microsoft.com/office/drawing/2014/main" id="{60729525-BFDF-1D08-52F3-585146CFEBF5}"/>
              </a:ext>
            </a:extLst>
          </p:cNvPr>
          <p:cNvSpPr txBox="1"/>
          <p:nvPr/>
        </p:nvSpPr>
        <p:spPr>
          <a:xfrm>
            <a:off x="972457" y="1683656"/>
            <a:ext cx="10711542"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Garamond"/>
              </a:rPr>
              <a:t>RQ1:</a:t>
            </a:r>
            <a:r>
              <a:rPr lang="en-US" sz="2000" dirty="0">
                <a:ea typeface="+mn-lt"/>
                <a:cs typeface="+mn-lt"/>
              </a:rPr>
              <a:t> </a:t>
            </a:r>
            <a:r>
              <a:rPr lang="en-US" sz="2000" dirty="0">
                <a:latin typeface="Garamond"/>
                <a:ea typeface="+mn-lt"/>
                <a:cs typeface="+mn-lt"/>
              </a:rPr>
              <a:t>Do </a:t>
            </a:r>
            <a:r>
              <a:rPr lang="en-US" sz="2000" err="1">
                <a:latin typeface="Garamond"/>
                <a:ea typeface="+mn-lt"/>
                <a:cs typeface="+mn-lt"/>
              </a:rPr>
              <a:t>CodeBERT</a:t>
            </a:r>
            <a:r>
              <a:rPr lang="en-US" sz="2000" dirty="0">
                <a:latin typeface="Garamond"/>
                <a:ea typeface="+mn-lt"/>
                <a:cs typeface="+mn-lt"/>
              </a:rPr>
              <a:t> embeddings enable effective binary smell detection on </a:t>
            </a:r>
            <a:r>
              <a:rPr lang="en-US" sz="2000" err="1">
                <a:latin typeface="Garamond"/>
                <a:ea typeface="+mn-lt"/>
                <a:cs typeface="+mn-lt"/>
              </a:rPr>
              <a:t>SmellyCode</a:t>
            </a:r>
            <a:r>
              <a:rPr lang="en-US" sz="2000" dirty="0">
                <a:latin typeface="Garamond"/>
                <a:ea typeface="+mn-lt"/>
                <a:cs typeface="+mn-lt"/>
              </a:rPr>
              <a:t>++?</a:t>
            </a:r>
          </a:p>
          <a:p>
            <a:endParaRPr lang="en-US" sz="2000" dirty="0">
              <a:latin typeface="Garamond"/>
            </a:endParaRPr>
          </a:p>
          <a:p>
            <a:r>
              <a:rPr lang="en-US" sz="2000" dirty="0">
                <a:latin typeface="Garamond"/>
              </a:rPr>
              <a:t>RQ2: </a:t>
            </a:r>
            <a:r>
              <a:rPr lang="en-US" sz="2000" dirty="0">
                <a:latin typeface="Garamond"/>
                <a:ea typeface="+mn-lt"/>
                <a:cs typeface="+mn-lt"/>
              </a:rPr>
              <a:t>Given identical embedding features, how do Random Forest and a Neural Network compare?</a:t>
            </a:r>
          </a:p>
          <a:p>
            <a:endParaRPr lang="en-US" sz="2000" dirty="0">
              <a:latin typeface="Garamond"/>
            </a:endParaRPr>
          </a:p>
          <a:p>
            <a:r>
              <a:rPr lang="en-US" sz="2000" dirty="0">
                <a:latin typeface="Garamond"/>
              </a:rPr>
              <a:t>RQ3: </a:t>
            </a:r>
            <a:r>
              <a:rPr lang="en-US" sz="2000" dirty="0">
                <a:latin typeface="Garamond"/>
                <a:ea typeface="+mn-lt"/>
                <a:cs typeface="+mn-lt"/>
              </a:rPr>
              <a:t>What practices improve reproducibility and reduce threats to validity?</a:t>
            </a:r>
          </a:p>
          <a:p>
            <a:endParaRPr lang="en-US" sz="2000" dirty="0">
              <a:latin typeface="Garamond"/>
            </a:endParaRPr>
          </a:p>
        </p:txBody>
      </p:sp>
      <p:sp>
        <p:nvSpPr>
          <p:cNvPr id="18" name="Rectangle 17">
            <a:extLst>
              <a:ext uri="{FF2B5EF4-FFF2-40B4-BE49-F238E27FC236}">
                <a16:creationId xmlns:a16="http://schemas.microsoft.com/office/drawing/2014/main" id="{A282C843-FE24-61A9-3F16-C13F15EDDB03}"/>
              </a:ext>
            </a:extLst>
          </p:cNvPr>
          <p:cNvSpPr/>
          <p:nvPr/>
        </p:nvSpPr>
        <p:spPr>
          <a:xfrm>
            <a:off x="1088571" y="4107542"/>
            <a:ext cx="2307771" cy="8998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E9B9856-8760-E3F5-F828-95A75C0FC343}"/>
              </a:ext>
            </a:extLst>
          </p:cNvPr>
          <p:cNvSpPr txBox="1"/>
          <p:nvPr/>
        </p:nvSpPr>
        <p:spPr>
          <a:xfrm>
            <a:off x="1161142" y="4209143"/>
            <a:ext cx="20174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RQ1</a:t>
            </a:r>
          </a:p>
          <a:p>
            <a:pPr algn="ctr"/>
            <a:r>
              <a:rPr lang="en-US"/>
              <a:t>Effectiveness</a:t>
            </a:r>
            <a:endParaRPr lang="en-US" dirty="0"/>
          </a:p>
        </p:txBody>
      </p:sp>
      <p:sp>
        <p:nvSpPr>
          <p:cNvPr id="20" name="Rectangle 19">
            <a:extLst>
              <a:ext uri="{FF2B5EF4-FFF2-40B4-BE49-F238E27FC236}">
                <a16:creationId xmlns:a16="http://schemas.microsoft.com/office/drawing/2014/main" id="{AC6E88FD-1785-97F5-6840-8B84EBFFD0AE}"/>
              </a:ext>
            </a:extLst>
          </p:cNvPr>
          <p:cNvSpPr/>
          <p:nvPr/>
        </p:nvSpPr>
        <p:spPr>
          <a:xfrm>
            <a:off x="4455884" y="4085770"/>
            <a:ext cx="2307771" cy="8998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3205412-45EC-3D33-C011-D0319B0C41D5}"/>
              </a:ext>
            </a:extLst>
          </p:cNvPr>
          <p:cNvSpPr txBox="1"/>
          <p:nvPr/>
        </p:nvSpPr>
        <p:spPr>
          <a:xfrm>
            <a:off x="4601027" y="4209142"/>
            <a:ext cx="20174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RQ2</a:t>
            </a:r>
          </a:p>
          <a:p>
            <a:pPr algn="ctr"/>
            <a:r>
              <a:rPr lang="en-US" dirty="0"/>
              <a:t>Comparison</a:t>
            </a:r>
          </a:p>
        </p:txBody>
      </p:sp>
      <p:sp>
        <p:nvSpPr>
          <p:cNvPr id="22" name="Rectangle 21">
            <a:extLst>
              <a:ext uri="{FF2B5EF4-FFF2-40B4-BE49-F238E27FC236}">
                <a16:creationId xmlns:a16="http://schemas.microsoft.com/office/drawing/2014/main" id="{C44889B7-3921-70E3-AE60-F3AC32DAA707}"/>
              </a:ext>
            </a:extLst>
          </p:cNvPr>
          <p:cNvSpPr/>
          <p:nvPr/>
        </p:nvSpPr>
        <p:spPr>
          <a:xfrm>
            <a:off x="7823199" y="4042227"/>
            <a:ext cx="2307771" cy="8998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0E9C9B3-4534-E762-6CE2-9F30D02482B6}"/>
              </a:ext>
            </a:extLst>
          </p:cNvPr>
          <p:cNvSpPr txBox="1"/>
          <p:nvPr/>
        </p:nvSpPr>
        <p:spPr>
          <a:xfrm>
            <a:off x="7968342" y="4165599"/>
            <a:ext cx="20174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RQ3</a:t>
            </a:r>
          </a:p>
          <a:p>
            <a:pPr algn="ctr"/>
            <a:r>
              <a:rPr lang="en-US" dirty="0"/>
              <a:t>Reproducibility</a:t>
            </a:r>
          </a:p>
        </p:txBody>
      </p:sp>
      <p:sp>
        <p:nvSpPr>
          <p:cNvPr id="24" name="Arrow: Right 23">
            <a:extLst>
              <a:ext uri="{FF2B5EF4-FFF2-40B4-BE49-F238E27FC236}">
                <a16:creationId xmlns:a16="http://schemas.microsoft.com/office/drawing/2014/main" id="{2FFFF3AA-33EA-8AC2-37BF-05E308F16037}"/>
              </a:ext>
            </a:extLst>
          </p:cNvPr>
          <p:cNvSpPr/>
          <p:nvPr/>
        </p:nvSpPr>
        <p:spPr>
          <a:xfrm>
            <a:off x="3555999" y="4368800"/>
            <a:ext cx="783771" cy="33382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4B6CE3F9-3254-90C4-DA21-5A9DD832D51D}"/>
              </a:ext>
            </a:extLst>
          </p:cNvPr>
          <p:cNvSpPr/>
          <p:nvPr/>
        </p:nvSpPr>
        <p:spPr>
          <a:xfrm>
            <a:off x="6923312" y="4361542"/>
            <a:ext cx="783771" cy="33382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A8F0F73-DB87-8E05-4875-20623B27235D}"/>
              </a:ext>
            </a:extLst>
          </p:cNvPr>
          <p:cNvSpPr txBox="1"/>
          <p:nvPr/>
        </p:nvSpPr>
        <p:spPr>
          <a:xfrm>
            <a:off x="1146628" y="5820228"/>
            <a:ext cx="98987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Garamond"/>
              </a:rPr>
              <a:t>These questions guide our methodology and evaluation</a:t>
            </a:r>
            <a:endParaRPr lang="en-US"/>
          </a:p>
        </p:txBody>
      </p:sp>
    </p:spTree>
    <p:extLst>
      <p:ext uri="{BB962C8B-B14F-4D97-AF65-F5344CB8AC3E}">
        <p14:creationId xmlns:p14="http://schemas.microsoft.com/office/powerpoint/2010/main" val="3897195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3F65-8103-26EB-CE65-ECC5D4E9660F}"/>
              </a:ext>
            </a:extLst>
          </p:cNvPr>
          <p:cNvSpPr>
            <a:spLocks noGrp="1"/>
          </p:cNvSpPr>
          <p:nvPr>
            <p:ph type="title"/>
          </p:nvPr>
        </p:nvSpPr>
        <p:spPr/>
        <p:txBody>
          <a:bodyPr/>
          <a:lstStyle/>
          <a:p>
            <a:r>
              <a:rPr lang="en-US" sz="3600" b="1" dirty="0">
                <a:latin typeface="Mongolian Baiti"/>
                <a:cs typeface="Mongolian Baiti"/>
              </a:rPr>
              <a:t>What are Code Smells?</a:t>
            </a:r>
            <a:endParaRPr lang="en-US" dirty="0"/>
          </a:p>
        </p:txBody>
      </p:sp>
      <p:sp>
        <p:nvSpPr>
          <p:cNvPr id="3" name="Content Placeholder 2">
            <a:extLst>
              <a:ext uri="{FF2B5EF4-FFF2-40B4-BE49-F238E27FC236}">
                <a16:creationId xmlns:a16="http://schemas.microsoft.com/office/drawing/2014/main" id="{6E1063AD-1642-E672-C073-936ACA8ADBB9}"/>
              </a:ext>
            </a:extLst>
          </p:cNvPr>
          <p:cNvSpPr>
            <a:spLocks noGrp="1"/>
          </p:cNvSpPr>
          <p:nvPr>
            <p:ph idx="1"/>
          </p:nvPr>
        </p:nvSpPr>
        <p:spPr>
          <a:xfrm>
            <a:off x="563656" y="1814419"/>
            <a:ext cx="11087099" cy="4362544"/>
          </a:xfrm>
        </p:spPr>
        <p:txBody>
          <a:bodyPr vert="horz" lIns="91440" tIns="45720" rIns="91440" bIns="45720" rtlCol="0" anchor="t">
            <a:normAutofit/>
          </a:bodyPr>
          <a:lstStyle/>
          <a:p>
            <a:pPr marL="0" indent="0">
              <a:buNone/>
            </a:pPr>
            <a:r>
              <a:rPr lang="en-US" sz="2400">
                <a:latin typeface="Garamond"/>
              </a:rPr>
              <a:t>Design flaws that indicate deeper problems.</a:t>
            </a:r>
            <a:endParaRPr lang="en-US">
              <a:latin typeface="Aptos" panose="020B0004020202020204"/>
            </a:endParaRPr>
          </a:p>
          <a:p>
            <a:pPr marL="0" indent="0">
              <a:buNone/>
            </a:pPr>
            <a:r>
              <a:rPr lang="en-US" sz="2400" dirty="0">
                <a:latin typeface="Garamond"/>
              </a:rPr>
              <a:t>They are not bugs, but symptoms of poor design.</a:t>
            </a:r>
            <a:endParaRPr lang="en-US" dirty="0"/>
          </a:p>
          <a:p>
            <a:pPr marL="0" indent="0">
              <a:buNone/>
            </a:pPr>
            <a:r>
              <a:rPr lang="en-US" sz="2400" dirty="0">
                <a:latin typeface="Garamond"/>
              </a:rPr>
              <a:t>Four main types</a:t>
            </a:r>
          </a:p>
        </p:txBody>
      </p:sp>
      <p:graphicFrame>
        <p:nvGraphicFramePr>
          <p:cNvPr id="4" name="Table 3">
            <a:extLst>
              <a:ext uri="{FF2B5EF4-FFF2-40B4-BE49-F238E27FC236}">
                <a16:creationId xmlns:a16="http://schemas.microsoft.com/office/drawing/2014/main" id="{2E04391F-9218-1AE3-9547-2D4EFA24D038}"/>
              </a:ext>
            </a:extLst>
          </p:cNvPr>
          <p:cNvGraphicFramePr>
            <a:graphicFrameLocks noGrp="1"/>
          </p:cNvGraphicFramePr>
          <p:nvPr>
            <p:extLst>
              <p:ext uri="{D42A27DB-BD31-4B8C-83A1-F6EECF244321}">
                <p14:modId xmlns:p14="http://schemas.microsoft.com/office/powerpoint/2010/main" val="1296112332"/>
              </p:ext>
            </p:extLst>
          </p:nvPr>
        </p:nvGraphicFramePr>
        <p:xfrm>
          <a:off x="566201" y="3160710"/>
          <a:ext cx="11300891" cy="1842283"/>
        </p:xfrm>
        <a:graphic>
          <a:graphicData uri="http://schemas.openxmlformats.org/drawingml/2006/table">
            <a:tbl>
              <a:tblPr firstRow="1" bandRow="1">
                <a:tableStyleId>{5C22544A-7EE6-4342-B048-85BDC9FD1C3A}</a:tableStyleId>
              </a:tblPr>
              <a:tblGrid>
                <a:gridCol w="2844800">
                  <a:extLst>
                    <a:ext uri="{9D8B030D-6E8A-4147-A177-3AD203B41FA5}">
                      <a16:colId xmlns:a16="http://schemas.microsoft.com/office/drawing/2014/main" val="2006185969"/>
                    </a:ext>
                  </a:extLst>
                </a:gridCol>
                <a:gridCol w="2818697">
                  <a:extLst>
                    <a:ext uri="{9D8B030D-6E8A-4147-A177-3AD203B41FA5}">
                      <a16:colId xmlns:a16="http://schemas.microsoft.com/office/drawing/2014/main" val="272720837"/>
                    </a:ext>
                  </a:extLst>
                </a:gridCol>
                <a:gridCol w="2818697">
                  <a:extLst>
                    <a:ext uri="{9D8B030D-6E8A-4147-A177-3AD203B41FA5}">
                      <a16:colId xmlns:a16="http://schemas.microsoft.com/office/drawing/2014/main" val="1071074387"/>
                    </a:ext>
                  </a:extLst>
                </a:gridCol>
                <a:gridCol w="2818697">
                  <a:extLst>
                    <a:ext uri="{9D8B030D-6E8A-4147-A177-3AD203B41FA5}">
                      <a16:colId xmlns:a16="http://schemas.microsoft.com/office/drawing/2014/main" val="358473297"/>
                    </a:ext>
                  </a:extLst>
                </a:gridCol>
              </a:tblGrid>
              <a:tr h="1842283">
                <a:tc>
                  <a:txBody>
                    <a:bodyPr/>
                    <a:lstStyle/>
                    <a:p>
                      <a:pPr marL="342900" indent="-342900">
                        <a:buAutoNum type="arabicPeriod"/>
                      </a:pPr>
                      <a:r>
                        <a:rPr lang="en-US" dirty="0">
                          <a:solidFill>
                            <a:schemeClr val="tx1"/>
                          </a:solidFill>
                        </a:rPr>
                        <a:t>Long Method</a:t>
                      </a:r>
                      <a:endParaRPr lang="en-US" dirty="0"/>
                    </a:p>
                    <a:p>
                      <a:pPr marL="0" lvl="0" indent="0">
                        <a:buNone/>
                      </a:pPr>
                      <a:r>
                        <a:rPr lang="en-US" sz="1600" b="0" dirty="0">
                          <a:solidFill>
                            <a:schemeClr val="tx1"/>
                          </a:solidFill>
                          <a:latin typeface="Garamond"/>
                        </a:rPr>
                        <a:t>a.   Method does too much</a:t>
                      </a:r>
                      <a:endParaRPr lang="en-US"/>
                    </a:p>
                    <a:p>
                      <a:pPr marL="0" lvl="0" indent="0">
                        <a:buNone/>
                      </a:pPr>
                      <a:r>
                        <a:rPr lang="en-US" sz="1600" b="0" dirty="0">
                          <a:solidFill>
                            <a:schemeClr val="tx1"/>
                          </a:solidFill>
                          <a:latin typeface="Garamond"/>
                        </a:rPr>
                        <a:t>b.   Hard to understand</a:t>
                      </a:r>
                      <a:endParaRPr lang="en-US" dirty="0"/>
                    </a:p>
                    <a:p>
                      <a:pPr marL="0" lvl="0" indent="0">
                        <a:buNone/>
                      </a:pPr>
                      <a:r>
                        <a:rPr lang="en-US" sz="1600" b="0" dirty="0">
                          <a:solidFill>
                            <a:schemeClr val="tx1"/>
                          </a:solidFill>
                          <a:latin typeface="Garamond"/>
                        </a:rPr>
                        <a:t>c.   Example: 200+ lines, multiple                      responsibilities</a:t>
                      </a:r>
                      <a:endParaRPr lang="en-US" dirty="0"/>
                    </a:p>
                  </a:txBody>
                  <a:tcPr>
                    <a:solidFill>
                      <a:schemeClr val="bg1"/>
                    </a:solidFill>
                  </a:tcPr>
                </a:tc>
                <a:tc>
                  <a:txBody>
                    <a:bodyPr/>
                    <a:lstStyle/>
                    <a:p>
                      <a:r>
                        <a:rPr lang="en-US" dirty="0">
                          <a:solidFill>
                            <a:schemeClr val="tx1"/>
                          </a:solidFill>
                        </a:rPr>
                        <a:t>2. God Class</a:t>
                      </a:r>
                    </a:p>
                    <a:p>
                      <a:pPr marL="342900" lvl="0" indent="-342900">
                        <a:buAutoNum type="alphaLcPeriod"/>
                      </a:pPr>
                      <a:r>
                        <a:rPr lang="en-US" sz="1600" b="0" dirty="0">
                          <a:solidFill>
                            <a:schemeClr val="tx1"/>
                          </a:solidFill>
                          <a:latin typeface="Garamond"/>
                        </a:rPr>
                        <a:t>Class knows/does too much</a:t>
                      </a:r>
                    </a:p>
                    <a:p>
                      <a:pPr marL="342900" lvl="0" indent="-342900">
                        <a:buAutoNum type="alphaLcPeriod"/>
                      </a:pPr>
                      <a:r>
                        <a:rPr lang="en-US" sz="1600" b="0" dirty="0">
                          <a:solidFill>
                            <a:schemeClr val="tx1"/>
                          </a:solidFill>
                          <a:latin typeface="Garamond"/>
                        </a:rPr>
                        <a:t>Too many dependencies</a:t>
                      </a:r>
                    </a:p>
                    <a:p>
                      <a:pPr marL="342900" lvl="0" indent="-342900">
                        <a:buAutoNum type="alphaLcPeriod"/>
                      </a:pPr>
                      <a:r>
                        <a:rPr lang="en-US" sz="1600" b="0" dirty="0">
                          <a:solidFill>
                            <a:schemeClr val="tx1"/>
                          </a:solidFill>
                          <a:latin typeface="Garamond"/>
                        </a:rPr>
                        <a:t>Example: 1000+ lines, 20+ methods</a:t>
                      </a:r>
                    </a:p>
                  </a:txBody>
                  <a:tcPr>
                    <a:solidFill>
                      <a:schemeClr val="bg1"/>
                    </a:solidFill>
                  </a:tcPr>
                </a:tc>
                <a:tc>
                  <a:txBody>
                    <a:bodyPr/>
                    <a:lstStyle/>
                    <a:p>
                      <a:r>
                        <a:rPr lang="en-US" dirty="0">
                          <a:solidFill>
                            <a:schemeClr val="tx1"/>
                          </a:solidFill>
                        </a:rPr>
                        <a:t>3. Feature Envy</a:t>
                      </a:r>
                    </a:p>
                    <a:p>
                      <a:pPr marL="342900" lvl="0" indent="-342900">
                        <a:buAutoNum type="alphaLcPeriod"/>
                      </a:pPr>
                      <a:r>
                        <a:rPr lang="en-US" sz="1600" b="0" dirty="0">
                          <a:solidFill>
                            <a:schemeClr val="tx1"/>
                          </a:solidFill>
                          <a:latin typeface="Garamond"/>
                        </a:rPr>
                        <a:t>Method uses another class more than its own</a:t>
                      </a:r>
                    </a:p>
                    <a:p>
                      <a:pPr marL="342900" lvl="0" indent="-342900">
                        <a:buAutoNum type="alphaLcPeriod"/>
                      </a:pPr>
                      <a:r>
                        <a:rPr lang="en-US" sz="1600" b="0" dirty="0">
                          <a:solidFill>
                            <a:schemeClr val="tx1"/>
                          </a:solidFill>
                          <a:latin typeface="Garamond"/>
                        </a:rPr>
                        <a:t>Indicates misplaced logic</a:t>
                      </a:r>
                    </a:p>
                    <a:p>
                      <a:pPr marL="342900" lvl="0" indent="-342900">
                        <a:buAutoNum type="alphaLcPeriod"/>
                      </a:pPr>
                      <a:r>
                        <a:rPr lang="en-US" sz="1600" b="0" dirty="0">
                          <a:solidFill>
                            <a:schemeClr val="tx1"/>
                          </a:solidFill>
                          <a:latin typeface="Garamond"/>
                        </a:rPr>
                        <a:t>Example: 10+ methods from another class</a:t>
                      </a:r>
                    </a:p>
                  </a:txBody>
                  <a:tcPr>
                    <a:solidFill>
                      <a:schemeClr val="bg1"/>
                    </a:solidFill>
                  </a:tcPr>
                </a:tc>
                <a:tc>
                  <a:txBody>
                    <a:bodyPr/>
                    <a:lstStyle/>
                    <a:p>
                      <a:pPr lvl="0">
                        <a:buNone/>
                      </a:pPr>
                      <a:r>
                        <a:rPr lang="en-US" dirty="0">
                          <a:solidFill>
                            <a:schemeClr val="tx1"/>
                          </a:solidFill>
                        </a:rPr>
                        <a:t>4. Data Class</a:t>
                      </a:r>
                    </a:p>
                    <a:p>
                      <a:pPr marL="342900" lvl="0" indent="-342900">
                        <a:buAutoNum type="alphaLcPeriod"/>
                      </a:pPr>
                      <a:r>
                        <a:rPr lang="en-US" sz="1600" b="0" dirty="0">
                          <a:solidFill>
                            <a:schemeClr val="tx1"/>
                          </a:solidFill>
                          <a:latin typeface="Garamond"/>
                        </a:rPr>
                        <a:t>Class only holds data, no behavior</a:t>
                      </a:r>
                    </a:p>
                    <a:p>
                      <a:pPr marL="342900" lvl="0" indent="-342900">
                        <a:buAutoNum type="alphaLcPeriod"/>
                      </a:pPr>
                      <a:r>
                        <a:rPr lang="en-US" sz="1600" b="0" dirty="0">
                          <a:solidFill>
                            <a:schemeClr val="tx1"/>
                          </a:solidFill>
                          <a:latin typeface="Garamond"/>
                        </a:rPr>
                        <a:t>Violates encapsulation</a:t>
                      </a:r>
                    </a:p>
                    <a:p>
                      <a:pPr marL="342900" lvl="0" indent="-342900">
                        <a:buAutoNum type="alphaLcPeriod"/>
                      </a:pPr>
                      <a:r>
                        <a:rPr lang="en-US" sz="1600" b="0" dirty="0">
                          <a:solidFill>
                            <a:schemeClr val="tx1"/>
                          </a:solidFill>
                          <a:latin typeface="Garamond"/>
                        </a:rPr>
                        <a:t>Example: Only getters/setters, no methods</a:t>
                      </a:r>
                    </a:p>
                  </a:txBody>
                  <a:tcPr>
                    <a:solidFill>
                      <a:schemeClr val="bg1"/>
                    </a:solidFill>
                  </a:tcPr>
                </a:tc>
                <a:extLst>
                  <a:ext uri="{0D108BD9-81ED-4DB2-BD59-A6C34878D82A}">
                    <a16:rowId xmlns:a16="http://schemas.microsoft.com/office/drawing/2014/main" val="1545062696"/>
                  </a:ext>
                </a:extLst>
              </a:tr>
            </a:tbl>
          </a:graphicData>
        </a:graphic>
      </p:graphicFrame>
      <p:sp>
        <p:nvSpPr>
          <p:cNvPr id="5" name="TextBox 4">
            <a:extLst>
              <a:ext uri="{FF2B5EF4-FFF2-40B4-BE49-F238E27FC236}">
                <a16:creationId xmlns:a16="http://schemas.microsoft.com/office/drawing/2014/main" id="{A01BA89D-D961-E782-B89B-0AE37AA9EBDB}"/>
              </a:ext>
            </a:extLst>
          </p:cNvPr>
          <p:cNvSpPr txBox="1"/>
          <p:nvPr/>
        </p:nvSpPr>
        <p:spPr>
          <a:xfrm>
            <a:off x="654957" y="5835649"/>
            <a:ext cx="1111794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Garamond"/>
              </a:rPr>
              <a:t>⚠️ These smells reduce maintainability and increase technical debt.</a:t>
            </a:r>
          </a:p>
        </p:txBody>
      </p:sp>
    </p:spTree>
    <p:extLst>
      <p:ext uri="{BB962C8B-B14F-4D97-AF65-F5344CB8AC3E}">
        <p14:creationId xmlns:p14="http://schemas.microsoft.com/office/powerpoint/2010/main" val="1491135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A2702-7EC3-C148-770D-4E73721DD56F}"/>
              </a:ext>
            </a:extLst>
          </p:cNvPr>
          <p:cNvSpPr>
            <a:spLocks noGrp="1"/>
          </p:cNvSpPr>
          <p:nvPr>
            <p:ph type="title"/>
          </p:nvPr>
        </p:nvSpPr>
        <p:spPr/>
        <p:txBody>
          <a:bodyPr/>
          <a:lstStyle/>
          <a:p>
            <a:r>
              <a:rPr lang="en-US" sz="3600" b="1" err="1">
                <a:latin typeface="Mongolian Baiti"/>
                <a:ea typeface="+mj-lt"/>
                <a:cs typeface="+mj-lt"/>
              </a:rPr>
              <a:t>CodeBERT</a:t>
            </a:r>
            <a:r>
              <a:rPr lang="en-US" sz="3600" b="1" dirty="0">
                <a:latin typeface="Mongolian Baiti"/>
                <a:ea typeface="+mj-lt"/>
                <a:cs typeface="+mj-lt"/>
              </a:rPr>
              <a:t>: Semantic Code Understanding</a:t>
            </a:r>
            <a:endParaRPr lang="en-US" sz="3600" b="1">
              <a:latin typeface="Mongolian Baiti"/>
              <a:cs typeface="Mongolian Baiti"/>
            </a:endParaRPr>
          </a:p>
        </p:txBody>
      </p:sp>
      <p:graphicFrame>
        <p:nvGraphicFramePr>
          <p:cNvPr id="4" name="Table 3">
            <a:extLst>
              <a:ext uri="{FF2B5EF4-FFF2-40B4-BE49-F238E27FC236}">
                <a16:creationId xmlns:a16="http://schemas.microsoft.com/office/drawing/2014/main" id="{C7AB33F9-C87E-7F20-D717-763BAD429F3B}"/>
              </a:ext>
            </a:extLst>
          </p:cNvPr>
          <p:cNvGraphicFramePr>
            <a:graphicFrameLocks noGrp="1"/>
          </p:cNvGraphicFramePr>
          <p:nvPr>
            <p:extLst>
              <p:ext uri="{D42A27DB-BD31-4B8C-83A1-F6EECF244321}">
                <p14:modId xmlns:p14="http://schemas.microsoft.com/office/powerpoint/2010/main" val="1420663282"/>
              </p:ext>
            </p:extLst>
          </p:nvPr>
        </p:nvGraphicFramePr>
        <p:xfrm>
          <a:off x="840665" y="1529200"/>
          <a:ext cx="5274498" cy="4612378"/>
        </p:xfrm>
        <a:graphic>
          <a:graphicData uri="http://schemas.openxmlformats.org/drawingml/2006/table">
            <a:tbl>
              <a:tblPr firstRow="1" bandRow="1">
                <a:tableStyleId>{5C22544A-7EE6-4342-B048-85BDC9FD1C3A}</a:tableStyleId>
              </a:tblPr>
              <a:tblGrid>
                <a:gridCol w="5274498">
                  <a:extLst>
                    <a:ext uri="{9D8B030D-6E8A-4147-A177-3AD203B41FA5}">
                      <a16:colId xmlns:a16="http://schemas.microsoft.com/office/drawing/2014/main" val="2687392933"/>
                    </a:ext>
                  </a:extLst>
                </a:gridCol>
              </a:tblGrid>
              <a:tr h="4612378">
                <a:tc>
                  <a:txBody>
                    <a:bodyPr/>
                    <a:lstStyle/>
                    <a:p>
                      <a:pPr lvl="0" algn="ctr">
                        <a:buNone/>
                      </a:pPr>
                      <a:r>
                        <a:rPr lang="en-US" dirty="0">
                          <a:solidFill>
                            <a:schemeClr val="tx1"/>
                          </a:solidFill>
                          <a:latin typeface="Garamond"/>
                        </a:rPr>
                        <a:t>What is </a:t>
                      </a:r>
                      <a:r>
                        <a:rPr lang="en-US" err="1">
                          <a:solidFill>
                            <a:schemeClr val="tx1"/>
                          </a:solidFill>
                          <a:latin typeface="Garamond"/>
                        </a:rPr>
                        <a:t>CodeBERT</a:t>
                      </a:r>
                      <a:r>
                        <a:rPr lang="en-US" dirty="0">
                          <a:solidFill>
                            <a:schemeClr val="tx1"/>
                          </a:solidFill>
                          <a:latin typeface="Garamond"/>
                        </a:rPr>
                        <a:t>?</a:t>
                      </a:r>
                    </a:p>
                    <a:p>
                      <a:pPr lvl="0" algn="l">
                        <a:buNone/>
                      </a:pPr>
                      <a:r>
                        <a:rPr lang="en-US" dirty="0">
                          <a:solidFill>
                            <a:schemeClr val="tx1"/>
                          </a:solidFill>
                          <a:latin typeface="Garamond"/>
                        </a:rPr>
                        <a:t>Definition</a:t>
                      </a:r>
                    </a:p>
                    <a:p>
                      <a:pPr marL="342900" lvl="0" indent="-342900" algn="l">
                        <a:buAutoNum type="arabicPeriod"/>
                      </a:pPr>
                      <a:r>
                        <a:rPr lang="en-US" sz="1800" b="0" i="0" u="none" strike="noStrike" noProof="0" dirty="0">
                          <a:solidFill>
                            <a:schemeClr val="tx1"/>
                          </a:solidFill>
                          <a:latin typeface="Garamond"/>
                        </a:rPr>
                        <a:t>Pretrained transformer model</a:t>
                      </a:r>
                    </a:p>
                    <a:p>
                      <a:pPr marL="342900" lvl="0" indent="-342900" algn="l">
                        <a:buAutoNum type="arabicPeriod"/>
                      </a:pPr>
                      <a:r>
                        <a:rPr lang="en-US" sz="1800" b="0" i="0" u="none" strike="noStrike" noProof="0" dirty="0">
                          <a:solidFill>
                            <a:schemeClr val="tx1"/>
                          </a:solidFill>
                          <a:latin typeface="Garamond"/>
                        </a:rPr>
                        <a:t>Trained on millions of code-comment pairs</a:t>
                      </a:r>
                    </a:p>
                    <a:p>
                      <a:pPr marL="342900" lvl="0" indent="-342900" algn="l">
                        <a:buAutoNum type="arabicPeriod"/>
                      </a:pPr>
                      <a:r>
                        <a:rPr lang="en-US" sz="1800" b="0" i="0" u="none" strike="noStrike" noProof="0" dirty="0">
                          <a:solidFill>
                            <a:schemeClr val="tx1"/>
                          </a:solidFill>
                          <a:latin typeface="Garamond"/>
                        </a:rPr>
                        <a:t>Understands code semantics, not just syntax</a:t>
                      </a:r>
                    </a:p>
                    <a:p>
                      <a:pPr marL="342900" lvl="0" indent="-342900" algn="l">
                        <a:buAutoNum type="arabicPeriod"/>
                      </a:pPr>
                      <a:endParaRPr lang="en-US" sz="1800" b="0" i="0" u="none" strike="noStrike" noProof="0" dirty="0">
                        <a:solidFill>
                          <a:schemeClr val="tx1"/>
                        </a:solidFill>
                        <a:latin typeface="Garamond"/>
                      </a:endParaRPr>
                    </a:p>
                    <a:p>
                      <a:pPr marL="0" lvl="0" indent="0" algn="l">
                        <a:buNone/>
                      </a:pPr>
                      <a:r>
                        <a:rPr lang="en-US" sz="1800" b="1" i="0" u="none" strike="noStrike" noProof="0" dirty="0">
                          <a:solidFill>
                            <a:schemeClr val="tx1"/>
                          </a:solidFill>
                          <a:latin typeface="Garamond"/>
                        </a:rPr>
                        <a:t>Key Features</a:t>
                      </a:r>
                    </a:p>
                    <a:p>
                      <a:pPr marL="342900" lvl="0" indent="-342900" algn="l">
                        <a:buAutoNum type="arabicPeriod"/>
                      </a:pPr>
                      <a:r>
                        <a:rPr lang="en-US" sz="1800" b="0" i="0" u="none" strike="noStrike" noProof="0" dirty="0">
                          <a:solidFill>
                            <a:schemeClr val="tx1"/>
                          </a:solidFill>
                          <a:latin typeface="Garamond"/>
                        </a:rPr>
                        <a:t>768-dimensional embeddings</a:t>
                      </a:r>
                    </a:p>
                    <a:p>
                      <a:pPr marL="342900" lvl="0" indent="-342900" algn="l">
                        <a:buAutoNum type="arabicPeriod"/>
                      </a:pPr>
                      <a:r>
                        <a:rPr lang="en-US" sz="1800" b="0" i="0" u="none" strike="noStrike" noProof="0" dirty="0">
                          <a:solidFill>
                            <a:schemeClr val="tx1"/>
                          </a:solidFill>
                          <a:latin typeface="Garamond"/>
                        </a:rPr>
                        <a:t>Captures structural patterns</a:t>
                      </a:r>
                    </a:p>
                    <a:p>
                      <a:pPr marL="342900" lvl="0" indent="-342900" algn="l">
                        <a:buAutoNum type="arabicPeriod"/>
                      </a:pPr>
                      <a:r>
                        <a:rPr lang="en-US" sz="1800" b="0" i="0" u="none" strike="noStrike" noProof="0" dirty="0">
                          <a:solidFill>
                            <a:schemeClr val="tx1"/>
                          </a:solidFill>
                          <a:latin typeface="Garamond"/>
                        </a:rPr>
                        <a:t>Understands naming conventions</a:t>
                      </a:r>
                    </a:p>
                    <a:p>
                      <a:pPr marL="342900" lvl="0" indent="-342900" algn="l">
                        <a:buAutoNum type="arabicPeriod"/>
                      </a:pPr>
                      <a:r>
                        <a:rPr lang="en-US" sz="1800" b="0" i="0" u="none" strike="noStrike" noProof="0" dirty="0">
                          <a:solidFill>
                            <a:schemeClr val="tx1"/>
                          </a:solidFill>
                          <a:latin typeface="Garamond"/>
                        </a:rPr>
                        <a:t>Encodes functional relationships</a:t>
                      </a:r>
                      <a:endParaRPr lang="en-US" sz="1800" b="0" i="0" u="none" strike="noStrike" noProof="0">
                        <a:solidFill>
                          <a:schemeClr val="tx1"/>
                        </a:solidFill>
                        <a:latin typeface="Garamond"/>
                      </a:endParaRPr>
                    </a:p>
                    <a:p>
                      <a:pPr marL="342900" lvl="0" indent="-342900" algn="l">
                        <a:buAutoNum type="arabicPeriod"/>
                      </a:pPr>
                      <a:endParaRPr lang="en-US" sz="1800" b="0" i="0" u="none" strike="noStrike" noProof="0" dirty="0">
                        <a:solidFill>
                          <a:schemeClr val="tx1"/>
                        </a:solidFill>
                        <a:latin typeface="Aptos"/>
                      </a:endParaRPr>
                    </a:p>
                    <a:p>
                      <a:pPr marL="342900" lvl="0" indent="-342900" algn="l">
                        <a:buAutoNum type="arabicPeriod"/>
                      </a:pPr>
                      <a:endParaRPr lang="en-US" sz="1800" b="0" i="0" u="none" strike="noStrike" noProof="0" dirty="0">
                        <a:solidFill>
                          <a:schemeClr val="tx1"/>
                        </a:solidFill>
                        <a:latin typeface="Aptos"/>
                      </a:endParaRPr>
                    </a:p>
                  </a:txBody>
                  <a:tcPr>
                    <a:solidFill>
                      <a:schemeClr val="bg1"/>
                    </a:solidFill>
                  </a:tcPr>
                </a:tc>
                <a:extLst>
                  <a:ext uri="{0D108BD9-81ED-4DB2-BD59-A6C34878D82A}">
                    <a16:rowId xmlns:a16="http://schemas.microsoft.com/office/drawing/2014/main" val="2039936827"/>
                  </a:ext>
                </a:extLst>
              </a:tr>
            </a:tbl>
          </a:graphicData>
        </a:graphic>
      </p:graphicFrame>
      <p:sp>
        <p:nvSpPr>
          <p:cNvPr id="11" name="TextBox 10">
            <a:extLst>
              <a:ext uri="{FF2B5EF4-FFF2-40B4-BE49-F238E27FC236}">
                <a16:creationId xmlns:a16="http://schemas.microsoft.com/office/drawing/2014/main" id="{A432E4CC-3059-C8F2-8C77-2AE0E68A6065}"/>
              </a:ext>
            </a:extLst>
          </p:cNvPr>
          <p:cNvSpPr txBox="1"/>
          <p:nvPr/>
        </p:nvSpPr>
        <p:spPr>
          <a:xfrm>
            <a:off x="666857" y="6293491"/>
            <a:ext cx="5173807" cy="7456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Garamond"/>
                <a:ea typeface="+mn-lt"/>
                <a:cs typeface="+mn-lt"/>
              </a:rPr>
              <a:t>💡 </a:t>
            </a:r>
            <a:r>
              <a:rPr lang="en-US" sz="1600" err="1">
                <a:latin typeface="Garamond"/>
                <a:ea typeface="+mn-lt"/>
                <a:cs typeface="+mn-lt"/>
              </a:rPr>
              <a:t>CodeBERT</a:t>
            </a:r>
            <a:r>
              <a:rPr lang="en-US" sz="1600" dirty="0">
                <a:latin typeface="Garamond"/>
                <a:ea typeface="+mn-lt"/>
                <a:cs typeface="+mn-lt"/>
              </a:rPr>
              <a:t> learned code quality patterns during pretraining </a:t>
            </a:r>
            <a:endParaRPr lang="en-US" sz="1600" dirty="0">
              <a:latin typeface="Garamond"/>
            </a:endParaRPr>
          </a:p>
          <a:p>
            <a:endParaRPr lang="en-US" sz="900" dirty="0">
              <a:solidFill>
                <a:srgbClr val="E4E4E4"/>
              </a:solidFill>
              <a:latin typeface="Menlo"/>
            </a:endParaRPr>
          </a:p>
        </p:txBody>
      </p:sp>
    </p:spTree>
    <p:extLst>
      <p:ext uri="{BB962C8B-B14F-4D97-AF65-F5344CB8AC3E}">
        <p14:creationId xmlns:p14="http://schemas.microsoft.com/office/powerpoint/2010/main" val="3519548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827531-8CF7-58FB-AF1E-A9DEE27D068F}"/>
              </a:ext>
            </a:extLst>
          </p:cNvPr>
          <p:cNvSpPr>
            <a:spLocks noGrp="1"/>
          </p:cNvSpPr>
          <p:nvPr>
            <p:ph idx="1"/>
          </p:nvPr>
        </p:nvSpPr>
        <p:spPr>
          <a:xfrm>
            <a:off x="855920" y="472928"/>
            <a:ext cx="10497880" cy="3305803"/>
          </a:xfrm>
        </p:spPr>
        <p:txBody>
          <a:bodyPr vert="horz" lIns="91440" tIns="45720" rIns="91440" bIns="45720" rtlCol="0" anchor="t">
            <a:normAutofit/>
          </a:bodyPr>
          <a:lstStyle/>
          <a:p>
            <a:pPr marL="0" indent="0" algn="ctr">
              <a:buNone/>
            </a:pPr>
            <a:r>
              <a:rPr lang="en-US" sz="1800" b="1" dirty="0">
                <a:latin typeface="Garamond"/>
              </a:rPr>
              <a:t>Why </a:t>
            </a:r>
            <a:r>
              <a:rPr lang="en-US" sz="1800" b="1" err="1">
                <a:latin typeface="Garamond"/>
              </a:rPr>
              <a:t>CodeBERT</a:t>
            </a:r>
            <a:r>
              <a:rPr lang="en-US" sz="1800" b="1" dirty="0">
                <a:latin typeface="Garamond"/>
              </a:rPr>
              <a:t>?</a:t>
            </a:r>
            <a:endParaRPr lang="en-US" sz="1800" b="1">
              <a:solidFill>
                <a:srgbClr val="FFFFFF"/>
              </a:solidFill>
              <a:latin typeface="Garamond"/>
            </a:endParaRPr>
          </a:p>
          <a:p>
            <a:r>
              <a:rPr lang="en-US" sz="1800" b="1" dirty="0">
                <a:latin typeface="Garamond"/>
              </a:rPr>
              <a:t>Advantages</a:t>
            </a:r>
            <a:endParaRPr lang="en-US" sz="1800" b="1">
              <a:solidFill>
                <a:srgbClr val="FFFFFF"/>
              </a:solidFill>
              <a:latin typeface="Garamond"/>
            </a:endParaRPr>
          </a:p>
          <a:p>
            <a:pPr marL="342900" indent="-342900">
              <a:buAutoNum type="arabicPeriod"/>
            </a:pPr>
            <a:r>
              <a:rPr lang="en-US" sz="1800" dirty="0">
                <a:latin typeface="Garamond"/>
              </a:rPr>
              <a:t>No manual feature engineering</a:t>
            </a:r>
            <a:endParaRPr lang="en-US" sz="1800" b="1">
              <a:solidFill>
                <a:srgbClr val="FFFFFF"/>
              </a:solidFill>
              <a:latin typeface="Garamond"/>
            </a:endParaRPr>
          </a:p>
          <a:p>
            <a:pPr marL="342900" indent="-342900">
              <a:buAutoNum type="arabicPeriod"/>
            </a:pPr>
            <a:r>
              <a:rPr lang="en-US" sz="1800" dirty="0">
                <a:latin typeface="Garamond"/>
              </a:rPr>
              <a:t>Captures semantic meaning</a:t>
            </a:r>
            <a:endParaRPr lang="en-US" sz="1800" b="1">
              <a:solidFill>
                <a:srgbClr val="FFFFFF"/>
              </a:solidFill>
              <a:latin typeface="Garamond"/>
            </a:endParaRPr>
          </a:p>
          <a:p>
            <a:pPr marL="342900" indent="-342900">
              <a:buAutoNum type="arabicPeriod"/>
            </a:pPr>
            <a:r>
              <a:rPr lang="en-US" sz="1800" dirty="0">
                <a:latin typeface="Garamond"/>
              </a:rPr>
              <a:t>Transfer learning from large corpus</a:t>
            </a:r>
            <a:endParaRPr lang="en-US" sz="1800" b="1">
              <a:solidFill>
                <a:srgbClr val="FFFFFF"/>
              </a:solidFill>
              <a:latin typeface="Garamond"/>
            </a:endParaRPr>
          </a:p>
          <a:p>
            <a:pPr marL="342900" indent="-342900">
              <a:buAutoNum type="arabicPeriod"/>
            </a:pPr>
            <a:r>
              <a:rPr lang="en-US" sz="1800" dirty="0">
                <a:latin typeface="Garamond"/>
              </a:rPr>
              <a:t>Multi-language support (trained on Java, Python, etc.)</a:t>
            </a:r>
            <a:endParaRPr lang="en-US" sz="1800" b="1">
              <a:solidFill>
                <a:srgbClr val="FFFFFF"/>
              </a:solidFill>
              <a:latin typeface="Garamond"/>
            </a:endParaRPr>
          </a:p>
          <a:p>
            <a:pPr marL="342900" indent="-342900">
              <a:buAutoNum type="arabicPeriod"/>
            </a:pPr>
            <a:endParaRPr lang="en-US" sz="1800" b="1" dirty="0">
              <a:solidFill>
                <a:srgbClr val="FFFFFF"/>
              </a:solidFill>
              <a:latin typeface="Garamond"/>
            </a:endParaRPr>
          </a:p>
          <a:p>
            <a:r>
              <a:rPr lang="en-US" sz="1800" b="1" dirty="0">
                <a:latin typeface="Garamond"/>
              </a:rPr>
              <a:t>Architecture</a:t>
            </a:r>
            <a:endParaRPr lang="en-US" sz="1800" b="1">
              <a:solidFill>
                <a:srgbClr val="FFFFFF"/>
              </a:solidFill>
              <a:latin typeface="Garamond"/>
            </a:endParaRPr>
          </a:p>
          <a:p>
            <a:endParaRPr lang="en-US" sz="1800" b="1" dirty="0">
              <a:solidFill>
                <a:srgbClr val="FFFFFF"/>
              </a:solidFill>
              <a:latin typeface="Garamond"/>
            </a:endParaRPr>
          </a:p>
          <a:p>
            <a:pPr marL="0" indent="0">
              <a:buNone/>
            </a:pPr>
            <a:endParaRPr lang="en-US" dirty="0">
              <a:latin typeface="Garamond"/>
            </a:endParaRPr>
          </a:p>
        </p:txBody>
      </p:sp>
      <p:sp>
        <p:nvSpPr>
          <p:cNvPr id="4" name="TextBox 4">
            <a:extLst>
              <a:ext uri="{FF2B5EF4-FFF2-40B4-BE49-F238E27FC236}">
                <a16:creationId xmlns:a16="http://schemas.microsoft.com/office/drawing/2014/main" id="{490D7148-814B-C3B3-D0E5-5E38109E33ED}"/>
              </a:ext>
            </a:extLst>
          </p:cNvPr>
          <p:cNvSpPr txBox="1"/>
          <p:nvPr/>
        </p:nvSpPr>
        <p:spPr>
          <a:xfrm>
            <a:off x="881048" y="3809999"/>
            <a:ext cx="4009252" cy="259652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latin typeface="Garamond"/>
              </a:rPr>
              <a:t>Code Text</a:t>
            </a:r>
          </a:p>
          <a:p>
            <a:pPr algn="ctr"/>
            <a:endParaRPr lang="en-US" dirty="0">
              <a:latin typeface="Garamond"/>
            </a:endParaRPr>
          </a:p>
          <a:p>
            <a:pPr algn="ctr"/>
            <a:r>
              <a:rPr lang="en-US" dirty="0">
                <a:latin typeface="Garamond"/>
              </a:rPr>
              <a:t>Tokenization</a:t>
            </a:r>
          </a:p>
          <a:p>
            <a:pPr algn="ctr"/>
            <a:endParaRPr lang="en-US" dirty="0">
              <a:latin typeface="Garamond"/>
            </a:endParaRPr>
          </a:p>
          <a:p>
            <a:pPr algn="ctr"/>
            <a:r>
              <a:rPr lang="en-US" err="1">
                <a:latin typeface="Garamond"/>
              </a:rPr>
              <a:t>CodeBERT</a:t>
            </a:r>
            <a:r>
              <a:rPr lang="en-US" dirty="0">
                <a:latin typeface="Garamond"/>
              </a:rPr>
              <a:t> Model</a:t>
            </a:r>
          </a:p>
          <a:p>
            <a:pPr algn="ctr"/>
            <a:endParaRPr lang="en-US" dirty="0">
              <a:latin typeface="Garamond"/>
            </a:endParaRPr>
          </a:p>
          <a:p>
            <a:pPr algn="ctr"/>
            <a:r>
              <a:rPr lang="en-US" dirty="0">
                <a:latin typeface="Garamond"/>
              </a:rPr>
              <a:t>768-D Embedding Vector</a:t>
            </a:r>
          </a:p>
          <a:p>
            <a:pPr algn="ctr"/>
            <a:endParaRPr lang="en-US" dirty="0">
              <a:latin typeface="Garamond"/>
            </a:endParaRPr>
          </a:p>
          <a:p>
            <a:pPr algn="ctr"/>
            <a:r>
              <a:rPr lang="en-US" dirty="0">
                <a:latin typeface="Garamond"/>
              </a:rPr>
              <a:t>[0.28, -0.45, 0.67, …., 0.12]</a:t>
            </a:r>
          </a:p>
        </p:txBody>
      </p:sp>
      <p:sp>
        <p:nvSpPr>
          <p:cNvPr id="5" name="Arrow: Down 4">
            <a:extLst>
              <a:ext uri="{FF2B5EF4-FFF2-40B4-BE49-F238E27FC236}">
                <a16:creationId xmlns:a16="http://schemas.microsoft.com/office/drawing/2014/main" id="{553CCD56-0AA5-4793-49F6-F1D1507FB59A}"/>
              </a:ext>
            </a:extLst>
          </p:cNvPr>
          <p:cNvSpPr/>
          <p:nvPr/>
        </p:nvSpPr>
        <p:spPr>
          <a:xfrm>
            <a:off x="2727672" y="4143828"/>
            <a:ext cx="159657" cy="23222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Arrow: Down 5">
            <a:extLst>
              <a:ext uri="{FF2B5EF4-FFF2-40B4-BE49-F238E27FC236}">
                <a16:creationId xmlns:a16="http://schemas.microsoft.com/office/drawing/2014/main" id="{AA0E0329-8A45-68AE-D8BA-2C3113050097}"/>
              </a:ext>
            </a:extLst>
          </p:cNvPr>
          <p:cNvSpPr/>
          <p:nvPr/>
        </p:nvSpPr>
        <p:spPr>
          <a:xfrm>
            <a:off x="2727672" y="4670504"/>
            <a:ext cx="159657" cy="23222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Arrow: Down 6">
            <a:extLst>
              <a:ext uri="{FF2B5EF4-FFF2-40B4-BE49-F238E27FC236}">
                <a16:creationId xmlns:a16="http://schemas.microsoft.com/office/drawing/2014/main" id="{9826D3F5-D3D9-1900-5D70-9E789C44AFCA}"/>
              </a:ext>
            </a:extLst>
          </p:cNvPr>
          <p:cNvSpPr/>
          <p:nvPr/>
        </p:nvSpPr>
        <p:spPr>
          <a:xfrm>
            <a:off x="2727671" y="5275621"/>
            <a:ext cx="159657" cy="23222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Arrow: Down 7">
            <a:extLst>
              <a:ext uri="{FF2B5EF4-FFF2-40B4-BE49-F238E27FC236}">
                <a16:creationId xmlns:a16="http://schemas.microsoft.com/office/drawing/2014/main" id="{3110CF4B-A7CC-2CDD-8A3D-56FA064A34E9}"/>
              </a:ext>
            </a:extLst>
          </p:cNvPr>
          <p:cNvSpPr/>
          <p:nvPr/>
        </p:nvSpPr>
        <p:spPr>
          <a:xfrm>
            <a:off x="2727672" y="5779886"/>
            <a:ext cx="159657" cy="23222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785255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0C715-7CEA-E787-66F2-118F49718853}"/>
              </a:ext>
            </a:extLst>
          </p:cNvPr>
          <p:cNvSpPr>
            <a:spLocks noGrp="1"/>
          </p:cNvSpPr>
          <p:nvPr>
            <p:ph type="title"/>
          </p:nvPr>
        </p:nvSpPr>
        <p:spPr/>
        <p:txBody>
          <a:bodyPr>
            <a:normAutofit/>
          </a:bodyPr>
          <a:lstStyle/>
          <a:p>
            <a:r>
              <a:rPr lang="en-US" sz="3600" b="1" dirty="0">
                <a:latin typeface="Mongolian Baiti"/>
                <a:ea typeface="+mj-lt"/>
                <a:cs typeface="+mj-lt"/>
              </a:rPr>
              <a:t>A Novel Approach: Unified Framework</a:t>
            </a:r>
            <a:endParaRPr lang="en-US" sz="3600" b="1">
              <a:latin typeface="Mongolian Baiti"/>
              <a:cs typeface="Mongolian Baiti"/>
            </a:endParaRPr>
          </a:p>
        </p:txBody>
      </p:sp>
      <p:sp>
        <p:nvSpPr>
          <p:cNvPr id="4" name="TextBox 3">
            <a:extLst>
              <a:ext uri="{FF2B5EF4-FFF2-40B4-BE49-F238E27FC236}">
                <a16:creationId xmlns:a16="http://schemas.microsoft.com/office/drawing/2014/main" id="{B83B2787-D570-C4FA-BA9F-D276F1B45127}"/>
              </a:ext>
            </a:extLst>
          </p:cNvPr>
          <p:cNvSpPr txBox="1"/>
          <p:nvPr/>
        </p:nvSpPr>
        <p:spPr>
          <a:xfrm>
            <a:off x="843589" y="1362047"/>
            <a:ext cx="48622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Garamond"/>
              </a:rPr>
              <a:t>Main Architecture Diagram</a:t>
            </a:r>
          </a:p>
        </p:txBody>
      </p:sp>
      <p:sp>
        <p:nvSpPr>
          <p:cNvPr id="5" name="Rectangle 4">
            <a:extLst>
              <a:ext uri="{FF2B5EF4-FFF2-40B4-BE49-F238E27FC236}">
                <a16:creationId xmlns:a16="http://schemas.microsoft.com/office/drawing/2014/main" id="{A7D7B2F4-3A81-BAFF-EFE6-D70005F53D79}"/>
              </a:ext>
            </a:extLst>
          </p:cNvPr>
          <p:cNvSpPr/>
          <p:nvPr/>
        </p:nvSpPr>
        <p:spPr>
          <a:xfrm>
            <a:off x="2975428" y="1814285"/>
            <a:ext cx="5646057" cy="6966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4428C3-70F5-E358-7D29-EB875A8352F2}"/>
              </a:ext>
            </a:extLst>
          </p:cNvPr>
          <p:cNvSpPr txBox="1"/>
          <p:nvPr/>
        </p:nvSpPr>
        <p:spPr>
          <a:xfrm>
            <a:off x="3280228" y="1939577"/>
            <a:ext cx="51961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Java Code Snippet</a:t>
            </a:r>
          </a:p>
        </p:txBody>
      </p:sp>
      <p:sp>
        <p:nvSpPr>
          <p:cNvPr id="7" name="Rectangle 6">
            <a:extLst>
              <a:ext uri="{FF2B5EF4-FFF2-40B4-BE49-F238E27FC236}">
                <a16:creationId xmlns:a16="http://schemas.microsoft.com/office/drawing/2014/main" id="{CB15B39D-885C-EC8A-67EC-609B99A482C0}"/>
              </a:ext>
            </a:extLst>
          </p:cNvPr>
          <p:cNvSpPr/>
          <p:nvPr/>
        </p:nvSpPr>
        <p:spPr>
          <a:xfrm>
            <a:off x="3294796" y="2974091"/>
            <a:ext cx="5068956" cy="9992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B884EC7-6607-D179-EB6B-C00D5146BC5E}"/>
              </a:ext>
            </a:extLst>
          </p:cNvPr>
          <p:cNvSpPr txBox="1"/>
          <p:nvPr/>
        </p:nvSpPr>
        <p:spPr>
          <a:xfrm>
            <a:off x="3193142" y="2989942"/>
            <a:ext cx="534125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err="1"/>
              <a:t>CodeBERT</a:t>
            </a:r>
            <a:r>
              <a:rPr lang="en-US" dirty="0"/>
              <a:t> Encoder</a:t>
            </a:r>
            <a:endParaRPr lang="en-US"/>
          </a:p>
          <a:p>
            <a:pPr algn="ctr"/>
            <a:r>
              <a:rPr lang="en-US" dirty="0"/>
              <a:t>(</a:t>
            </a:r>
            <a:r>
              <a:rPr lang="en-US" err="1"/>
              <a:t>microsoft</a:t>
            </a:r>
            <a:r>
              <a:rPr lang="en-US" dirty="0"/>
              <a:t>/</a:t>
            </a:r>
            <a:r>
              <a:rPr lang="en-US" err="1"/>
              <a:t>codebert</a:t>
            </a:r>
            <a:r>
              <a:rPr lang="en-US" dirty="0"/>
              <a:t>-base)</a:t>
            </a:r>
          </a:p>
          <a:p>
            <a:pPr algn="ctr"/>
            <a:r>
              <a:rPr lang="en-US" dirty="0"/>
              <a:t>Extract 768-D Embeddings</a:t>
            </a:r>
          </a:p>
        </p:txBody>
      </p:sp>
      <p:sp>
        <p:nvSpPr>
          <p:cNvPr id="11" name="Arrow: Down 10">
            <a:extLst>
              <a:ext uri="{FF2B5EF4-FFF2-40B4-BE49-F238E27FC236}">
                <a16:creationId xmlns:a16="http://schemas.microsoft.com/office/drawing/2014/main" id="{D3923012-7988-6AB5-C781-B41C2C1D8D75}"/>
              </a:ext>
            </a:extLst>
          </p:cNvPr>
          <p:cNvSpPr/>
          <p:nvPr/>
        </p:nvSpPr>
        <p:spPr>
          <a:xfrm>
            <a:off x="5796803" y="2531088"/>
            <a:ext cx="130628" cy="362857"/>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FBD37F-87D1-5FD9-BBC0-E9663CBA887E}"/>
              </a:ext>
            </a:extLst>
          </p:cNvPr>
          <p:cNvSpPr/>
          <p:nvPr/>
        </p:nvSpPr>
        <p:spPr>
          <a:xfrm>
            <a:off x="4168854" y="4341210"/>
            <a:ext cx="3264809" cy="1021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8F50C1E-73E7-17B7-0204-5C55BFCF6D6C}"/>
              </a:ext>
            </a:extLst>
          </p:cNvPr>
          <p:cNvSpPr txBox="1"/>
          <p:nvPr/>
        </p:nvSpPr>
        <p:spPr>
          <a:xfrm>
            <a:off x="4383314" y="4499428"/>
            <a:ext cx="28302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Random Forest</a:t>
            </a:r>
          </a:p>
          <a:p>
            <a:pPr algn="ctr"/>
            <a:r>
              <a:rPr lang="en-US">
                <a:ea typeface="+mn-lt"/>
                <a:cs typeface="+mn-lt"/>
              </a:rPr>
              <a:t>Interpretable</a:t>
            </a:r>
          </a:p>
        </p:txBody>
      </p:sp>
      <p:sp>
        <p:nvSpPr>
          <p:cNvPr id="14" name="Arrow: Down 13">
            <a:extLst>
              <a:ext uri="{FF2B5EF4-FFF2-40B4-BE49-F238E27FC236}">
                <a16:creationId xmlns:a16="http://schemas.microsoft.com/office/drawing/2014/main" id="{B1086F4B-60C7-D872-58C8-B18A67E2A5AE}"/>
              </a:ext>
            </a:extLst>
          </p:cNvPr>
          <p:cNvSpPr/>
          <p:nvPr/>
        </p:nvSpPr>
        <p:spPr>
          <a:xfrm>
            <a:off x="5763185" y="3976646"/>
            <a:ext cx="130628" cy="362857"/>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A0DE89E-810B-6280-0C09-990B09BDA958}"/>
              </a:ext>
            </a:extLst>
          </p:cNvPr>
          <p:cNvSpPr/>
          <p:nvPr/>
        </p:nvSpPr>
        <p:spPr>
          <a:xfrm>
            <a:off x="4482619" y="5719533"/>
            <a:ext cx="2564441" cy="1021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00C4BE3-D5C0-7CEE-1076-D91E47D6033F}"/>
              </a:ext>
            </a:extLst>
          </p:cNvPr>
          <p:cNvSpPr txBox="1"/>
          <p:nvPr/>
        </p:nvSpPr>
        <p:spPr>
          <a:xfrm>
            <a:off x="4673600" y="5762171"/>
            <a:ext cx="216262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Smell Detection</a:t>
            </a:r>
          </a:p>
          <a:p>
            <a:pPr algn="ctr"/>
            <a:endParaRPr lang="en-US" dirty="0"/>
          </a:p>
          <a:p>
            <a:pPr algn="ctr"/>
            <a:r>
              <a:rPr lang="en-US"/>
              <a:t>(Smelly / Clean)</a:t>
            </a:r>
            <a:endParaRPr lang="en-US" dirty="0"/>
          </a:p>
        </p:txBody>
      </p:sp>
      <p:sp>
        <p:nvSpPr>
          <p:cNvPr id="17" name="Arrow: Down 16">
            <a:extLst>
              <a:ext uri="{FF2B5EF4-FFF2-40B4-BE49-F238E27FC236}">
                <a16:creationId xmlns:a16="http://schemas.microsoft.com/office/drawing/2014/main" id="{8718BAB7-F2F9-9AB1-89F0-DAD687985495}"/>
              </a:ext>
            </a:extLst>
          </p:cNvPr>
          <p:cNvSpPr/>
          <p:nvPr/>
        </p:nvSpPr>
        <p:spPr>
          <a:xfrm>
            <a:off x="5701552" y="5360572"/>
            <a:ext cx="130628" cy="362857"/>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1578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5E4E6-9734-4DC7-C634-79DD0A2DB0A8}"/>
              </a:ext>
            </a:extLst>
          </p:cNvPr>
          <p:cNvSpPr>
            <a:spLocks noGrp="1"/>
          </p:cNvSpPr>
          <p:nvPr>
            <p:ph type="title"/>
          </p:nvPr>
        </p:nvSpPr>
        <p:spPr/>
        <p:txBody>
          <a:bodyPr/>
          <a:lstStyle/>
          <a:p>
            <a:r>
              <a:rPr lang="en-US" sz="3600" b="1" dirty="0">
                <a:latin typeface="Mongolian Baiti"/>
                <a:ea typeface="+mj-lt"/>
                <a:cs typeface="+mj-lt"/>
              </a:rPr>
              <a:t>Dataset: </a:t>
            </a:r>
            <a:r>
              <a:rPr lang="en-US" sz="3600" b="1" err="1">
                <a:latin typeface="Mongolian Baiti"/>
                <a:ea typeface="+mj-lt"/>
                <a:cs typeface="+mj-lt"/>
              </a:rPr>
              <a:t>SmellyCode</a:t>
            </a:r>
            <a:r>
              <a:rPr lang="en-US" sz="3600" b="1" dirty="0">
                <a:latin typeface="Mongolian Baiti"/>
                <a:ea typeface="+mj-lt"/>
                <a:cs typeface="+mj-lt"/>
              </a:rPr>
              <a:t>++</a:t>
            </a:r>
            <a:endParaRPr lang="en-US" sz="3600" b="1" dirty="0">
              <a:latin typeface="Mongolian Baiti"/>
            </a:endParaRPr>
          </a:p>
        </p:txBody>
      </p:sp>
      <p:graphicFrame>
        <p:nvGraphicFramePr>
          <p:cNvPr id="4" name="Table 3">
            <a:extLst>
              <a:ext uri="{FF2B5EF4-FFF2-40B4-BE49-F238E27FC236}">
                <a16:creationId xmlns:a16="http://schemas.microsoft.com/office/drawing/2014/main" id="{E9DE2754-91A0-115A-2D9A-B92A8EBA02CA}"/>
              </a:ext>
            </a:extLst>
          </p:cNvPr>
          <p:cNvGraphicFramePr>
            <a:graphicFrameLocks noGrp="1"/>
          </p:cNvGraphicFramePr>
          <p:nvPr>
            <p:extLst>
              <p:ext uri="{D42A27DB-BD31-4B8C-83A1-F6EECF244321}">
                <p14:modId xmlns:p14="http://schemas.microsoft.com/office/powerpoint/2010/main" val="1675709141"/>
              </p:ext>
            </p:extLst>
          </p:nvPr>
        </p:nvGraphicFramePr>
        <p:xfrm>
          <a:off x="840665" y="2055876"/>
          <a:ext cx="10128078" cy="3466766"/>
        </p:xfrm>
        <a:graphic>
          <a:graphicData uri="http://schemas.openxmlformats.org/drawingml/2006/table">
            <a:tbl>
              <a:tblPr firstRow="1" bandRow="1">
                <a:tableStyleId>{5C22544A-7EE6-4342-B048-85BDC9FD1C3A}</a:tableStyleId>
              </a:tblPr>
              <a:tblGrid>
                <a:gridCol w="5064039">
                  <a:extLst>
                    <a:ext uri="{9D8B030D-6E8A-4147-A177-3AD203B41FA5}">
                      <a16:colId xmlns:a16="http://schemas.microsoft.com/office/drawing/2014/main" val="3754600244"/>
                    </a:ext>
                  </a:extLst>
                </a:gridCol>
                <a:gridCol w="5064039">
                  <a:extLst>
                    <a:ext uri="{9D8B030D-6E8A-4147-A177-3AD203B41FA5}">
                      <a16:colId xmlns:a16="http://schemas.microsoft.com/office/drawing/2014/main" val="4065952777"/>
                    </a:ext>
                  </a:extLst>
                </a:gridCol>
              </a:tblGrid>
              <a:tr h="1733383">
                <a:tc>
                  <a:txBody>
                    <a:bodyPr/>
                    <a:lstStyle/>
                    <a:p>
                      <a:r>
                        <a:rPr lang="en-US" sz="2400" dirty="0">
                          <a:solidFill>
                            <a:schemeClr val="accent6"/>
                          </a:solidFill>
                          <a:latin typeface="Garamond"/>
                        </a:rPr>
                        <a:t>Source:</a:t>
                      </a:r>
                    </a:p>
                    <a:p>
                      <a:pPr marL="342900" lvl="0" indent="-342900">
                        <a:buAutoNum type="arabicPeriod"/>
                      </a:pPr>
                      <a:r>
                        <a:rPr lang="en-US" b="0" dirty="0" err="1">
                          <a:solidFill>
                            <a:schemeClr val="tx1"/>
                          </a:solidFill>
                          <a:latin typeface="Garamond"/>
                        </a:rPr>
                        <a:t>SmellyCode</a:t>
                      </a:r>
                      <a:r>
                        <a:rPr lang="en-US" b="0" dirty="0">
                          <a:solidFill>
                            <a:schemeClr val="tx1"/>
                          </a:solidFill>
                          <a:latin typeface="Garamond"/>
                        </a:rPr>
                        <a:t>++ from </a:t>
                      </a:r>
                      <a:r>
                        <a:rPr lang="en-US" b="0" dirty="0" err="1">
                          <a:solidFill>
                            <a:schemeClr val="tx1"/>
                          </a:solidFill>
                          <a:latin typeface="Garamond"/>
                        </a:rPr>
                        <a:t>figshare</a:t>
                      </a:r>
                      <a:endParaRPr lang="en-US" b="0" dirty="0">
                        <a:solidFill>
                          <a:schemeClr val="tx1"/>
                        </a:solidFill>
                        <a:latin typeface="Garamond"/>
                      </a:endParaRPr>
                    </a:p>
                    <a:p>
                      <a:pPr marL="342900" lvl="0" indent="-342900">
                        <a:buAutoNum type="arabicPeriod"/>
                      </a:pPr>
                      <a:r>
                        <a:rPr lang="en-US" sz="1800" b="0" i="0" u="none" strike="noStrike" noProof="0" dirty="0">
                          <a:solidFill>
                            <a:schemeClr val="tx1"/>
                          </a:solidFill>
                          <a:latin typeface="Garamond"/>
                        </a:rPr>
                        <a:t>107,554 Java code samples</a:t>
                      </a:r>
                    </a:p>
                    <a:p>
                      <a:pPr marL="342900" lvl="0" indent="-342900">
                        <a:buAutoNum type="arabicPeriod"/>
                      </a:pPr>
                      <a:r>
                        <a:rPr lang="en-US" sz="1800" b="0" i="0" u="none" strike="noStrike" noProof="0" dirty="0">
                          <a:solidFill>
                            <a:schemeClr val="tx1"/>
                          </a:solidFill>
                          <a:latin typeface="Garamond"/>
                        </a:rPr>
                        <a:t>4 code smell types labeled</a:t>
                      </a:r>
                    </a:p>
                  </a:txBody>
                  <a:tcPr>
                    <a:solidFill>
                      <a:schemeClr val="bg1"/>
                    </a:solidFill>
                  </a:tcPr>
                </a:tc>
                <a:tc>
                  <a:txBody>
                    <a:bodyPr/>
                    <a:lstStyle/>
                    <a:p>
                      <a:r>
                        <a:rPr lang="en-US" sz="2400" dirty="0">
                          <a:solidFill>
                            <a:schemeClr val="accent5">
                              <a:lumMod val="60000"/>
                              <a:lumOff val="40000"/>
                            </a:schemeClr>
                          </a:solidFill>
                          <a:latin typeface="Garamond"/>
                        </a:rPr>
                        <a:t>Subset Used:</a:t>
                      </a:r>
                    </a:p>
                    <a:p>
                      <a:pPr marL="342900" lvl="0" indent="-342900">
                        <a:buAutoNum type="arabicPeriod"/>
                      </a:pPr>
                      <a:r>
                        <a:rPr lang="en-US" sz="1800" b="0" i="0" u="none" strike="noStrike" noProof="0" dirty="0">
                          <a:solidFill>
                            <a:schemeClr val="tx1"/>
                          </a:solidFill>
                          <a:latin typeface="Garamond"/>
                        </a:rPr>
                        <a:t>5,000 balanced samples</a:t>
                      </a:r>
                    </a:p>
                    <a:p>
                      <a:pPr marL="342900" lvl="0" indent="-342900">
                        <a:buAutoNum type="arabicPeriod"/>
                      </a:pPr>
                      <a:r>
                        <a:rPr lang="en-US" sz="1800" b="0" i="0" u="none" strike="noStrike" noProof="0" dirty="0">
                          <a:solidFill>
                            <a:schemeClr val="tx1"/>
                          </a:solidFill>
                          <a:latin typeface="Garamond"/>
                        </a:rPr>
                        <a:t>2,500 clean + 2,500 smelly</a:t>
                      </a:r>
                    </a:p>
                    <a:p>
                      <a:pPr marL="342900" lvl="0" indent="-342900">
                        <a:buAutoNum type="arabicPeriod"/>
                      </a:pPr>
                      <a:r>
                        <a:rPr lang="en-US" sz="1800" b="0" i="0" u="none" strike="noStrike" noProof="0" dirty="0">
                          <a:solidFill>
                            <a:schemeClr val="tx1"/>
                          </a:solidFill>
                          <a:latin typeface="Garamond"/>
                        </a:rPr>
                        <a:t>Stratified sampling for fairness</a:t>
                      </a:r>
                    </a:p>
                    <a:p>
                      <a:pPr marL="342900" lvl="0" indent="-342900">
                        <a:buAutoNum type="arabicPeriod"/>
                      </a:pPr>
                      <a:endParaRPr lang="en-US" sz="1800" b="0" i="0" u="none" strike="noStrike" noProof="0" dirty="0">
                        <a:solidFill>
                          <a:schemeClr val="tx1"/>
                        </a:solidFill>
                        <a:latin typeface="Garamond"/>
                      </a:endParaRPr>
                    </a:p>
                  </a:txBody>
                  <a:tcPr>
                    <a:solidFill>
                      <a:schemeClr val="bg1"/>
                    </a:solidFill>
                  </a:tcPr>
                </a:tc>
                <a:extLst>
                  <a:ext uri="{0D108BD9-81ED-4DB2-BD59-A6C34878D82A}">
                    <a16:rowId xmlns:a16="http://schemas.microsoft.com/office/drawing/2014/main" val="1821787011"/>
                  </a:ext>
                </a:extLst>
              </a:tr>
              <a:tr h="1733383">
                <a:tc>
                  <a:txBody>
                    <a:bodyPr/>
                    <a:lstStyle/>
                    <a:p>
                      <a:pPr lvl="0">
                        <a:buNone/>
                      </a:pPr>
                      <a:r>
                        <a:rPr lang="en-US" sz="2400" b="1" i="0" u="none" strike="noStrike" noProof="0" dirty="0">
                          <a:solidFill>
                            <a:schemeClr val="accent2">
                              <a:lumMod val="76000"/>
                            </a:schemeClr>
                          </a:solidFill>
                          <a:latin typeface="Garamond"/>
                        </a:rPr>
                        <a:t>Code Smell Types:</a:t>
                      </a:r>
                    </a:p>
                    <a:p>
                      <a:pPr marL="342900" lvl="0" indent="-342900">
                        <a:buAutoNum type="arabicPeriod"/>
                      </a:pPr>
                      <a:r>
                        <a:rPr lang="en-US" sz="1800" b="0" i="0" u="none" strike="noStrike" noProof="0" dirty="0">
                          <a:solidFill>
                            <a:schemeClr val="tx1"/>
                          </a:solidFill>
                          <a:latin typeface="Garamond"/>
                        </a:rPr>
                        <a:t>Long Method (1,566 samples, 1.46%)</a:t>
                      </a:r>
                    </a:p>
                    <a:p>
                      <a:pPr marL="342900" lvl="0" indent="-342900">
                        <a:buAutoNum type="arabicPeriod"/>
                      </a:pPr>
                      <a:r>
                        <a:rPr lang="en-US" sz="1800" b="0" i="0" u="none" strike="noStrike" noProof="0" dirty="0">
                          <a:solidFill>
                            <a:schemeClr val="tx1"/>
                          </a:solidFill>
                          <a:latin typeface="Garamond"/>
                        </a:rPr>
                        <a:t>God Class (4,333 samples, 4.03%)</a:t>
                      </a:r>
                    </a:p>
                    <a:p>
                      <a:pPr marL="342900" lvl="0" indent="-342900">
                        <a:buAutoNum type="arabicPeriod"/>
                      </a:pPr>
                      <a:r>
                        <a:rPr lang="en-US" sz="1800" b="0" i="0" u="none" strike="noStrike" noProof="0" dirty="0">
                          <a:solidFill>
                            <a:schemeClr val="tx1"/>
                          </a:solidFill>
                          <a:latin typeface="Garamond"/>
                        </a:rPr>
                        <a:t>Feature Envy (1,996 samples, 1.86%)</a:t>
                      </a:r>
                    </a:p>
                    <a:p>
                      <a:pPr marL="342900" lvl="0" indent="-342900">
                        <a:buAutoNum type="arabicPeriod"/>
                      </a:pPr>
                      <a:r>
                        <a:rPr lang="en-US" sz="1800" b="0" i="0" u="none" strike="noStrike" noProof="0" dirty="0">
                          <a:solidFill>
                            <a:schemeClr val="tx1"/>
                          </a:solidFill>
                          <a:latin typeface="Garamond"/>
                        </a:rPr>
                        <a:t>Data Class (3,284 samples, 3.05%)</a:t>
                      </a:r>
                    </a:p>
                  </a:txBody>
                  <a:tcPr>
                    <a:solidFill>
                      <a:schemeClr val="bg1"/>
                    </a:solidFill>
                  </a:tcPr>
                </a:tc>
                <a:tc>
                  <a:txBody>
                    <a:bodyPr/>
                    <a:lstStyle/>
                    <a:p>
                      <a:pPr lvl="0">
                        <a:buNone/>
                      </a:pPr>
                      <a:r>
                        <a:rPr lang="en-US" sz="2400" b="1" i="0" u="none" strike="noStrike" noProof="0" dirty="0">
                          <a:solidFill>
                            <a:schemeClr val="tx2">
                              <a:lumMod val="76000"/>
                              <a:lumOff val="24000"/>
                            </a:schemeClr>
                          </a:solidFill>
                          <a:latin typeface="Garamond"/>
                        </a:rPr>
                        <a:t>Train/Test Split:</a:t>
                      </a:r>
                    </a:p>
                    <a:p>
                      <a:pPr marL="342900" lvl="0" indent="-342900">
                        <a:buAutoNum type="arabicPeriod"/>
                      </a:pPr>
                      <a:r>
                        <a:rPr lang="en-US" sz="1800" b="0" i="0" u="none" strike="noStrike" noProof="0" dirty="0">
                          <a:solidFill>
                            <a:schemeClr val="tx1"/>
                          </a:solidFill>
                          <a:latin typeface="Garamond"/>
                        </a:rPr>
                        <a:t>Training: 4,000 samples (80%)</a:t>
                      </a:r>
                    </a:p>
                    <a:p>
                      <a:pPr marL="342900" lvl="0" indent="-342900">
                        <a:buAutoNum type="arabicPeriod"/>
                      </a:pPr>
                      <a:r>
                        <a:rPr lang="en-US" sz="1800" b="0" i="0" u="none" strike="noStrike" noProof="0" dirty="0">
                          <a:solidFill>
                            <a:schemeClr val="tx1"/>
                          </a:solidFill>
                          <a:latin typeface="Garamond"/>
                        </a:rPr>
                        <a:t>Testing: 1,000 samples (20%)</a:t>
                      </a:r>
                    </a:p>
                    <a:p>
                      <a:pPr marL="342900" lvl="0" indent="-342900">
                        <a:buAutoNum type="arabicPeriod"/>
                      </a:pPr>
                      <a:r>
                        <a:rPr lang="en-US" sz="1800" b="0" i="0" u="none" strike="noStrike" noProof="0" dirty="0">
                          <a:solidFill>
                            <a:schemeClr val="tx1"/>
                          </a:solidFill>
                          <a:latin typeface="Garamond"/>
                        </a:rPr>
                        <a:t>Stratified to maintain class balance</a:t>
                      </a:r>
                    </a:p>
                  </a:txBody>
                  <a:tcPr>
                    <a:solidFill>
                      <a:schemeClr val="bg1"/>
                    </a:solidFill>
                  </a:tcPr>
                </a:tc>
                <a:extLst>
                  <a:ext uri="{0D108BD9-81ED-4DB2-BD59-A6C34878D82A}">
                    <a16:rowId xmlns:a16="http://schemas.microsoft.com/office/drawing/2014/main" val="2057660642"/>
                  </a:ext>
                </a:extLst>
              </a:tr>
            </a:tbl>
          </a:graphicData>
        </a:graphic>
      </p:graphicFrame>
      <p:sp>
        <p:nvSpPr>
          <p:cNvPr id="5" name="TextBox 4">
            <a:extLst>
              <a:ext uri="{FF2B5EF4-FFF2-40B4-BE49-F238E27FC236}">
                <a16:creationId xmlns:a16="http://schemas.microsoft.com/office/drawing/2014/main" id="{D12626E7-2AE3-8930-D6BD-E2ABA22C9FC9}"/>
              </a:ext>
            </a:extLst>
          </p:cNvPr>
          <p:cNvSpPr txBox="1"/>
          <p:nvPr/>
        </p:nvSpPr>
        <p:spPr>
          <a:xfrm>
            <a:off x="832916" y="5849257"/>
            <a:ext cx="871550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solidFill>
                  <a:srgbClr val="00B050"/>
                </a:solidFill>
                <a:latin typeface="Garamond"/>
                <a:ea typeface="+mn-lt"/>
                <a:cs typeface="+mn-lt"/>
              </a:rPr>
              <a:t>Balanced dataset ensures models learn both classes effectively</a:t>
            </a:r>
            <a:endParaRPr lang="en-US" sz="2000">
              <a:solidFill>
                <a:srgbClr val="00B050"/>
              </a:solidFill>
              <a:latin typeface="Garamond"/>
            </a:endParaRPr>
          </a:p>
        </p:txBody>
      </p:sp>
    </p:spTree>
    <p:extLst>
      <p:ext uri="{BB962C8B-B14F-4D97-AF65-F5344CB8AC3E}">
        <p14:creationId xmlns:p14="http://schemas.microsoft.com/office/powerpoint/2010/main" val="4148648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9DDC-835B-FBD4-E173-1B96E97CA391}"/>
              </a:ext>
            </a:extLst>
          </p:cNvPr>
          <p:cNvSpPr>
            <a:spLocks noGrp="1"/>
          </p:cNvSpPr>
          <p:nvPr>
            <p:ph type="title"/>
          </p:nvPr>
        </p:nvSpPr>
        <p:spPr/>
        <p:txBody>
          <a:bodyPr>
            <a:normAutofit/>
          </a:bodyPr>
          <a:lstStyle/>
          <a:p>
            <a:r>
              <a:rPr lang="en-US" sz="3600" b="1" dirty="0">
                <a:latin typeface="Mongolian Baiti"/>
                <a:cs typeface="Mongolian Baiti"/>
              </a:rPr>
              <a:t>Exploratory Data Analysis: Key Insights</a:t>
            </a:r>
          </a:p>
        </p:txBody>
      </p:sp>
      <p:graphicFrame>
        <p:nvGraphicFramePr>
          <p:cNvPr id="4" name="Table 3">
            <a:extLst>
              <a:ext uri="{FF2B5EF4-FFF2-40B4-BE49-F238E27FC236}">
                <a16:creationId xmlns:a16="http://schemas.microsoft.com/office/drawing/2014/main" id="{C59411F4-4531-C836-9BEA-52BE30BE20FF}"/>
              </a:ext>
            </a:extLst>
          </p:cNvPr>
          <p:cNvGraphicFramePr>
            <a:graphicFrameLocks noGrp="1"/>
          </p:cNvGraphicFramePr>
          <p:nvPr>
            <p:extLst>
              <p:ext uri="{D42A27DB-BD31-4B8C-83A1-F6EECF244321}">
                <p14:modId xmlns:p14="http://schemas.microsoft.com/office/powerpoint/2010/main" val="737336912"/>
              </p:ext>
            </p:extLst>
          </p:nvPr>
        </p:nvGraphicFramePr>
        <p:xfrm>
          <a:off x="836023" y="1956090"/>
          <a:ext cx="10287789" cy="2286000"/>
        </p:xfrm>
        <a:graphic>
          <a:graphicData uri="http://schemas.openxmlformats.org/drawingml/2006/table">
            <a:tbl>
              <a:tblPr firstRow="1" bandRow="1">
                <a:tableStyleId>{5C22544A-7EE6-4342-B048-85BDC9FD1C3A}</a:tableStyleId>
              </a:tblPr>
              <a:tblGrid>
                <a:gridCol w="3429263">
                  <a:extLst>
                    <a:ext uri="{9D8B030D-6E8A-4147-A177-3AD203B41FA5}">
                      <a16:colId xmlns:a16="http://schemas.microsoft.com/office/drawing/2014/main" val="1440529559"/>
                    </a:ext>
                  </a:extLst>
                </a:gridCol>
                <a:gridCol w="3429263">
                  <a:extLst>
                    <a:ext uri="{9D8B030D-6E8A-4147-A177-3AD203B41FA5}">
                      <a16:colId xmlns:a16="http://schemas.microsoft.com/office/drawing/2014/main" val="3795963943"/>
                    </a:ext>
                  </a:extLst>
                </a:gridCol>
                <a:gridCol w="3429263">
                  <a:extLst>
                    <a:ext uri="{9D8B030D-6E8A-4147-A177-3AD203B41FA5}">
                      <a16:colId xmlns:a16="http://schemas.microsoft.com/office/drawing/2014/main" val="227116319"/>
                    </a:ext>
                  </a:extLst>
                </a:gridCol>
              </a:tblGrid>
              <a:tr h="370840">
                <a:tc>
                  <a:txBody>
                    <a:bodyPr/>
                    <a:lstStyle/>
                    <a:p>
                      <a:pPr lvl="0">
                        <a:buNone/>
                      </a:pPr>
                      <a:r>
                        <a:rPr lang="en-US" sz="1800" b="0" i="0" u="none" strike="noStrike" noProof="0" dirty="0">
                          <a:solidFill>
                            <a:schemeClr val="accent1"/>
                          </a:solidFill>
                          <a:latin typeface="Aptos"/>
                        </a:rPr>
                        <a:t>Severe Class Imbalance</a:t>
                      </a:r>
                    </a:p>
                    <a:p>
                      <a:pPr lvl="0">
                        <a:buNone/>
                      </a:pPr>
                      <a:endParaRPr lang="en-US" sz="1800" b="0" i="0" u="none" strike="noStrike" noProof="0" dirty="0">
                        <a:solidFill>
                          <a:schemeClr val="tx1"/>
                        </a:solidFill>
                        <a:latin typeface="Aptos"/>
                      </a:endParaRPr>
                    </a:p>
                    <a:p>
                      <a:pPr marL="342900" lvl="0" indent="-342900">
                        <a:buAutoNum type="arabicPeriod"/>
                      </a:pPr>
                      <a:r>
                        <a:rPr lang="en-US" sz="1800" b="0" i="0" u="none" strike="noStrike" noProof="0" dirty="0">
                          <a:solidFill>
                            <a:schemeClr val="tx1"/>
                          </a:solidFill>
                        </a:rPr>
                        <a:t>90.78% clean vs 9.22% smelly</a:t>
                      </a:r>
                    </a:p>
                    <a:p>
                      <a:pPr marL="342900" lvl="0" indent="-342900">
                        <a:buAutoNum type="arabicPeriod"/>
                      </a:pPr>
                      <a:r>
                        <a:rPr lang="en-US" sz="1800" b="0" i="0" u="none" strike="noStrike" noProof="0" dirty="0">
                          <a:solidFill>
                            <a:schemeClr val="tx1"/>
                          </a:solidFill>
                          <a:latin typeface="Aptos"/>
                        </a:rPr>
                        <a:t>Requires balanced sampling strategy</a:t>
                      </a:r>
                    </a:p>
                    <a:p>
                      <a:pPr marL="342900" lvl="0" indent="-342900">
                        <a:buAutoNum type="arabicPeriod"/>
                      </a:pPr>
                      <a:r>
                        <a:rPr lang="en-US" sz="1800" b="0" i="0" u="none" strike="noStrike" noProof="0" dirty="0">
                          <a:solidFill>
                            <a:schemeClr val="tx1"/>
                          </a:solidFill>
                        </a:rPr>
                        <a:t>God Class most prevalent smell</a:t>
                      </a:r>
                      <a:endParaRPr lang="en-US" sz="1800" b="0" i="0" u="none" strike="noStrike" noProof="0" dirty="0">
                        <a:solidFill>
                          <a:schemeClr val="tx1"/>
                        </a:solidFill>
                        <a:latin typeface="Aptos"/>
                      </a:endParaRPr>
                    </a:p>
                  </a:txBody>
                  <a:tcPr>
                    <a:solidFill>
                      <a:schemeClr val="bg1"/>
                    </a:solidFill>
                  </a:tcPr>
                </a:tc>
                <a:tc>
                  <a:txBody>
                    <a:bodyPr/>
                    <a:lstStyle/>
                    <a:p>
                      <a:pPr lvl="0">
                        <a:buNone/>
                      </a:pPr>
                      <a:r>
                        <a:rPr lang="en-US" sz="1800" b="0" i="0" u="none" strike="noStrike" noProof="0" dirty="0">
                          <a:solidFill>
                            <a:schemeClr val="accent2"/>
                          </a:solidFill>
                          <a:latin typeface="Aptos"/>
                        </a:rPr>
                        <a:t>Complexity Metrics</a:t>
                      </a:r>
                    </a:p>
                    <a:p>
                      <a:pPr lvl="0">
                        <a:buNone/>
                      </a:pPr>
                      <a:endParaRPr lang="en-US" sz="1800" b="0" i="0" u="none" strike="noStrike" noProof="0" dirty="0">
                        <a:solidFill>
                          <a:schemeClr val="tx1"/>
                        </a:solidFill>
                        <a:latin typeface="Aptos"/>
                      </a:endParaRPr>
                    </a:p>
                    <a:p>
                      <a:pPr marL="342900" lvl="0" indent="-342900">
                        <a:buAutoNum type="arabicPeriod"/>
                      </a:pPr>
                      <a:r>
                        <a:rPr lang="en-US" sz="1800" b="0" i="0" u="none" strike="noStrike" noProof="0" dirty="0">
                          <a:solidFill>
                            <a:schemeClr val="tx1"/>
                          </a:solidFill>
                        </a:rPr>
                        <a:t>Right-skewed distributions</a:t>
                      </a:r>
                    </a:p>
                    <a:p>
                      <a:pPr marL="342900" lvl="0" indent="-342900">
                        <a:buAutoNum type="arabicPeriod"/>
                      </a:pPr>
                      <a:r>
                        <a:rPr lang="en-US" sz="1800" b="0" i="0" u="none" strike="noStrike" noProof="0" dirty="0">
                          <a:solidFill>
                            <a:schemeClr val="tx1"/>
                          </a:solidFill>
                          <a:latin typeface="Aptos"/>
                        </a:rPr>
                        <a:t>Smelly code shows higher medians</a:t>
                      </a:r>
                    </a:p>
                    <a:p>
                      <a:pPr marL="342900" lvl="0" indent="-342900">
                        <a:buAutoNum type="arabicPeriod"/>
                      </a:pPr>
                      <a:r>
                        <a:rPr lang="en-US" sz="1800" b="0" i="0" u="none" strike="noStrike" noProof="0" dirty="0">
                          <a:solidFill>
                            <a:schemeClr val="tx1"/>
                          </a:solidFill>
                        </a:rPr>
                        <a:t>Cyclomatic complexity: strongest correlation (0.48-0.51)</a:t>
                      </a:r>
                      <a:endParaRPr lang="en-US" sz="1800" b="0" i="0" u="none" strike="noStrike" noProof="0" dirty="0">
                        <a:solidFill>
                          <a:schemeClr val="tx1"/>
                        </a:solidFill>
                        <a:latin typeface="Aptos"/>
                      </a:endParaRPr>
                    </a:p>
                  </a:txBody>
                  <a:tcPr>
                    <a:solidFill>
                      <a:schemeClr val="bg1"/>
                    </a:solidFill>
                  </a:tcPr>
                </a:tc>
                <a:tc>
                  <a:txBody>
                    <a:bodyPr/>
                    <a:lstStyle/>
                    <a:p>
                      <a:pPr lvl="0">
                        <a:buNone/>
                      </a:pPr>
                      <a:r>
                        <a:rPr lang="en-US" sz="1800" b="0" i="0" u="none" strike="noStrike" noProof="0" dirty="0">
                          <a:solidFill>
                            <a:schemeClr val="accent3"/>
                          </a:solidFill>
                          <a:latin typeface="Aptos"/>
                        </a:rPr>
                        <a:t>Metric Correlations</a:t>
                      </a:r>
                    </a:p>
                    <a:p>
                      <a:pPr lvl="0">
                        <a:buNone/>
                      </a:pPr>
                      <a:endParaRPr lang="en-US" sz="1800" b="0" i="0" u="none" strike="noStrike" noProof="0" dirty="0">
                        <a:solidFill>
                          <a:schemeClr val="tx1"/>
                        </a:solidFill>
                        <a:latin typeface="Aptos"/>
                      </a:endParaRPr>
                    </a:p>
                    <a:p>
                      <a:pPr marL="342900" lvl="0" indent="-342900">
                        <a:buAutoNum type="arabicPeriod"/>
                      </a:pPr>
                      <a:r>
                        <a:rPr lang="en-US" sz="1800" b="0" i="0" u="none" strike="noStrike" noProof="0" dirty="0">
                          <a:solidFill>
                            <a:schemeClr val="tx1"/>
                          </a:solidFill>
                        </a:rPr>
                        <a:t>Strong correlations among Halstead metrics (0.65-0.92)</a:t>
                      </a:r>
                    </a:p>
                    <a:p>
                      <a:pPr marL="342900" lvl="0" indent="-342900">
                        <a:buAutoNum type="arabicPeriod"/>
                      </a:pPr>
                      <a:r>
                        <a:rPr lang="en-US" sz="1800" b="0" i="0" u="none" strike="noStrike" noProof="0" dirty="0">
                          <a:solidFill>
                            <a:schemeClr val="tx1"/>
                          </a:solidFill>
                          <a:latin typeface="Aptos"/>
                        </a:rPr>
                        <a:t>Indicates redundancy</a:t>
                      </a:r>
                    </a:p>
                    <a:p>
                      <a:pPr marL="342900" lvl="0" indent="-342900">
                        <a:buAutoNum type="arabicPeriod"/>
                      </a:pPr>
                      <a:r>
                        <a:rPr lang="en-US" sz="1800" b="0" i="0" u="none" strike="noStrike" noProof="0" dirty="0">
                          <a:solidFill>
                            <a:schemeClr val="tx1"/>
                          </a:solidFill>
                        </a:rPr>
                        <a:t>Supports use of embeddings over raw metrics</a:t>
                      </a:r>
                      <a:endParaRPr lang="en-US" sz="1800" b="0" i="0" u="none" strike="noStrike" noProof="0" dirty="0">
                        <a:solidFill>
                          <a:schemeClr val="tx1"/>
                        </a:solidFill>
                        <a:latin typeface="Aptos"/>
                      </a:endParaRPr>
                    </a:p>
                  </a:txBody>
                  <a:tcPr>
                    <a:solidFill>
                      <a:schemeClr val="bg1"/>
                    </a:solidFill>
                  </a:tcPr>
                </a:tc>
                <a:extLst>
                  <a:ext uri="{0D108BD9-81ED-4DB2-BD59-A6C34878D82A}">
                    <a16:rowId xmlns:a16="http://schemas.microsoft.com/office/drawing/2014/main" val="865752429"/>
                  </a:ext>
                </a:extLst>
              </a:tr>
            </a:tbl>
          </a:graphicData>
        </a:graphic>
      </p:graphicFrame>
      <p:sp>
        <p:nvSpPr>
          <p:cNvPr id="6" name="TextBox 5">
            <a:extLst>
              <a:ext uri="{FF2B5EF4-FFF2-40B4-BE49-F238E27FC236}">
                <a16:creationId xmlns:a16="http://schemas.microsoft.com/office/drawing/2014/main" id="{216DCAAA-7FD5-8DEF-8529-E33346A049A9}"/>
              </a:ext>
            </a:extLst>
          </p:cNvPr>
          <p:cNvSpPr txBox="1"/>
          <p:nvPr/>
        </p:nvSpPr>
        <p:spPr>
          <a:xfrm>
            <a:off x="1016000" y="4876800"/>
            <a:ext cx="100003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solidFill>
                  <a:srgbClr val="00B050"/>
                </a:solidFill>
                <a:latin typeface="Garamond"/>
                <a:ea typeface="+mn-lt"/>
                <a:cs typeface="+mn-lt"/>
              </a:rPr>
              <a:t>📊 EDA findings guide preprocessing and model selection decisions</a:t>
            </a:r>
            <a:endParaRPr lang="en-US" sz="2000">
              <a:solidFill>
                <a:srgbClr val="00B050"/>
              </a:solidFill>
              <a:latin typeface="Garamond"/>
            </a:endParaRPr>
          </a:p>
        </p:txBody>
      </p:sp>
    </p:spTree>
    <p:extLst>
      <p:ext uri="{BB962C8B-B14F-4D97-AF65-F5344CB8AC3E}">
        <p14:creationId xmlns:p14="http://schemas.microsoft.com/office/powerpoint/2010/main" val="49415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0D5975-F441-2BF9-D180-71893BC10FA7}"/>
              </a:ext>
            </a:extLst>
          </p:cNvPr>
          <p:cNvPicPr>
            <a:picLocks noChangeAspect="1"/>
          </p:cNvPicPr>
          <p:nvPr/>
        </p:nvPicPr>
        <p:blipFill>
          <a:blip r:embed="rId3"/>
          <a:stretch>
            <a:fillRect/>
          </a:stretch>
        </p:blipFill>
        <p:spPr>
          <a:xfrm>
            <a:off x="3620" y="0"/>
            <a:ext cx="6642943" cy="4956849"/>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1462E100-372B-6F31-F11D-40F41544EA5D}"/>
              </a:ext>
            </a:extLst>
          </p:cNvPr>
          <p:cNvPicPr>
            <a:picLocks noChangeAspect="1"/>
          </p:cNvPicPr>
          <p:nvPr/>
        </p:nvPicPr>
        <p:blipFill>
          <a:blip r:embed="rId4"/>
          <a:stretch>
            <a:fillRect/>
          </a:stretch>
        </p:blipFill>
        <p:spPr>
          <a:xfrm>
            <a:off x="6647895" y="0"/>
            <a:ext cx="5546391" cy="4941455"/>
          </a:xfrm>
          <a:prstGeom prst="rect">
            <a:avLst/>
          </a:prstGeom>
        </p:spPr>
      </p:pic>
      <p:sp>
        <p:nvSpPr>
          <p:cNvPr id="6" name="TextBox 5">
            <a:extLst>
              <a:ext uri="{FF2B5EF4-FFF2-40B4-BE49-F238E27FC236}">
                <a16:creationId xmlns:a16="http://schemas.microsoft.com/office/drawing/2014/main" id="{953938F1-FFE8-4F32-60D5-E897FE3D327B}"/>
              </a:ext>
            </a:extLst>
          </p:cNvPr>
          <p:cNvSpPr txBox="1"/>
          <p:nvPr/>
        </p:nvSpPr>
        <p:spPr>
          <a:xfrm>
            <a:off x="7650787" y="5080000"/>
            <a:ext cx="414096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Garamond"/>
                <a:ea typeface="+mn-lt"/>
                <a:cs typeface="+mn-lt"/>
              </a:rPr>
              <a:t>Analysis over full dataset of 107k samples shows complexity strongly associated with all smell types.</a:t>
            </a:r>
            <a:endParaRPr lang="en-US" dirty="0">
              <a:latin typeface="Garamond"/>
            </a:endParaRPr>
          </a:p>
          <a:p>
            <a:pPr algn="l"/>
            <a:endParaRPr lang="en-US" dirty="0"/>
          </a:p>
        </p:txBody>
      </p:sp>
      <p:sp>
        <p:nvSpPr>
          <p:cNvPr id="7" name="TextBox 6">
            <a:extLst>
              <a:ext uri="{FF2B5EF4-FFF2-40B4-BE49-F238E27FC236}">
                <a16:creationId xmlns:a16="http://schemas.microsoft.com/office/drawing/2014/main" id="{9B2E7620-9972-0454-740A-D1E0904F1865}"/>
              </a:ext>
            </a:extLst>
          </p:cNvPr>
          <p:cNvSpPr txBox="1"/>
          <p:nvPr/>
        </p:nvSpPr>
        <p:spPr>
          <a:xfrm>
            <a:off x="609600" y="4992913"/>
            <a:ext cx="55299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Garamond"/>
                <a:ea typeface="+mn-lt"/>
                <a:cs typeface="+mn-lt"/>
              </a:rPr>
              <a:t>Code Smell Distribution - Percentages</a:t>
            </a:r>
            <a:endParaRPr lang="en-US" dirty="0">
              <a:latin typeface="Garamond"/>
            </a:endParaRPr>
          </a:p>
        </p:txBody>
      </p:sp>
    </p:spTree>
    <p:extLst>
      <p:ext uri="{BB962C8B-B14F-4D97-AF65-F5344CB8AC3E}">
        <p14:creationId xmlns:p14="http://schemas.microsoft.com/office/powerpoint/2010/main" val="3590669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1F8E5-ECDB-FBBF-D9BA-AD24C4709A9D}"/>
              </a:ext>
            </a:extLst>
          </p:cNvPr>
          <p:cNvSpPr>
            <a:spLocks noGrp="1"/>
          </p:cNvSpPr>
          <p:nvPr>
            <p:ph type="title"/>
          </p:nvPr>
        </p:nvSpPr>
        <p:spPr/>
        <p:txBody>
          <a:bodyPr/>
          <a:lstStyle/>
          <a:p>
            <a:r>
              <a:rPr lang="en-US" sz="3600" b="1" dirty="0">
                <a:latin typeface="Mongolian Baiti"/>
                <a:cs typeface="Mongolian Baiti"/>
              </a:rPr>
              <a:t>Methodology: End-to-End Pipeline</a:t>
            </a:r>
            <a:endParaRPr lang="en-US" sz="3600" dirty="0">
              <a:latin typeface="Mongolian Baiti"/>
              <a:cs typeface="Mongolian Baiti"/>
            </a:endParaRPr>
          </a:p>
        </p:txBody>
      </p:sp>
      <p:sp>
        <p:nvSpPr>
          <p:cNvPr id="3" name="Content Placeholder 2">
            <a:extLst>
              <a:ext uri="{FF2B5EF4-FFF2-40B4-BE49-F238E27FC236}">
                <a16:creationId xmlns:a16="http://schemas.microsoft.com/office/drawing/2014/main" id="{38DF3D32-3FF1-4CE4-5CA5-9C049A59286D}"/>
              </a:ext>
            </a:extLst>
          </p:cNvPr>
          <p:cNvSpPr>
            <a:spLocks noGrp="1"/>
          </p:cNvSpPr>
          <p:nvPr>
            <p:ph idx="1"/>
          </p:nvPr>
        </p:nvSpPr>
        <p:spPr>
          <a:xfrm>
            <a:off x="838200" y="1716768"/>
            <a:ext cx="10515600" cy="4351338"/>
          </a:xfrm>
        </p:spPr>
        <p:txBody>
          <a:bodyPr vert="horz" lIns="91440" tIns="45720" rIns="91440" bIns="45720" rtlCol="0" anchor="t">
            <a:normAutofit/>
          </a:bodyPr>
          <a:lstStyle/>
          <a:p>
            <a:pPr marL="0" indent="0">
              <a:buNone/>
            </a:pPr>
            <a:r>
              <a:rPr lang="en-US" b="1" dirty="0">
                <a:latin typeface="Garamond"/>
              </a:rPr>
              <a:t>Step 1: Data Preprocessing</a:t>
            </a:r>
            <a:endParaRPr lang="en-US" b="1" dirty="0">
              <a:solidFill>
                <a:srgbClr val="FFFFFF"/>
              </a:solidFill>
              <a:latin typeface="Garamond"/>
            </a:endParaRPr>
          </a:p>
          <a:p>
            <a:endParaRPr lang="en-US" b="1" dirty="0">
              <a:solidFill>
                <a:srgbClr val="FFFFFF"/>
              </a:solidFill>
              <a:latin typeface="Garamond"/>
            </a:endParaRPr>
          </a:p>
          <a:p>
            <a:pPr marL="342900" indent="-342900">
              <a:buAutoNum type="arabicPeriod"/>
            </a:pPr>
            <a:r>
              <a:rPr lang="en-US" dirty="0">
                <a:latin typeface="Garamond"/>
              </a:rPr>
              <a:t>Load 107K samples</a:t>
            </a:r>
            <a:endParaRPr lang="en-US" dirty="0">
              <a:solidFill>
                <a:srgbClr val="FFFFFF"/>
              </a:solidFill>
              <a:latin typeface="Garamond"/>
            </a:endParaRPr>
          </a:p>
          <a:p>
            <a:pPr marL="342900" indent="-342900">
              <a:buAutoNum type="arabicPeriod"/>
            </a:pPr>
            <a:r>
              <a:rPr lang="en-US" dirty="0">
                <a:latin typeface="Garamond"/>
              </a:rPr>
              <a:t>Create balanced subset (5K)</a:t>
            </a:r>
            <a:endParaRPr lang="en-US" dirty="0">
              <a:solidFill>
                <a:srgbClr val="FFFFFF"/>
              </a:solidFill>
              <a:latin typeface="Garamond"/>
            </a:endParaRPr>
          </a:p>
          <a:p>
            <a:pPr marL="342900" indent="-342900">
              <a:buAutoNum type="arabicPeriod"/>
            </a:pPr>
            <a:r>
              <a:rPr lang="en-US" dirty="0">
                <a:latin typeface="Garamond"/>
              </a:rPr>
              <a:t>Stratified train/test split (80/20)</a:t>
            </a:r>
            <a:endParaRPr lang="en-US" b="1" dirty="0">
              <a:solidFill>
                <a:srgbClr val="FFFFFF"/>
              </a:solidFill>
              <a:latin typeface="Garamond"/>
            </a:endParaRPr>
          </a:p>
          <a:p>
            <a:pPr marL="342900" indent="-342900">
              <a:buAutoNum type="arabicPeriod"/>
            </a:pPr>
            <a:r>
              <a:rPr lang="en-US" dirty="0">
                <a:latin typeface="Garamond"/>
              </a:rPr>
              <a:t>Binary classification (smelly vs clean)</a:t>
            </a:r>
            <a:endParaRPr lang="en-US" b="1" dirty="0">
              <a:solidFill>
                <a:srgbClr val="FFFFFF"/>
              </a:solidFill>
              <a:latin typeface="Garamond"/>
            </a:endParaRPr>
          </a:p>
          <a:p>
            <a:endParaRPr lang="en-US" dirty="0"/>
          </a:p>
        </p:txBody>
      </p:sp>
      <p:sp>
        <p:nvSpPr>
          <p:cNvPr id="4" name="TextBox 3">
            <a:extLst>
              <a:ext uri="{FF2B5EF4-FFF2-40B4-BE49-F238E27FC236}">
                <a16:creationId xmlns:a16="http://schemas.microsoft.com/office/drawing/2014/main" id="{F75087EC-05FA-759C-301C-780A26DD9DAB}"/>
              </a:ext>
            </a:extLst>
          </p:cNvPr>
          <p:cNvSpPr txBox="1"/>
          <p:nvPr/>
        </p:nvSpPr>
        <p:spPr>
          <a:xfrm>
            <a:off x="2939143" y="572277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aseline="0">
                <a:latin typeface="Garamond"/>
              </a:rPr>
              <a:t>All steps are automated and reproducible</a:t>
            </a:r>
            <a:r>
              <a:rPr sz="2000">
                <a:latin typeface="Garamond"/>
                <a:ea typeface="Garamond"/>
                <a:cs typeface="Garamond"/>
              </a:rPr>
              <a:t>​</a:t>
            </a:r>
            <a:endParaRPr lang="en-US"/>
          </a:p>
          <a:p>
            <a:pPr algn="ctr"/>
            <a:endParaRPr lang="en-US"/>
          </a:p>
        </p:txBody>
      </p:sp>
    </p:spTree>
    <p:extLst>
      <p:ext uri="{BB962C8B-B14F-4D97-AF65-F5344CB8AC3E}">
        <p14:creationId xmlns:p14="http://schemas.microsoft.com/office/powerpoint/2010/main" val="98937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3F909E-D37A-F154-134E-A7E2C36831E5}"/>
              </a:ext>
            </a:extLst>
          </p:cNvPr>
          <p:cNvSpPr>
            <a:spLocks noGrp="1"/>
          </p:cNvSpPr>
          <p:nvPr>
            <p:ph idx="1"/>
          </p:nvPr>
        </p:nvSpPr>
        <p:spPr>
          <a:xfrm>
            <a:off x="838200" y="1258013"/>
            <a:ext cx="10515600" cy="4351338"/>
          </a:xfrm>
        </p:spPr>
        <p:txBody>
          <a:bodyPr vert="horz" lIns="91440" tIns="45720" rIns="91440" bIns="45720" rtlCol="0" anchor="t">
            <a:normAutofit/>
          </a:bodyPr>
          <a:lstStyle/>
          <a:p>
            <a:pPr>
              <a:buNone/>
            </a:pPr>
            <a:r>
              <a:rPr lang="en-US" b="1" dirty="0">
                <a:latin typeface="Garamond"/>
              </a:rPr>
              <a:t>Step 2: Feature Extraction</a:t>
            </a:r>
            <a:endParaRPr lang="en-US" b="1" dirty="0">
              <a:solidFill>
                <a:srgbClr val="FFFFFF"/>
              </a:solidFill>
              <a:latin typeface="Garamond"/>
            </a:endParaRPr>
          </a:p>
          <a:p>
            <a:pPr>
              <a:buNone/>
            </a:pPr>
            <a:endParaRPr lang="en-US" b="1" dirty="0">
              <a:solidFill>
                <a:srgbClr val="FFFFFF"/>
              </a:solidFill>
              <a:latin typeface="Garamond"/>
            </a:endParaRPr>
          </a:p>
          <a:p>
            <a:pPr marL="342900" indent="-342900">
              <a:buAutoNum type="arabicPeriod"/>
            </a:pPr>
            <a:r>
              <a:rPr lang="en-US" err="1">
                <a:latin typeface="Garamond"/>
              </a:rPr>
              <a:t>CodeBERT</a:t>
            </a:r>
            <a:r>
              <a:rPr lang="en-US" dirty="0">
                <a:latin typeface="Garamond"/>
              </a:rPr>
              <a:t> model (</a:t>
            </a:r>
            <a:r>
              <a:rPr lang="en-US" err="1">
                <a:latin typeface="Garamond"/>
              </a:rPr>
              <a:t>microsoft</a:t>
            </a:r>
            <a:r>
              <a:rPr lang="en-US" dirty="0">
                <a:latin typeface="Garamond"/>
              </a:rPr>
              <a:t>/</a:t>
            </a:r>
            <a:r>
              <a:rPr lang="en-US" err="1">
                <a:latin typeface="Garamond"/>
              </a:rPr>
              <a:t>codebert</a:t>
            </a:r>
            <a:r>
              <a:rPr lang="en-US" dirty="0">
                <a:latin typeface="Garamond"/>
              </a:rPr>
              <a:t>-base)</a:t>
            </a:r>
            <a:endParaRPr lang="en-US" b="1" dirty="0">
              <a:solidFill>
                <a:srgbClr val="FFFFFF"/>
              </a:solidFill>
              <a:latin typeface="Garamond"/>
            </a:endParaRPr>
          </a:p>
          <a:p>
            <a:pPr marL="342900" indent="-342900">
              <a:buAutoNum type="arabicPeriod"/>
            </a:pPr>
            <a:r>
              <a:rPr lang="en-US" dirty="0">
                <a:latin typeface="Garamond"/>
              </a:rPr>
              <a:t>Extract 768-D embeddings</a:t>
            </a:r>
            <a:endParaRPr lang="en-US" b="1" dirty="0">
              <a:solidFill>
                <a:srgbClr val="FFFFFF"/>
              </a:solidFill>
              <a:latin typeface="Garamond"/>
            </a:endParaRPr>
          </a:p>
          <a:p>
            <a:pPr marL="342900" indent="-342900">
              <a:buAutoNum type="arabicPeriod"/>
            </a:pPr>
            <a:r>
              <a:rPr lang="en-US" dirty="0">
                <a:latin typeface="Garamond"/>
              </a:rPr>
              <a:t>Batch processing for efficiency</a:t>
            </a:r>
            <a:endParaRPr lang="en-US" b="1" dirty="0">
              <a:solidFill>
                <a:srgbClr val="FFFFFF"/>
              </a:solidFill>
              <a:latin typeface="Garamond"/>
            </a:endParaRPr>
          </a:p>
          <a:p>
            <a:pPr marL="342900" indent="-342900">
              <a:buAutoNum type="arabicPeriod"/>
            </a:pPr>
            <a:r>
              <a:rPr lang="en-US" dirty="0">
                <a:latin typeface="Garamond"/>
              </a:rPr>
              <a:t>No manual features needed</a:t>
            </a:r>
            <a:endParaRPr lang="en-US" b="1" dirty="0">
              <a:solidFill>
                <a:srgbClr val="FFFFFF"/>
              </a:solidFill>
              <a:latin typeface="Garamond"/>
            </a:endParaRPr>
          </a:p>
          <a:p>
            <a:pPr marL="0" indent="0">
              <a:buNone/>
            </a:pPr>
            <a:endParaRPr lang="en-US" dirty="0"/>
          </a:p>
        </p:txBody>
      </p:sp>
    </p:spTree>
    <p:extLst>
      <p:ext uri="{BB962C8B-B14F-4D97-AF65-F5344CB8AC3E}">
        <p14:creationId xmlns:p14="http://schemas.microsoft.com/office/powerpoint/2010/main" val="794132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C831F5-1E9C-7903-89CF-E2FB9FB0CAF7}"/>
              </a:ext>
            </a:extLst>
          </p:cNvPr>
          <p:cNvSpPr>
            <a:spLocks noGrp="1"/>
          </p:cNvSpPr>
          <p:nvPr>
            <p:ph idx="1"/>
          </p:nvPr>
        </p:nvSpPr>
        <p:spPr>
          <a:xfrm>
            <a:off x="838200" y="1258013"/>
            <a:ext cx="10515600" cy="4351338"/>
          </a:xfrm>
        </p:spPr>
        <p:txBody>
          <a:bodyPr vert="horz" lIns="91440" tIns="45720" rIns="91440" bIns="45720" rtlCol="0" anchor="t">
            <a:normAutofit/>
          </a:bodyPr>
          <a:lstStyle/>
          <a:p>
            <a:pPr marL="0" indent="0">
              <a:lnSpc>
                <a:spcPts val="1500"/>
              </a:lnSpc>
              <a:spcBef>
                <a:spcPts val="0"/>
              </a:spcBef>
              <a:buNone/>
            </a:pPr>
            <a:r>
              <a:rPr lang="en-US" b="1" dirty="0">
                <a:latin typeface="Garamond"/>
              </a:rPr>
              <a:t>Step 3: Model Training</a:t>
            </a:r>
            <a:br>
              <a:rPr lang="en-US" b="1" dirty="0">
                <a:latin typeface="Garamond"/>
              </a:rPr>
            </a:br>
            <a:br>
              <a:rPr lang="en-US" b="1" dirty="0">
                <a:latin typeface="Garamond"/>
              </a:rPr>
            </a:br>
            <a:br>
              <a:rPr lang="en-US" b="1" dirty="0">
                <a:latin typeface="Garamond"/>
              </a:rPr>
            </a:br>
            <a:r>
              <a:rPr lang="en-US" b="1" dirty="0">
                <a:latin typeface="Garamond"/>
              </a:rPr>
              <a:t> </a:t>
            </a:r>
            <a:endParaRPr lang="en-US">
              <a:latin typeface="Garamond"/>
            </a:endParaRPr>
          </a:p>
          <a:p>
            <a:pPr>
              <a:lnSpc>
                <a:spcPts val="1350"/>
              </a:lnSpc>
              <a:spcBef>
                <a:spcPts val="0"/>
              </a:spcBef>
            </a:pPr>
            <a:endParaRPr lang="en-US">
              <a:latin typeface="Garamond"/>
            </a:endParaRPr>
          </a:p>
          <a:p>
            <a:pPr marL="342900" indent="-342900">
              <a:lnSpc>
                <a:spcPts val="1350"/>
              </a:lnSpc>
              <a:spcBef>
                <a:spcPts val="0"/>
              </a:spcBef>
              <a:buAutoNum type="arabicPeriod"/>
            </a:pPr>
            <a:r>
              <a:rPr lang="en-US" dirty="0">
                <a:latin typeface="Garamond"/>
              </a:rPr>
              <a:t>Random Forest: 100 trees, max depth 20 </a:t>
            </a:r>
            <a:br>
              <a:rPr lang="en-US" dirty="0">
                <a:latin typeface="Garamond"/>
              </a:rPr>
            </a:br>
            <a:br>
              <a:rPr lang="en-US" dirty="0">
                <a:latin typeface="Garamond"/>
              </a:rPr>
            </a:br>
            <a:endParaRPr lang="en-US">
              <a:latin typeface="Garamond"/>
            </a:endParaRPr>
          </a:p>
          <a:p>
            <a:pPr marL="342900" indent="-342900">
              <a:lnSpc>
                <a:spcPts val="1350"/>
              </a:lnSpc>
              <a:spcBef>
                <a:spcPts val="0"/>
              </a:spcBef>
              <a:buAutoNum type="arabicPeriod"/>
            </a:pPr>
            <a:r>
              <a:rPr lang="en-US" dirty="0">
                <a:latin typeface="Garamond"/>
              </a:rPr>
              <a:t>MLP: 768→256→128→2, dropout 0.3</a:t>
            </a:r>
            <a:br>
              <a:rPr lang="en-US" dirty="0">
                <a:latin typeface="Garamond"/>
              </a:rPr>
            </a:br>
            <a:br>
              <a:rPr lang="en-US" dirty="0">
                <a:latin typeface="Garamond"/>
              </a:rPr>
            </a:br>
            <a:r>
              <a:rPr lang="en-US" dirty="0">
                <a:latin typeface="Garamond"/>
              </a:rPr>
              <a:t> </a:t>
            </a:r>
          </a:p>
          <a:p>
            <a:pPr marL="342900" indent="-342900">
              <a:lnSpc>
                <a:spcPts val="1350"/>
              </a:lnSpc>
              <a:spcBef>
                <a:spcPts val="0"/>
              </a:spcBef>
              <a:buAutoNum type="arabicPeriod"/>
            </a:pPr>
            <a:r>
              <a:rPr lang="en-US" dirty="0">
                <a:latin typeface="Garamond"/>
              </a:rPr>
              <a:t>Train on same embeddings</a:t>
            </a:r>
            <a:br>
              <a:rPr lang="en-US" dirty="0">
                <a:latin typeface="Garamond"/>
              </a:rPr>
            </a:br>
            <a:br>
              <a:rPr lang="en-US" dirty="0">
                <a:latin typeface="Garamond"/>
              </a:rPr>
            </a:br>
            <a:r>
              <a:rPr lang="en-US" dirty="0">
                <a:latin typeface="Garamond"/>
              </a:rPr>
              <a:t> </a:t>
            </a:r>
          </a:p>
          <a:p>
            <a:pPr marL="342900" indent="-342900">
              <a:lnSpc>
                <a:spcPts val="1350"/>
              </a:lnSpc>
              <a:spcBef>
                <a:spcPts val="0"/>
              </a:spcBef>
              <a:buAutoNum type="arabicPeriod"/>
            </a:pPr>
            <a:r>
              <a:rPr lang="en-US" dirty="0">
                <a:latin typeface="Garamond"/>
              </a:rPr>
              <a:t>Hyperparameter tuning </a:t>
            </a:r>
          </a:p>
          <a:p>
            <a:endParaRPr lang="en-US" dirty="0"/>
          </a:p>
        </p:txBody>
      </p:sp>
    </p:spTree>
    <p:extLst>
      <p:ext uri="{BB962C8B-B14F-4D97-AF65-F5344CB8AC3E}">
        <p14:creationId xmlns:p14="http://schemas.microsoft.com/office/powerpoint/2010/main" val="2401999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806F02-2B52-FC3C-5997-A5A2A2087D7A}"/>
              </a:ext>
            </a:extLst>
          </p:cNvPr>
          <p:cNvSpPr>
            <a:spLocks noGrp="1"/>
          </p:cNvSpPr>
          <p:nvPr>
            <p:ph idx="1"/>
          </p:nvPr>
        </p:nvSpPr>
        <p:spPr>
          <a:xfrm>
            <a:off x="838200" y="1258013"/>
            <a:ext cx="10515600" cy="4351338"/>
          </a:xfrm>
        </p:spPr>
        <p:txBody>
          <a:bodyPr vert="horz" lIns="91440" tIns="45720" rIns="91440" bIns="45720" rtlCol="0" anchor="t">
            <a:normAutofit/>
          </a:bodyPr>
          <a:lstStyle/>
          <a:p>
            <a:pPr marL="0" indent="0">
              <a:buNone/>
            </a:pPr>
            <a:r>
              <a:rPr lang="en-US" b="1" dirty="0">
                <a:latin typeface="Garamond"/>
              </a:rPr>
              <a:t>Step 4: Evaluation</a:t>
            </a:r>
            <a:endParaRPr lang="en-US" dirty="0">
              <a:latin typeface="Garamond"/>
            </a:endParaRPr>
          </a:p>
          <a:p>
            <a:endParaRPr lang="en-US" dirty="0">
              <a:latin typeface="Garamond"/>
            </a:endParaRPr>
          </a:p>
          <a:p>
            <a:pPr marL="342900" indent="-342900">
              <a:buAutoNum type="arabicPeriod"/>
            </a:pPr>
            <a:r>
              <a:rPr lang="en-US" dirty="0">
                <a:latin typeface="Garamond"/>
              </a:rPr>
              <a:t>Accuracy, Precision, Recall, F1</a:t>
            </a:r>
          </a:p>
          <a:p>
            <a:pPr marL="342900" indent="-342900">
              <a:buAutoNum type="arabicPeriod"/>
            </a:pPr>
            <a:r>
              <a:rPr lang="en-US" dirty="0">
                <a:latin typeface="Garamond"/>
              </a:rPr>
              <a:t>Per-class analysis</a:t>
            </a:r>
          </a:p>
          <a:p>
            <a:pPr marL="342900" indent="-342900">
              <a:buAutoNum type="arabicPeriod"/>
            </a:pPr>
            <a:r>
              <a:rPr lang="en-US" dirty="0">
                <a:latin typeface="Garamond"/>
              </a:rPr>
              <a:t>Confusion matrices</a:t>
            </a:r>
          </a:p>
          <a:p>
            <a:pPr marL="342900" indent="-342900">
              <a:buAutoNum type="arabicPeriod"/>
            </a:pPr>
            <a:r>
              <a:rPr lang="en-US" dirty="0">
                <a:latin typeface="Garamond"/>
              </a:rPr>
              <a:t>Model comparison</a:t>
            </a:r>
          </a:p>
        </p:txBody>
      </p:sp>
    </p:spTree>
    <p:extLst>
      <p:ext uri="{BB962C8B-B14F-4D97-AF65-F5344CB8AC3E}">
        <p14:creationId xmlns:p14="http://schemas.microsoft.com/office/powerpoint/2010/main" val="4217381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D69FC-E59D-7991-C5A7-D0D42BB1518C}"/>
              </a:ext>
            </a:extLst>
          </p:cNvPr>
          <p:cNvSpPr>
            <a:spLocks noGrp="1"/>
          </p:cNvSpPr>
          <p:nvPr>
            <p:ph type="title"/>
          </p:nvPr>
        </p:nvSpPr>
        <p:spPr/>
        <p:txBody>
          <a:bodyPr/>
          <a:lstStyle/>
          <a:p>
            <a:r>
              <a:rPr lang="en-US" sz="3600" b="1" dirty="0">
                <a:latin typeface="Mongolian Baiti"/>
                <a:cs typeface="Mongolian Baiti"/>
              </a:rPr>
              <a:t>Feature Extraction: </a:t>
            </a:r>
            <a:r>
              <a:rPr lang="en-US" sz="3600" b="1" err="1">
                <a:latin typeface="Mongolian Baiti"/>
                <a:cs typeface="Mongolian Baiti"/>
              </a:rPr>
              <a:t>CodeBERT</a:t>
            </a:r>
            <a:r>
              <a:rPr lang="en-US" sz="3600" b="1" dirty="0">
                <a:latin typeface="Mongolian Baiti"/>
                <a:cs typeface="Mongolian Baiti"/>
              </a:rPr>
              <a:t> Embeddings</a:t>
            </a:r>
            <a:endParaRPr lang="en-US" sz="3600" dirty="0">
              <a:latin typeface="Mongolian Baiti"/>
              <a:cs typeface="Mongolian Baiti"/>
            </a:endParaRPr>
          </a:p>
        </p:txBody>
      </p:sp>
      <p:sp>
        <p:nvSpPr>
          <p:cNvPr id="3" name="Content Placeholder 2">
            <a:extLst>
              <a:ext uri="{FF2B5EF4-FFF2-40B4-BE49-F238E27FC236}">
                <a16:creationId xmlns:a16="http://schemas.microsoft.com/office/drawing/2014/main" id="{45BEC85D-1882-2D17-7C7E-6F2743FCE488}"/>
              </a:ext>
            </a:extLst>
          </p:cNvPr>
          <p:cNvSpPr>
            <a:spLocks noGrp="1"/>
          </p:cNvSpPr>
          <p:nvPr>
            <p:ph idx="1"/>
          </p:nvPr>
        </p:nvSpPr>
        <p:spPr/>
        <p:txBody>
          <a:bodyPr vert="horz" lIns="91440" tIns="45720" rIns="91440" bIns="45720" rtlCol="0" anchor="t">
            <a:normAutofit/>
          </a:bodyPr>
          <a:lstStyle/>
          <a:p>
            <a:pPr marL="0" indent="0">
              <a:buNone/>
            </a:pPr>
            <a:r>
              <a:rPr lang="en-US" sz="2000" dirty="0">
                <a:latin typeface="Garamond"/>
              </a:rPr>
              <a:t>Process Steps</a:t>
            </a:r>
          </a:p>
          <a:p>
            <a:pPr marL="0" indent="0">
              <a:buNone/>
            </a:pPr>
            <a:endParaRPr lang="en-US" sz="2000" dirty="0">
              <a:latin typeface="Garamond"/>
            </a:endParaRPr>
          </a:p>
        </p:txBody>
      </p:sp>
      <p:graphicFrame>
        <p:nvGraphicFramePr>
          <p:cNvPr id="4" name="Table 3">
            <a:extLst>
              <a:ext uri="{FF2B5EF4-FFF2-40B4-BE49-F238E27FC236}">
                <a16:creationId xmlns:a16="http://schemas.microsoft.com/office/drawing/2014/main" id="{FDC2E826-39A0-AC42-2EA9-2D80700BB373}"/>
              </a:ext>
            </a:extLst>
          </p:cNvPr>
          <p:cNvGraphicFramePr>
            <a:graphicFrameLocks noGrp="1"/>
          </p:cNvGraphicFramePr>
          <p:nvPr>
            <p:extLst>
              <p:ext uri="{D42A27DB-BD31-4B8C-83A1-F6EECF244321}">
                <p14:modId xmlns:p14="http://schemas.microsoft.com/office/powerpoint/2010/main" val="1078601737"/>
              </p:ext>
            </p:extLst>
          </p:nvPr>
        </p:nvGraphicFramePr>
        <p:xfrm>
          <a:off x="841741" y="2384921"/>
          <a:ext cx="10370034" cy="3291840"/>
        </p:xfrm>
        <a:graphic>
          <a:graphicData uri="http://schemas.openxmlformats.org/drawingml/2006/table">
            <a:tbl>
              <a:tblPr firstRow="1" bandRow="1">
                <a:tableStyleId>{5C22544A-7EE6-4342-B048-85BDC9FD1C3A}</a:tableStyleId>
              </a:tblPr>
              <a:tblGrid>
                <a:gridCol w="5185017">
                  <a:extLst>
                    <a:ext uri="{9D8B030D-6E8A-4147-A177-3AD203B41FA5}">
                      <a16:colId xmlns:a16="http://schemas.microsoft.com/office/drawing/2014/main" val="3452469800"/>
                    </a:ext>
                  </a:extLst>
                </a:gridCol>
                <a:gridCol w="5185017">
                  <a:extLst>
                    <a:ext uri="{9D8B030D-6E8A-4147-A177-3AD203B41FA5}">
                      <a16:colId xmlns:a16="http://schemas.microsoft.com/office/drawing/2014/main" val="3504069196"/>
                    </a:ext>
                  </a:extLst>
                </a:gridCol>
              </a:tblGrid>
              <a:tr h="1426659">
                <a:tc>
                  <a:txBody>
                    <a:bodyPr/>
                    <a:lstStyle/>
                    <a:p>
                      <a:pPr marL="0" indent="0">
                        <a:buNone/>
                      </a:pPr>
                      <a:r>
                        <a:rPr lang="en-US" sz="2000" b="1" i="0" u="none" strike="noStrike" noProof="0" dirty="0">
                          <a:solidFill>
                            <a:schemeClr val="tx1"/>
                          </a:solidFill>
                          <a:latin typeface="Garamond"/>
                        </a:rPr>
                        <a:t>Step 1: Input: Java Code Text</a:t>
                      </a:r>
                    </a:p>
                    <a:p>
                      <a:pPr marL="0" lvl="0" indent="0">
                        <a:buNone/>
                      </a:pPr>
                      <a:endParaRPr lang="en-US" sz="1800" b="0" i="0" u="none" strike="noStrike" noProof="0" dirty="0">
                        <a:solidFill>
                          <a:schemeClr val="tx1"/>
                        </a:solidFill>
                        <a:latin typeface="Garamond"/>
                      </a:endParaRPr>
                    </a:p>
                    <a:p>
                      <a:pPr marL="342900" lvl="0" indent="-342900">
                        <a:buAutoNum type="arabicPeriod"/>
                      </a:pPr>
                      <a:endParaRPr lang="en-US" sz="1800" b="0" i="0" u="none" strike="noStrike" noProof="0" dirty="0">
                        <a:solidFill>
                          <a:schemeClr val="tx1"/>
                        </a:solidFill>
                        <a:latin typeface="Garamond"/>
                      </a:endParaRPr>
                    </a:p>
                  </a:txBody>
                  <a:tcPr>
                    <a:solidFill>
                      <a:schemeClr val="bg1"/>
                    </a:solidFill>
                  </a:tcPr>
                </a:tc>
                <a:tc>
                  <a:txBody>
                    <a:bodyPr/>
                    <a:lstStyle/>
                    <a:p>
                      <a:r>
                        <a:rPr lang="en-US" sz="2000" b="1" dirty="0">
                          <a:solidFill>
                            <a:schemeClr val="tx1"/>
                          </a:solidFill>
                          <a:latin typeface="Garamond"/>
                        </a:rPr>
                        <a:t>Step 2: </a:t>
                      </a:r>
                      <a:r>
                        <a:rPr lang="en-US" sz="2000" b="1" i="0" u="none" strike="noStrike" noProof="0" dirty="0">
                          <a:solidFill>
                            <a:schemeClr val="tx1"/>
                          </a:solidFill>
                          <a:latin typeface="Garamond"/>
                        </a:rPr>
                        <a:t>Tokenization</a:t>
                      </a:r>
                      <a:br>
                        <a:rPr lang="en-US" sz="2000" b="1" i="0" u="none" strike="noStrike" noProof="0" dirty="0">
                          <a:solidFill>
                            <a:srgbClr val="000000"/>
                          </a:solidFill>
                          <a:latin typeface="Garamond"/>
                        </a:rPr>
                      </a:br>
                      <a:endParaRPr lang="en-US" sz="2000" b="1" i="0" u="none" strike="noStrike" noProof="0">
                        <a:solidFill>
                          <a:srgbClr val="000000"/>
                        </a:solidFill>
                        <a:latin typeface="Garamond"/>
                      </a:endParaRPr>
                    </a:p>
                    <a:p>
                      <a:pPr marL="342900" lvl="0" indent="-342900">
                        <a:buAutoNum type="arabicPeriod"/>
                      </a:pPr>
                      <a:r>
                        <a:rPr lang="en-US" sz="1800" b="0" i="0" u="none" strike="noStrike" noProof="0" err="1">
                          <a:solidFill>
                            <a:schemeClr val="tx1"/>
                          </a:solidFill>
                          <a:latin typeface="Garamond"/>
                        </a:rPr>
                        <a:t>CodeBERT</a:t>
                      </a:r>
                      <a:r>
                        <a:rPr lang="en-US" sz="1800" b="0" i="0" u="none" strike="noStrike" noProof="0" dirty="0">
                          <a:solidFill>
                            <a:schemeClr val="tx1"/>
                          </a:solidFill>
                          <a:latin typeface="Garamond"/>
                        </a:rPr>
                        <a:t> tokenizer</a:t>
                      </a:r>
                    </a:p>
                    <a:p>
                      <a:pPr marL="342900" lvl="0" indent="-342900">
                        <a:buAutoNum type="arabicPeriod"/>
                      </a:pPr>
                      <a:r>
                        <a:rPr lang="en-US" sz="1800" b="0" i="0" u="none" strike="noStrike" noProof="0" dirty="0">
                          <a:solidFill>
                            <a:schemeClr val="tx1"/>
                          </a:solidFill>
                          <a:latin typeface="Garamond"/>
                        </a:rPr>
                        <a:t>Handles code-specific tokens</a:t>
                      </a:r>
                    </a:p>
                    <a:p>
                      <a:pPr marL="342900" lvl="0" indent="-342900">
                        <a:buAutoNum type="arabicPeriod"/>
                      </a:pPr>
                      <a:r>
                        <a:rPr lang="en-US" sz="1800" b="0" i="0" u="none" strike="noStrike" noProof="0" dirty="0">
                          <a:solidFill>
                            <a:schemeClr val="tx1"/>
                          </a:solidFill>
                          <a:latin typeface="Garamond"/>
                        </a:rPr>
                        <a:t>Max length: 512 tokens</a:t>
                      </a:r>
                    </a:p>
                  </a:txBody>
                  <a:tcPr>
                    <a:solidFill>
                      <a:schemeClr val="bg1"/>
                    </a:solidFill>
                  </a:tcPr>
                </a:tc>
                <a:extLst>
                  <a:ext uri="{0D108BD9-81ED-4DB2-BD59-A6C34878D82A}">
                    <a16:rowId xmlns:a16="http://schemas.microsoft.com/office/drawing/2014/main" val="2739130622"/>
                  </a:ext>
                </a:extLst>
              </a:tr>
              <a:tr h="1426659">
                <a:tc>
                  <a:txBody>
                    <a:bodyPr/>
                    <a:lstStyle/>
                    <a:p>
                      <a:endParaRPr lang="en-US" dirty="0">
                        <a:solidFill>
                          <a:schemeClr val="tx1"/>
                        </a:solidFill>
                        <a:latin typeface="Garamond"/>
                      </a:endParaRPr>
                    </a:p>
                    <a:p>
                      <a:pPr lvl="0">
                        <a:buNone/>
                      </a:pPr>
                      <a:r>
                        <a:rPr lang="en-US" sz="2000" b="1" dirty="0">
                          <a:solidFill>
                            <a:schemeClr val="tx1"/>
                          </a:solidFill>
                          <a:latin typeface="Garamond"/>
                        </a:rPr>
                        <a:t>Step 3: </a:t>
                      </a:r>
                      <a:r>
                        <a:rPr lang="en-US" sz="2000" b="1" i="0" u="none" strike="noStrike" noProof="0" err="1">
                          <a:solidFill>
                            <a:schemeClr val="tx1"/>
                          </a:solidFill>
                          <a:latin typeface="Garamond"/>
                        </a:rPr>
                        <a:t>CodeBERT</a:t>
                      </a:r>
                      <a:r>
                        <a:rPr lang="en-US" sz="2000" b="1" i="0" u="none" strike="noStrike" noProof="0" dirty="0">
                          <a:solidFill>
                            <a:schemeClr val="tx1"/>
                          </a:solidFill>
                          <a:latin typeface="Garamond"/>
                        </a:rPr>
                        <a:t> Encoding</a:t>
                      </a:r>
                    </a:p>
                    <a:p>
                      <a:pPr lvl="0">
                        <a:buNone/>
                      </a:pPr>
                      <a:endParaRPr lang="en-US" sz="1800" b="1" i="0" u="none" strike="noStrike" noProof="0" dirty="0">
                        <a:solidFill>
                          <a:schemeClr val="tx1"/>
                        </a:solidFill>
                        <a:latin typeface="Garamond"/>
                      </a:endParaRPr>
                    </a:p>
                    <a:p>
                      <a:pPr marL="342900" lvl="0" indent="-342900">
                        <a:buAutoNum type="arabicPeriod"/>
                      </a:pPr>
                      <a:r>
                        <a:rPr lang="en-US" sz="1800" b="0" i="0" u="none" strike="noStrike" noProof="0" dirty="0">
                          <a:solidFill>
                            <a:schemeClr val="tx1"/>
                          </a:solidFill>
                          <a:latin typeface="Garamond"/>
                        </a:rPr>
                        <a:t>Model: </a:t>
                      </a:r>
                      <a:r>
                        <a:rPr lang="en-US" sz="1800" b="0" i="0" u="none" strike="noStrike" noProof="0" err="1">
                          <a:solidFill>
                            <a:schemeClr val="tx1"/>
                          </a:solidFill>
                          <a:latin typeface="Garamond"/>
                        </a:rPr>
                        <a:t>microsoft</a:t>
                      </a:r>
                      <a:r>
                        <a:rPr lang="en-US" sz="1800" b="0" i="0" u="none" strike="noStrike" noProof="0" dirty="0">
                          <a:solidFill>
                            <a:schemeClr val="tx1"/>
                          </a:solidFill>
                          <a:latin typeface="Garamond"/>
                        </a:rPr>
                        <a:t>/</a:t>
                      </a:r>
                      <a:r>
                        <a:rPr lang="en-US" sz="1800" b="0" i="0" u="none" strike="noStrike" noProof="0" err="1">
                          <a:solidFill>
                            <a:schemeClr val="tx1"/>
                          </a:solidFill>
                          <a:latin typeface="Garamond"/>
                        </a:rPr>
                        <a:t>codebert</a:t>
                      </a:r>
                      <a:r>
                        <a:rPr lang="en-US" sz="1800" b="0" i="0" u="none" strike="noStrike" noProof="0" dirty="0">
                          <a:solidFill>
                            <a:schemeClr val="tx1"/>
                          </a:solidFill>
                          <a:latin typeface="Garamond"/>
                        </a:rPr>
                        <a:t>-base</a:t>
                      </a:r>
                    </a:p>
                    <a:p>
                      <a:pPr marL="342900" lvl="0" indent="-342900">
                        <a:buAutoNum type="arabicPeriod"/>
                      </a:pPr>
                      <a:r>
                        <a:rPr lang="en-US" sz="1800" b="0" i="0" u="none" strike="noStrike" noProof="0" dirty="0">
                          <a:solidFill>
                            <a:schemeClr val="tx1"/>
                          </a:solidFill>
                          <a:latin typeface="Garamond"/>
                        </a:rPr>
                        <a:t>12 transformer layers</a:t>
                      </a:r>
                    </a:p>
                    <a:p>
                      <a:pPr marL="342900" lvl="0" indent="-342900">
                        <a:buAutoNum type="arabicPeriod"/>
                      </a:pPr>
                      <a:r>
                        <a:rPr lang="en-US" sz="1800" b="0" i="0" u="none" strike="noStrike" noProof="0" dirty="0">
                          <a:solidFill>
                            <a:schemeClr val="tx1"/>
                          </a:solidFill>
                          <a:latin typeface="Garamond"/>
                        </a:rPr>
                        <a:t>768 hidden dimensions</a:t>
                      </a:r>
                    </a:p>
                  </a:txBody>
                  <a:tcPr>
                    <a:solidFill>
                      <a:schemeClr val="bg1"/>
                    </a:solidFill>
                  </a:tcPr>
                </a:tc>
                <a:tc>
                  <a:txBody>
                    <a:bodyPr/>
                    <a:lstStyle/>
                    <a:p>
                      <a:endParaRPr lang="en-US" dirty="0">
                        <a:solidFill>
                          <a:schemeClr val="tx1"/>
                        </a:solidFill>
                        <a:latin typeface="Garamond"/>
                      </a:endParaRPr>
                    </a:p>
                    <a:p>
                      <a:pPr lvl="0">
                        <a:buNone/>
                      </a:pPr>
                      <a:r>
                        <a:rPr lang="en-US" sz="2000" b="1" dirty="0">
                          <a:solidFill>
                            <a:schemeClr val="tx1"/>
                          </a:solidFill>
                          <a:latin typeface="Garamond"/>
                        </a:rPr>
                        <a:t>Step 4: </a:t>
                      </a:r>
                      <a:r>
                        <a:rPr lang="en-US" sz="2000" b="1" i="0" u="none" strike="noStrike" noProof="0" dirty="0">
                          <a:solidFill>
                            <a:schemeClr val="tx1"/>
                          </a:solidFill>
                          <a:latin typeface="Garamond"/>
                        </a:rPr>
                        <a:t>Output: 768-D Embedding</a:t>
                      </a:r>
                    </a:p>
                    <a:p>
                      <a:pPr lvl="0">
                        <a:buNone/>
                      </a:pPr>
                      <a:endParaRPr lang="en-US" dirty="0">
                        <a:solidFill>
                          <a:schemeClr val="tx1"/>
                        </a:solidFill>
                        <a:latin typeface="Garamond"/>
                      </a:endParaRPr>
                    </a:p>
                    <a:p>
                      <a:pPr lvl="0">
                        <a:buNone/>
                      </a:pPr>
                      <a:endParaRPr lang="en-US" dirty="0">
                        <a:solidFill>
                          <a:schemeClr val="tx1"/>
                        </a:solidFill>
                        <a:latin typeface="Garamond"/>
                      </a:endParaRPr>
                    </a:p>
                  </a:txBody>
                  <a:tcPr>
                    <a:solidFill>
                      <a:schemeClr val="bg1"/>
                    </a:solidFill>
                  </a:tcPr>
                </a:tc>
                <a:extLst>
                  <a:ext uri="{0D108BD9-81ED-4DB2-BD59-A6C34878D82A}">
                    <a16:rowId xmlns:a16="http://schemas.microsoft.com/office/drawing/2014/main" val="3835659638"/>
                  </a:ext>
                </a:extLst>
              </a:tr>
            </a:tbl>
          </a:graphicData>
        </a:graphic>
      </p:graphicFrame>
      <p:pic>
        <p:nvPicPr>
          <p:cNvPr id="5" name="Picture 4" descr="A black screen with white text&#10;&#10;AI-generated content may be incorrect.">
            <a:extLst>
              <a:ext uri="{FF2B5EF4-FFF2-40B4-BE49-F238E27FC236}">
                <a16:creationId xmlns:a16="http://schemas.microsoft.com/office/drawing/2014/main" id="{72412534-6015-B186-21D0-146EE12AA061}"/>
              </a:ext>
            </a:extLst>
          </p:cNvPr>
          <p:cNvPicPr>
            <a:picLocks noChangeAspect="1"/>
          </p:cNvPicPr>
          <p:nvPr/>
        </p:nvPicPr>
        <p:blipFill>
          <a:blip r:embed="rId3"/>
          <a:stretch>
            <a:fillRect/>
          </a:stretch>
        </p:blipFill>
        <p:spPr>
          <a:xfrm>
            <a:off x="841471" y="2842298"/>
            <a:ext cx="3289301" cy="1127222"/>
          </a:xfrm>
          <a:prstGeom prst="rect">
            <a:avLst/>
          </a:prstGeom>
        </p:spPr>
      </p:pic>
      <p:pic>
        <p:nvPicPr>
          <p:cNvPr id="6" name="Picture 5" descr="A black background with white text&#10;&#10;AI-generated content may be incorrect.">
            <a:extLst>
              <a:ext uri="{FF2B5EF4-FFF2-40B4-BE49-F238E27FC236}">
                <a16:creationId xmlns:a16="http://schemas.microsoft.com/office/drawing/2014/main" id="{6D53BE24-4889-C3C0-268E-E6762134445E}"/>
              </a:ext>
            </a:extLst>
          </p:cNvPr>
          <p:cNvPicPr>
            <a:picLocks noChangeAspect="1"/>
          </p:cNvPicPr>
          <p:nvPr/>
        </p:nvPicPr>
        <p:blipFill>
          <a:blip r:embed="rId4"/>
          <a:stretch>
            <a:fillRect/>
          </a:stretch>
        </p:blipFill>
        <p:spPr>
          <a:xfrm>
            <a:off x="6078682" y="4618374"/>
            <a:ext cx="4221788" cy="1131070"/>
          </a:xfrm>
          <a:prstGeom prst="rect">
            <a:avLst/>
          </a:prstGeom>
        </p:spPr>
      </p:pic>
      <p:sp>
        <p:nvSpPr>
          <p:cNvPr id="7" name="TextBox 6">
            <a:extLst>
              <a:ext uri="{FF2B5EF4-FFF2-40B4-BE49-F238E27FC236}">
                <a16:creationId xmlns:a16="http://schemas.microsoft.com/office/drawing/2014/main" id="{3A2F1B7E-C0A6-8A9A-B3D9-3F12410EB580}"/>
              </a:ext>
            </a:extLst>
          </p:cNvPr>
          <p:cNvSpPr txBox="1"/>
          <p:nvPr/>
        </p:nvSpPr>
        <p:spPr>
          <a:xfrm>
            <a:off x="939030" y="6111394"/>
            <a:ext cx="95442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solidFill>
                  <a:srgbClr val="C00000"/>
                </a:solidFill>
                <a:latin typeface="Garamond"/>
              </a:rPr>
              <a:t>💡 </a:t>
            </a:r>
            <a:r>
              <a:rPr lang="en-US" sz="2000" dirty="0">
                <a:solidFill>
                  <a:srgbClr val="C00000"/>
                </a:solidFill>
                <a:latin typeface="Garamond"/>
                <a:ea typeface="+mn-lt"/>
                <a:cs typeface="+mn-lt"/>
              </a:rPr>
              <a:t>Same embedding used for both RF and MLP to ensure a fair comparison.</a:t>
            </a:r>
            <a:endParaRPr lang="en-US" dirty="0">
              <a:solidFill>
                <a:srgbClr val="C00000"/>
              </a:solidFill>
              <a:latin typeface="Garamond"/>
            </a:endParaRPr>
          </a:p>
        </p:txBody>
      </p:sp>
    </p:spTree>
    <p:extLst>
      <p:ext uri="{BB962C8B-B14F-4D97-AF65-F5344CB8AC3E}">
        <p14:creationId xmlns:p14="http://schemas.microsoft.com/office/powerpoint/2010/main" val="873871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0934A-FCA4-C183-72FF-070351F63E78}"/>
              </a:ext>
            </a:extLst>
          </p:cNvPr>
          <p:cNvSpPr>
            <a:spLocks noGrp="1"/>
          </p:cNvSpPr>
          <p:nvPr>
            <p:ph type="title"/>
          </p:nvPr>
        </p:nvSpPr>
        <p:spPr/>
        <p:txBody>
          <a:bodyPr>
            <a:normAutofit/>
          </a:bodyPr>
          <a:lstStyle/>
          <a:p>
            <a:r>
              <a:rPr lang="en-US" sz="3600" b="1" dirty="0">
                <a:latin typeface="Mongolian Baiti"/>
                <a:ea typeface="+mj-lt"/>
                <a:cs typeface="+mj-lt"/>
              </a:rPr>
              <a:t>Random Forest Classifier</a:t>
            </a:r>
            <a:endParaRPr lang="en-US" sz="3600" dirty="0">
              <a:latin typeface="Mongolian Baiti"/>
              <a:cs typeface="Mongolian Baiti"/>
            </a:endParaRPr>
          </a:p>
        </p:txBody>
      </p:sp>
      <p:pic>
        <p:nvPicPr>
          <p:cNvPr id="4" name="Picture 3" descr="A diagram of a tree&#10;&#10;AI-generated content may be incorrect.">
            <a:extLst>
              <a:ext uri="{FF2B5EF4-FFF2-40B4-BE49-F238E27FC236}">
                <a16:creationId xmlns:a16="http://schemas.microsoft.com/office/drawing/2014/main" id="{75DDB6C5-B81B-88D5-C7FF-7172B7C53CC9}"/>
              </a:ext>
            </a:extLst>
          </p:cNvPr>
          <p:cNvPicPr>
            <a:picLocks noChangeAspect="1"/>
          </p:cNvPicPr>
          <p:nvPr/>
        </p:nvPicPr>
        <p:blipFill>
          <a:blip r:embed="rId3"/>
          <a:stretch>
            <a:fillRect/>
          </a:stretch>
        </p:blipFill>
        <p:spPr>
          <a:xfrm>
            <a:off x="2951505" y="1293090"/>
            <a:ext cx="6273597" cy="4641274"/>
          </a:xfrm>
          <a:prstGeom prst="rect">
            <a:avLst/>
          </a:prstGeom>
        </p:spPr>
      </p:pic>
      <p:sp>
        <p:nvSpPr>
          <p:cNvPr id="5" name="TextBox 4">
            <a:extLst>
              <a:ext uri="{FF2B5EF4-FFF2-40B4-BE49-F238E27FC236}">
                <a16:creationId xmlns:a16="http://schemas.microsoft.com/office/drawing/2014/main" id="{AB3505DB-1EB7-6505-A740-1764692C2E5B}"/>
              </a:ext>
            </a:extLst>
          </p:cNvPr>
          <p:cNvSpPr txBox="1"/>
          <p:nvPr/>
        </p:nvSpPr>
        <p:spPr>
          <a:xfrm>
            <a:off x="307878" y="6219151"/>
            <a:ext cx="1017539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solidFill>
                  <a:srgbClr val="C00000"/>
                </a:solidFill>
                <a:latin typeface="Garamond"/>
              </a:rPr>
              <a:t>Random Forest provides interpretability through feature importance analysis</a:t>
            </a:r>
          </a:p>
        </p:txBody>
      </p:sp>
    </p:spTree>
    <p:extLst>
      <p:ext uri="{BB962C8B-B14F-4D97-AF65-F5344CB8AC3E}">
        <p14:creationId xmlns:p14="http://schemas.microsoft.com/office/powerpoint/2010/main" val="3246957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D63CC-161F-3881-C9D3-B56B64458E14}"/>
              </a:ext>
            </a:extLst>
          </p:cNvPr>
          <p:cNvSpPr>
            <a:spLocks noGrp="1"/>
          </p:cNvSpPr>
          <p:nvPr>
            <p:ph type="title"/>
          </p:nvPr>
        </p:nvSpPr>
        <p:spPr/>
        <p:txBody>
          <a:bodyPr>
            <a:normAutofit/>
          </a:bodyPr>
          <a:lstStyle/>
          <a:p>
            <a:r>
              <a:rPr lang="en-US" sz="3600" dirty="0">
                <a:latin typeface="Mongolian Baiti"/>
                <a:ea typeface="+mj-lt"/>
                <a:cs typeface="+mj-lt"/>
              </a:rPr>
              <a:t>Experimental Setup</a:t>
            </a:r>
            <a:endParaRPr lang="en-US" sz="3600" dirty="0">
              <a:latin typeface="Mongolian Baiti"/>
            </a:endParaRPr>
          </a:p>
        </p:txBody>
      </p:sp>
      <p:graphicFrame>
        <p:nvGraphicFramePr>
          <p:cNvPr id="4" name="Table 3">
            <a:extLst>
              <a:ext uri="{FF2B5EF4-FFF2-40B4-BE49-F238E27FC236}">
                <a16:creationId xmlns:a16="http://schemas.microsoft.com/office/drawing/2014/main" id="{466CBDE8-D9C8-2DC9-7CE0-AC667AED0C42}"/>
              </a:ext>
            </a:extLst>
          </p:cNvPr>
          <p:cNvGraphicFramePr>
            <a:graphicFrameLocks noGrp="1"/>
          </p:cNvGraphicFramePr>
          <p:nvPr>
            <p:extLst>
              <p:ext uri="{D42A27DB-BD31-4B8C-83A1-F6EECF244321}">
                <p14:modId xmlns:p14="http://schemas.microsoft.com/office/powerpoint/2010/main" val="2802254213"/>
              </p:ext>
            </p:extLst>
          </p:nvPr>
        </p:nvGraphicFramePr>
        <p:xfrm>
          <a:off x="841741" y="1984679"/>
          <a:ext cx="9831232" cy="3334712"/>
        </p:xfrm>
        <a:graphic>
          <a:graphicData uri="http://schemas.openxmlformats.org/drawingml/2006/table">
            <a:tbl>
              <a:tblPr firstRow="1" bandRow="1">
                <a:tableStyleId>{5C22544A-7EE6-4342-B048-85BDC9FD1C3A}</a:tableStyleId>
              </a:tblPr>
              <a:tblGrid>
                <a:gridCol w="4915616">
                  <a:extLst>
                    <a:ext uri="{9D8B030D-6E8A-4147-A177-3AD203B41FA5}">
                      <a16:colId xmlns:a16="http://schemas.microsoft.com/office/drawing/2014/main" val="1337144015"/>
                    </a:ext>
                  </a:extLst>
                </a:gridCol>
                <a:gridCol w="4915616">
                  <a:extLst>
                    <a:ext uri="{9D8B030D-6E8A-4147-A177-3AD203B41FA5}">
                      <a16:colId xmlns:a16="http://schemas.microsoft.com/office/drawing/2014/main" val="3142835271"/>
                    </a:ext>
                  </a:extLst>
                </a:gridCol>
              </a:tblGrid>
              <a:tr h="1159953">
                <a:tc>
                  <a:txBody>
                    <a:bodyPr/>
                    <a:lstStyle/>
                    <a:p>
                      <a:pPr lvl="0">
                        <a:buNone/>
                      </a:pPr>
                      <a:r>
                        <a:rPr lang="en-US" sz="2000" b="1" i="0" u="none" strike="noStrike" noProof="0" dirty="0">
                          <a:solidFill>
                            <a:schemeClr val="tx1"/>
                          </a:solidFill>
                          <a:latin typeface="Garamond"/>
                        </a:rPr>
                        <a:t>Accuracy</a:t>
                      </a:r>
                    </a:p>
                    <a:p>
                      <a:pPr marL="342900" lvl="0" indent="-342900">
                        <a:buAutoNum type="arabicPeriod"/>
                      </a:pPr>
                      <a:r>
                        <a:rPr lang="en-US" sz="1800" b="0" i="0" u="none" strike="noStrike" noProof="0" dirty="0">
                          <a:solidFill>
                            <a:schemeClr val="tx1"/>
                          </a:solidFill>
                          <a:latin typeface="Garamond"/>
                        </a:rPr>
                        <a:t>Overall correctness</a:t>
                      </a:r>
                    </a:p>
                    <a:p>
                      <a:pPr marL="342900" lvl="0" indent="-342900">
                        <a:buAutoNum type="arabicPeriod"/>
                      </a:pPr>
                      <a:r>
                        <a:rPr lang="en-US" sz="1800" b="0" i="0" u="none" strike="noStrike" noProof="0" dirty="0">
                          <a:solidFill>
                            <a:schemeClr val="tx1"/>
                          </a:solidFill>
                          <a:latin typeface="Garamond"/>
                        </a:rPr>
                        <a:t>(TP + TN) / Total</a:t>
                      </a:r>
                    </a:p>
                  </a:txBody>
                  <a:tcPr>
                    <a:solidFill>
                      <a:schemeClr val="bg1"/>
                    </a:solidFill>
                  </a:tcPr>
                </a:tc>
                <a:tc>
                  <a:txBody>
                    <a:bodyPr/>
                    <a:lstStyle/>
                    <a:p>
                      <a:pPr lvl="0">
                        <a:buNone/>
                      </a:pPr>
                      <a:r>
                        <a:rPr lang="en-US" sz="2000" b="1" i="0" u="none" strike="noStrike" noProof="0" dirty="0">
                          <a:solidFill>
                            <a:schemeClr val="tx1"/>
                          </a:solidFill>
                          <a:latin typeface="Garamond"/>
                        </a:rPr>
                        <a:t>Precision</a:t>
                      </a:r>
                    </a:p>
                    <a:p>
                      <a:pPr marL="342900" lvl="0" indent="-342900">
                        <a:buAutoNum type="arabicPeriod"/>
                      </a:pPr>
                      <a:r>
                        <a:rPr lang="en-US" sz="1800" b="0" i="0" u="none" strike="noStrike" noProof="0" dirty="0">
                          <a:solidFill>
                            <a:schemeClr val="tx1"/>
                          </a:solidFill>
                          <a:latin typeface="Garamond"/>
                        </a:rPr>
                        <a:t>True positives / (TP + FP)</a:t>
                      </a:r>
                    </a:p>
                    <a:p>
                      <a:pPr marL="342900" lvl="0" indent="-342900">
                        <a:buAutoNum type="arabicPeriod"/>
                      </a:pPr>
                      <a:r>
                        <a:rPr lang="en-US" sz="1800" b="0" i="0" u="none" strike="noStrike" noProof="0" dirty="0">
                          <a:solidFill>
                            <a:schemeClr val="tx1"/>
                          </a:solidFill>
                          <a:latin typeface="Garamond"/>
                        </a:rPr>
                        <a:t>How many detected are actually smelly</a:t>
                      </a:r>
                      <a:br>
                        <a:rPr lang="en-US" sz="1800" b="0" i="0" u="none" strike="noStrike" noProof="0" dirty="0">
                          <a:solidFill>
                            <a:srgbClr val="000000"/>
                          </a:solidFill>
                          <a:latin typeface="Garamond"/>
                        </a:rPr>
                      </a:br>
                      <a:endParaRPr lang="en-US" sz="1800" b="0" i="0" u="none" strike="noStrike" noProof="0" dirty="0">
                        <a:solidFill>
                          <a:srgbClr val="000000"/>
                        </a:solidFill>
                        <a:latin typeface="Garamond"/>
                      </a:endParaRPr>
                    </a:p>
                    <a:p>
                      <a:pPr marL="0" lvl="0" indent="0">
                        <a:buNone/>
                      </a:pPr>
                      <a:endParaRPr lang="en-US" sz="1800" b="0" i="0" u="none" strike="noStrike" noProof="0" dirty="0">
                        <a:solidFill>
                          <a:schemeClr val="tx1"/>
                        </a:solidFill>
                        <a:latin typeface="Garamond"/>
                      </a:endParaRPr>
                    </a:p>
                  </a:txBody>
                  <a:tcPr>
                    <a:solidFill>
                      <a:schemeClr val="bg1"/>
                    </a:solidFill>
                  </a:tcPr>
                </a:tc>
                <a:extLst>
                  <a:ext uri="{0D108BD9-81ED-4DB2-BD59-A6C34878D82A}">
                    <a16:rowId xmlns:a16="http://schemas.microsoft.com/office/drawing/2014/main" val="1983903794"/>
                  </a:ext>
                </a:extLst>
              </a:tr>
              <a:tr h="1841192">
                <a:tc>
                  <a:txBody>
                    <a:bodyPr/>
                    <a:lstStyle/>
                    <a:p>
                      <a:pPr lvl="0">
                        <a:buNone/>
                      </a:pPr>
                      <a:r>
                        <a:rPr lang="en-US" sz="2000" b="1" i="0" u="none" strike="noStrike" noProof="0" dirty="0">
                          <a:solidFill>
                            <a:schemeClr val="tx1"/>
                          </a:solidFill>
                          <a:latin typeface="Garamond"/>
                        </a:rPr>
                        <a:t>Recall:</a:t>
                      </a:r>
                    </a:p>
                    <a:p>
                      <a:pPr marL="342900" lvl="0" indent="-342900">
                        <a:buAutoNum type="arabicPeriod"/>
                      </a:pPr>
                      <a:r>
                        <a:rPr lang="en-US" sz="1800" b="0" i="0" u="none" strike="noStrike" noProof="0" dirty="0">
                          <a:solidFill>
                            <a:schemeClr val="tx1"/>
                          </a:solidFill>
                          <a:latin typeface="Garamond"/>
                        </a:rPr>
                        <a:t>True positives / (TP + FN)</a:t>
                      </a:r>
                    </a:p>
                    <a:p>
                      <a:pPr marL="342900" lvl="0" indent="-342900">
                        <a:buAutoNum type="arabicPeriod"/>
                      </a:pPr>
                      <a:r>
                        <a:rPr lang="en-US" sz="1800" b="0" i="0" u="none" strike="noStrike" noProof="0" dirty="0">
                          <a:solidFill>
                            <a:schemeClr val="tx1"/>
                          </a:solidFill>
                          <a:latin typeface="Garamond"/>
                        </a:rPr>
                        <a:t>How many smelly code we catch</a:t>
                      </a:r>
                    </a:p>
                  </a:txBody>
                  <a:tcPr>
                    <a:solidFill>
                      <a:schemeClr val="bg1"/>
                    </a:solidFill>
                  </a:tcPr>
                </a:tc>
                <a:tc>
                  <a:txBody>
                    <a:bodyPr/>
                    <a:lstStyle/>
                    <a:p>
                      <a:pPr lvl="0">
                        <a:buNone/>
                      </a:pPr>
                      <a:r>
                        <a:rPr lang="en-US" sz="2000" b="1" i="0" u="none" strike="noStrike" noProof="0" dirty="0">
                          <a:solidFill>
                            <a:schemeClr val="tx1"/>
                          </a:solidFill>
                          <a:latin typeface="Garamond"/>
                        </a:rPr>
                        <a:t>F1-Score:</a:t>
                      </a:r>
                    </a:p>
                    <a:p>
                      <a:pPr marL="342900" lvl="0" indent="-342900">
                        <a:buAutoNum type="arabicPeriod"/>
                      </a:pPr>
                      <a:r>
                        <a:rPr lang="en-US" sz="1800" b="0" i="0" u="none" strike="noStrike" noProof="0" dirty="0">
                          <a:solidFill>
                            <a:schemeClr val="tx1"/>
                          </a:solidFill>
                          <a:latin typeface="Garamond"/>
                        </a:rPr>
                        <a:t>Harmonic mean of Precision and Recall</a:t>
                      </a:r>
                    </a:p>
                    <a:p>
                      <a:pPr marL="342900" lvl="0" indent="-342900">
                        <a:buAutoNum type="arabicPeriod"/>
                      </a:pPr>
                      <a:r>
                        <a:rPr lang="en-US" sz="1800" b="0" i="0" u="none" strike="noStrike" noProof="0" dirty="0">
                          <a:solidFill>
                            <a:schemeClr val="tx1"/>
                          </a:solidFill>
                          <a:latin typeface="Garamond"/>
                        </a:rPr>
                        <a:t>Balanced performance measure</a:t>
                      </a:r>
                    </a:p>
                    <a:p>
                      <a:pPr marL="342900" lvl="0" indent="-342900">
                        <a:buAutoNum type="arabicPeriod"/>
                      </a:pPr>
                      <a:endParaRPr lang="en-US" sz="1800" b="0" i="0" u="none" strike="noStrike" noProof="0" dirty="0">
                        <a:solidFill>
                          <a:schemeClr val="tx1"/>
                        </a:solidFill>
                        <a:latin typeface="Garamond"/>
                      </a:endParaRPr>
                    </a:p>
                  </a:txBody>
                  <a:tcPr>
                    <a:solidFill>
                      <a:schemeClr val="bg1"/>
                    </a:solidFill>
                  </a:tcPr>
                </a:tc>
                <a:extLst>
                  <a:ext uri="{0D108BD9-81ED-4DB2-BD59-A6C34878D82A}">
                    <a16:rowId xmlns:a16="http://schemas.microsoft.com/office/drawing/2014/main" val="3943475667"/>
                  </a:ext>
                </a:extLst>
              </a:tr>
            </a:tbl>
          </a:graphicData>
        </a:graphic>
      </p:graphicFrame>
      <p:sp>
        <p:nvSpPr>
          <p:cNvPr id="5" name="TextBox 4">
            <a:extLst>
              <a:ext uri="{FF2B5EF4-FFF2-40B4-BE49-F238E27FC236}">
                <a16:creationId xmlns:a16="http://schemas.microsoft.com/office/drawing/2014/main" id="{25ADD0F8-0C86-F12A-ABD8-C8635EFC3091}"/>
              </a:ext>
            </a:extLst>
          </p:cNvPr>
          <p:cNvSpPr txBox="1"/>
          <p:nvPr/>
        </p:nvSpPr>
        <p:spPr>
          <a:xfrm>
            <a:off x="892848" y="1400848"/>
            <a:ext cx="509539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Garamond"/>
                <a:ea typeface="+mn-lt"/>
                <a:cs typeface="+mn-lt"/>
              </a:rPr>
              <a:t>Evaluation Metrics</a:t>
            </a:r>
            <a:endParaRPr lang="en-US" sz="2000">
              <a:latin typeface="Garamond"/>
            </a:endParaRPr>
          </a:p>
        </p:txBody>
      </p:sp>
      <p:sp>
        <p:nvSpPr>
          <p:cNvPr id="6" name="TextBox 5">
            <a:extLst>
              <a:ext uri="{FF2B5EF4-FFF2-40B4-BE49-F238E27FC236}">
                <a16:creationId xmlns:a16="http://schemas.microsoft.com/office/drawing/2014/main" id="{04B1C2C9-817C-FDD0-7325-9761F2C20D73}"/>
              </a:ext>
            </a:extLst>
          </p:cNvPr>
          <p:cNvSpPr txBox="1"/>
          <p:nvPr/>
        </p:nvSpPr>
        <p:spPr>
          <a:xfrm>
            <a:off x="923636" y="5741939"/>
            <a:ext cx="1014460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rgbClr val="C00000"/>
                </a:solidFill>
                <a:latin typeface="Garamond"/>
                <a:ea typeface="+mn-lt"/>
                <a:cs typeface="+mn-lt"/>
              </a:rPr>
              <a:t>Comprehensive evaluation ensures robust and reliable results</a:t>
            </a:r>
            <a:endParaRPr lang="en-US" sz="2000">
              <a:solidFill>
                <a:srgbClr val="C00000"/>
              </a:solidFill>
              <a:latin typeface="Garamond"/>
            </a:endParaRPr>
          </a:p>
        </p:txBody>
      </p:sp>
    </p:spTree>
    <p:extLst>
      <p:ext uri="{BB962C8B-B14F-4D97-AF65-F5344CB8AC3E}">
        <p14:creationId xmlns:p14="http://schemas.microsoft.com/office/powerpoint/2010/main" val="1884384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17E97-909F-CDF1-19A8-221BD4A47C14}"/>
              </a:ext>
            </a:extLst>
          </p:cNvPr>
          <p:cNvSpPr>
            <a:spLocks noGrp="1"/>
          </p:cNvSpPr>
          <p:nvPr>
            <p:ph type="title"/>
          </p:nvPr>
        </p:nvSpPr>
        <p:spPr/>
        <p:txBody>
          <a:bodyPr>
            <a:normAutofit/>
          </a:bodyPr>
          <a:lstStyle/>
          <a:p>
            <a:r>
              <a:rPr lang="en-US" sz="3600" b="1" dirty="0">
                <a:latin typeface="Mongolian Baiti"/>
                <a:ea typeface="+mj-lt"/>
                <a:cs typeface="+mj-lt"/>
              </a:rPr>
              <a:t>Results: Strong Performance Across Both Models</a:t>
            </a:r>
            <a:endParaRPr lang="en-US" sz="3600" b="1" dirty="0">
              <a:latin typeface="Mongolian Baiti"/>
            </a:endParaRPr>
          </a:p>
        </p:txBody>
      </p:sp>
      <p:graphicFrame>
        <p:nvGraphicFramePr>
          <p:cNvPr id="4" name="Table 3">
            <a:extLst>
              <a:ext uri="{FF2B5EF4-FFF2-40B4-BE49-F238E27FC236}">
                <a16:creationId xmlns:a16="http://schemas.microsoft.com/office/drawing/2014/main" id="{A8F04781-03C3-B30F-37FF-AD435FE23E28}"/>
              </a:ext>
            </a:extLst>
          </p:cNvPr>
          <p:cNvGraphicFramePr>
            <a:graphicFrameLocks noGrp="1"/>
          </p:cNvGraphicFramePr>
          <p:nvPr>
            <p:extLst>
              <p:ext uri="{D42A27DB-BD31-4B8C-83A1-F6EECF244321}">
                <p14:modId xmlns:p14="http://schemas.microsoft.com/office/powerpoint/2010/main" val="2009439611"/>
              </p:ext>
            </p:extLst>
          </p:nvPr>
        </p:nvGraphicFramePr>
        <p:xfrm>
          <a:off x="841741" y="1699891"/>
          <a:ext cx="10308456" cy="3818087"/>
        </p:xfrm>
        <a:graphic>
          <a:graphicData uri="http://schemas.openxmlformats.org/drawingml/2006/table">
            <a:tbl>
              <a:tblPr firstRow="1" bandRow="1">
                <a:tableStyleId>{5C22544A-7EE6-4342-B048-85BDC9FD1C3A}</a:tableStyleId>
              </a:tblPr>
              <a:tblGrid>
                <a:gridCol w="5141575">
                  <a:extLst>
                    <a:ext uri="{9D8B030D-6E8A-4147-A177-3AD203B41FA5}">
                      <a16:colId xmlns:a16="http://schemas.microsoft.com/office/drawing/2014/main" val="4216742392"/>
                    </a:ext>
                  </a:extLst>
                </a:gridCol>
                <a:gridCol w="5166881">
                  <a:extLst>
                    <a:ext uri="{9D8B030D-6E8A-4147-A177-3AD203B41FA5}">
                      <a16:colId xmlns:a16="http://schemas.microsoft.com/office/drawing/2014/main" val="2688171097"/>
                    </a:ext>
                  </a:extLst>
                </a:gridCol>
              </a:tblGrid>
              <a:tr h="2828728">
                <a:tc>
                  <a:txBody>
                    <a:bodyPr/>
                    <a:lstStyle/>
                    <a:p>
                      <a:pPr lvl="0" algn="ctr">
                        <a:lnSpc>
                          <a:spcPct val="100000"/>
                        </a:lnSpc>
                        <a:spcBef>
                          <a:spcPts val="0"/>
                        </a:spcBef>
                        <a:spcAft>
                          <a:spcPts val="0"/>
                        </a:spcAft>
                        <a:buNone/>
                      </a:pPr>
                      <a:r>
                        <a:rPr lang="en-US" sz="2000" b="1" i="0" u="none" strike="noStrike" noProof="0" dirty="0">
                          <a:solidFill>
                            <a:schemeClr val="accent4">
                              <a:lumMod val="60000"/>
                              <a:lumOff val="40000"/>
                            </a:schemeClr>
                          </a:solidFill>
                          <a:latin typeface="Garamond"/>
                        </a:rPr>
                        <a:t>Random Forest Results</a:t>
                      </a:r>
                      <a:br>
                        <a:rPr lang="en-US" sz="2000" b="1" i="0" u="none" strike="noStrike" noProof="0" dirty="0">
                          <a:solidFill>
                            <a:srgbClr val="61CBF4"/>
                          </a:solidFill>
                          <a:latin typeface="Garamond"/>
                        </a:rPr>
                      </a:br>
                      <a:endParaRPr lang="en-US" sz="2000" b="1" i="0" u="none" strike="noStrike" noProof="0" dirty="0">
                        <a:solidFill>
                          <a:srgbClr val="61CBF4"/>
                        </a:solidFill>
                        <a:latin typeface="Garamond"/>
                      </a:endParaRPr>
                    </a:p>
                    <a:p>
                      <a:pPr lvl="0" algn="l">
                        <a:lnSpc>
                          <a:spcPct val="100000"/>
                        </a:lnSpc>
                        <a:spcBef>
                          <a:spcPts val="0"/>
                        </a:spcBef>
                        <a:spcAft>
                          <a:spcPts val="0"/>
                        </a:spcAft>
                        <a:buNone/>
                      </a:pPr>
                      <a:r>
                        <a:rPr lang="en-US" sz="1800" b="0" i="0" u="none" strike="noStrike" noProof="0" dirty="0">
                          <a:solidFill>
                            <a:schemeClr val="tx2">
                              <a:lumMod val="49000"/>
                              <a:lumOff val="51000"/>
                            </a:schemeClr>
                          </a:solidFill>
                          <a:latin typeface="Garamond"/>
                        </a:rPr>
                        <a:t>Overall Performance:</a:t>
                      </a:r>
                    </a:p>
                    <a:p>
                      <a:pPr marL="342900" lvl="0" indent="-342900" algn="l">
                        <a:lnSpc>
                          <a:spcPct val="100000"/>
                        </a:lnSpc>
                        <a:spcBef>
                          <a:spcPts val="0"/>
                        </a:spcBef>
                        <a:spcAft>
                          <a:spcPts val="0"/>
                        </a:spcAft>
                        <a:buAutoNum type="arabicPeriod"/>
                      </a:pPr>
                      <a:r>
                        <a:rPr lang="en-US" sz="1800" b="0" i="0" u="none" strike="noStrike" noProof="0" dirty="0">
                          <a:solidFill>
                            <a:schemeClr val="tx1"/>
                          </a:solidFill>
                          <a:latin typeface="Garamond"/>
                        </a:rPr>
                        <a:t>Accuracy: 78.2%</a:t>
                      </a:r>
                    </a:p>
                    <a:p>
                      <a:pPr marL="342900" lvl="0" indent="-342900" algn="l">
                        <a:lnSpc>
                          <a:spcPct val="100000"/>
                        </a:lnSpc>
                        <a:spcBef>
                          <a:spcPts val="0"/>
                        </a:spcBef>
                        <a:spcAft>
                          <a:spcPts val="0"/>
                        </a:spcAft>
                        <a:buAutoNum type="arabicPeriod"/>
                      </a:pPr>
                      <a:r>
                        <a:rPr lang="en-US" sz="1800" b="0" i="0" u="none" strike="noStrike" noProof="0" dirty="0">
                          <a:solidFill>
                            <a:schemeClr val="tx1"/>
                          </a:solidFill>
                          <a:latin typeface="Garamond"/>
                        </a:rPr>
                        <a:t>Precision: 78.9%</a:t>
                      </a:r>
                    </a:p>
                    <a:p>
                      <a:pPr marL="342900" lvl="0" indent="-342900" algn="l">
                        <a:lnSpc>
                          <a:spcPct val="100000"/>
                        </a:lnSpc>
                        <a:spcBef>
                          <a:spcPts val="0"/>
                        </a:spcBef>
                        <a:spcAft>
                          <a:spcPts val="0"/>
                        </a:spcAft>
                        <a:buAutoNum type="arabicPeriod"/>
                      </a:pPr>
                      <a:r>
                        <a:rPr lang="en-US" sz="1800" b="0" i="0" u="none" strike="noStrike" noProof="0" dirty="0">
                          <a:solidFill>
                            <a:schemeClr val="tx1"/>
                          </a:solidFill>
                          <a:latin typeface="Garamond"/>
                        </a:rPr>
                        <a:t>Recall: 78.2%</a:t>
                      </a:r>
                    </a:p>
                    <a:p>
                      <a:pPr marL="342900" lvl="0" indent="-342900" algn="l">
                        <a:lnSpc>
                          <a:spcPct val="100000"/>
                        </a:lnSpc>
                        <a:spcBef>
                          <a:spcPts val="0"/>
                        </a:spcBef>
                        <a:spcAft>
                          <a:spcPts val="0"/>
                        </a:spcAft>
                        <a:buAutoNum type="arabicPeriod"/>
                      </a:pPr>
                      <a:r>
                        <a:rPr lang="en-US" sz="1800" b="0" i="0" u="none" strike="noStrike" noProof="0" dirty="0">
                          <a:solidFill>
                            <a:schemeClr val="tx1"/>
                          </a:solidFill>
                          <a:latin typeface="Garamond"/>
                        </a:rPr>
                        <a:t>F1-Score: 78.1%</a:t>
                      </a:r>
                      <a:br>
                        <a:rPr lang="en-US" sz="1800" b="0" i="0" u="none" strike="noStrike" noProof="0" dirty="0">
                          <a:solidFill>
                            <a:srgbClr val="000000"/>
                          </a:solidFill>
                          <a:latin typeface="Garamond"/>
                        </a:rPr>
                      </a:br>
                      <a:br>
                        <a:rPr lang="en-US" sz="1800" b="0" i="0" u="none" strike="noStrike" noProof="0" dirty="0">
                          <a:solidFill>
                            <a:srgbClr val="000000"/>
                          </a:solidFill>
                          <a:latin typeface="Garamond"/>
                        </a:rPr>
                      </a:br>
                      <a:endParaRPr lang="en-US" sz="1800" b="0" i="0" u="none" strike="noStrike" noProof="0" dirty="0">
                        <a:solidFill>
                          <a:srgbClr val="000000"/>
                        </a:solidFill>
                        <a:latin typeface="Garamond"/>
                      </a:endParaRPr>
                    </a:p>
                  </a:txBody>
                  <a:tcPr>
                    <a:solidFill>
                      <a:schemeClr val="bg1"/>
                    </a:solidFill>
                  </a:tcPr>
                </a:tc>
                <a:tc>
                  <a:txBody>
                    <a:bodyPr/>
                    <a:lstStyle/>
                    <a:p>
                      <a:pPr lvl="0" algn="ctr">
                        <a:buNone/>
                      </a:pPr>
                      <a:r>
                        <a:rPr lang="en-US" sz="2000" b="1" i="0" u="none" strike="noStrike" noProof="0" dirty="0">
                          <a:solidFill>
                            <a:schemeClr val="accent5">
                              <a:lumMod val="76000"/>
                            </a:schemeClr>
                          </a:solidFill>
                          <a:latin typeface="Garamond"/>
                        </a:rPr>
                        <a:t>Neural Network Results</a:t>
                      </a:r>
                      <a:br>
                        <a:rPr lang="en-US" sz="2000" b="1" i="0" u="none" strike="noStrike" noProof="0" dirty="0">
                          <a:solidFill>
                            <a:srgbClr val="7A2170"/>
                          </a:solidFill>
                          <a:latin typeface="Garamond"/>
                        </a:rPr>
                      </a:br>
                      <a:endParaRPr lang="en-US" sz="2000" b="1" i="0" u="none" strike="noStrike" noProof="0" dirty="0">
                        <a:solidFill>
                          <a:srgbClr val="7A2170"/>
                        </a:solidFill>
                        <a:latin typeface="Garamond"/>
                      </a:endParaRPr>
                    </a:p>
                    <a:p>
                      <a:pPr lvl="0" algn="l">
                        <a:buNone/>
                      </a:pPr>
                      <a:r>
                        <a:rPr lang="en-US" sz="1800" b="0" i="0" u="none" strike="noStrike" noProof="0" dirty="0">
                          <a:solidFill>
                            <a:schemeClr val="accent5">
                              <a:lumMod val="40000"/>
                              <a:lumOff val="60000"/>
                            </a:schemeClr>
                          </a:solidFill>
                          <a:latin typeface="Garamond"/>
                        </a:rPr>
                        <a:t>Overall Performance:</a:t>
                      </a:r>
                    </a:p>
                    <a:p>
                      <a:pPr marL="342900" lvl="0" indent="-342900" algn="l">
                        <a:buAutoNum type="arabicPeriod"/>
                      </a:pPr>
                      <a:r>
                        <a:rPr lang="en-US" sz="1800" b="0" i="0" u="none" strike="noStrike" noProof="0" dirty="0">
                          <a:solidFill>
                            <a:schemeClr val="tx1"/>
                          </a:solidFill>
                          <a:latin typeface="Garamond"/>
                        </a:rPr>
                        <a:t>Accuracy: 78.0%</a:t>
                      </a:r>
                    </a:p>
                    <a:p>
                      <a:pPr marL="342900" lvl="0" indent="-342900" algn="l">
                        <a:buAutoNum type="arabicPeriod"/>
                      </a:pPr>
                      <a:r>
                        <a:rPr lang="en-US" sz="1800" b="0" i="0" u="none" strike="noStrike" noProof="0" dirty="0">
                          <a:solidFill>
                            <a:schemeClr val="tx1"/>
                          </a:solidFill>
                          <a:latin typeface="Garamond"/>
                        </a:rPr>
                        <a:t>Precision: 78.1%</a:t>
                      </a:r>
                    </a:p>
                    <a:p>
                      <a:pPr marL="342900" lvl="0" indent="-342900" algn="l">
                        <a:buAutoNum type="arabicPeriod"/>
                      </a:pPr>
                      <a:r>
                        <a:rPr lang="en-US" sz="1800" b="0" i="0" u="none" strike="noStrike" noProof="0" dirty="0">
                          <a:solidFill>
                            <a:schemeClr val="tx1"/>
                          </a:solidFill>
                          <a:latin typeface="Garamond"/>
                        </a:rPr>
                        <a:t>Recall: 78.0%</a:t>
                      </a:r>
                    </a:p>
                    <a:p>
                      <a:pPr marL="342900" lvl="0" indent="-342900" algn="l">
                        <a:buAutoNum type="arabicPeriod"/>
                      </a:pPr>
                      <a:r>
                        <a:rPr lang="en-US" sz="1800" b="0" i="0" u="none" strike="noStrike" noProof="0" dirty="0">
                          <a:solidFill>
                            <a:schemeClr val="tx1"/>
                          </a:solidFill>
                          <a:latin typeface="Garamond"/>
                        </a:rPr>
                        <a:t>F1-Score: 78.0%</a:t>
                      </a:r>
                    </a:p>
                  </a:txBody>
                  <a:tcPr>
                    <a:solidFill>
                      <a:schemeClr val="bg1"/>
                    </a:solidFill>
                  </a:tcPr>
                </a:tc>
                <a:extLst>
                  <a:ext uri="{0D108BD9-81ED-4DB2-BD59-A6C34878D82A}">
                    <a16:rowId xmlns:a16="http://schemas.microsoft.com/office/drawing/2014/main" val="2387358733"/>
                  </a:ext>
                </a:extLst>
              </a:tr>
              <a:tr h="989359">
                <a:tc>
                  <a:txBody>
                    <a:bodyPr/>
                    <a:lstStyle/>
                    <a:p>
                      <a:pPr lvl="0">
                        <a:buNone/>
                      </a:pPr>
                      <a:r>
                        <a:rPr lang="en-US" sz="1800" b="0" i="0" u="none" strike="noStrike" noProof="0" dirty="0">
                          <a:solidFill>
                            <a:schemeClr val="tx2">
                              <a:lumMod val="76000"/>
                              <a:lumOff val="24000"/>
                            </a:schemeClr>
                          </a:solidFill>
                          <a:latin typeface="Garamond"/>
                        </a:rPr>
                        <a:t>Per-Class Performance:</a:t>
                      </a:r>
                    </a:p>
                    <a:p>
                      <a:pPr marL="342900" lvl="0" indent="-342900">
                        <a:buAutoNum type="arabicPeriod"/>
                      </a:pPr>
                      <a:r>
                        <a:rPr lang="en-US" sz="1800" b="0" i="0" u="none" strike="noStrike" noProof="0" dirty="0">
                          <a:solidFill>
                            <a:schemeClr val="tx1"/>
                          </a:solidFill>
                          <a:latin typeface="Garamond"/>
                        </a:rPr>
                        <a:t>Clean: Precision 0.83, Recall 0.71, F1 0.76</a:t>
                      </a:r>
                    </a:p>
                    <a:p>
                      <a:pPr marL="342900" lvl="0" indent="-342900">
                        <a:buAutoNum type="arabicPeriod"/>
                      </a:pPr>
                      <a:r>
                        <a:rPr lang="en-US" sz="1800" b="0" i="0" u="none" strike="noStrike" noProof="0" dirty="0">
                          <a:solidFill>
                            <a:schemeClr val="tx1"/>
                          </a:solidFill>
                          <a:latin typeface="Garamond"/>
                        </a:rPr>
                        <a:t>Smelly: Precision 0.75, Recall 0.86, F1 0.80</a:t>
                      </a:r>
                    </a:p>
                  </a:txBody>
                  <a:tcPr>
                    <a:solidFill>
                      <a:schemeClr val="bg1"/>
                    </a:solidFill>
                  </a:tcPr>
                </a:tc>
                <a:tc>
                  <a:txBody>
                    <a:bodyPr/>
                    <a:lstStyle/>
                    <a:p>
                      <a:pPr lvl="0">
                        <a:buNone/>
                      </a:pPr>
                      <a:r>
                        <a:rPr lang="en-US" sz="1800" b="0" i="0" u="none" strike="noStrike" noProof="0" dirty="0">
                          <a:solidFill>
                            <a:schemeClr val="accent5">
                              <a:lumMod val="60000"/>
                              <a:lumOff val="40000"/>
                            </a:schemeClr>
                          </a:solidFill>
                          <a:latin typeface="Garamond"/>
                        </a:rPr>
                        <a:t>Per-Class Performance:</a:t>
                      </a:r>
                    </a:p>
                    <a:p>
                      <a:pPr marL="342900" lvl="0" indent="-342900">
                        <a:buAutoNum type="arabicPeriod"/>
                      </a:pPr>
                      <a:r>
                        <a:rPr lang="en-US" sz="1800" b="0" i="0" u="none" strike="noStrike" noProof="0" dirty="0">
                          <a:solidFill>
                            <a:schemeClr val="tx1"/>
                          </a:solidFill>
                          <a:latin typeface="Garamond"/>
                        </a:rPr>
                        <a:t>Clean: Precision 0.80, Recall 0.75, F1 0.77</a:t>
                      </a:r>
                    </a:p>
                    <a:p>
                      <a:pPr marL="342900" lvl="0" indent="-342900">
                        <a:buAutoNum type="arabicPeriod"/>
                      </a:pPr>
                      <a:r>
                        <a:rPr lang="en-US" sz="1800" b="0" i="0" u="none" strike="noStrike" noProof="0" dirty="0">
                          <a:solidFill>
                            <a:schemeClr val="tx1"/>
                          </a:solidFill>
                          <a:latin typeface="Garamond"/>
                        </a:rPr>
                        <a:t>Smelly: Precision 0.77, Recall 0.81, F1 0.79</a:t>
                      </a:r>
                    </a:p>
                  </a:txBody>
                  <a:tcPr>
                    <a:solidFill>
                      <a:schemeClr val="bg1"/>
                    </a:solidFill>
                  </a:tcPr>
                </a:tc>
                <a:extLst>
                  <a:ext uri="{0D108BD9-81ED-4DB2-BD59-A6C34878D82A}">
                    <a16:rowId xmlns:a16="http://schemas.microsoft.com/office/drawing/2014/main" val="2936044955"/>
                  </a:ext>
                </a:extLst>
              </a:tr>
            </a:tbl>
          </a:graphicData>
        </a:graphic>
      </p:graphicFrame>
      <p:sp>
        <p:nvSpPr>
          <p:cNvPr id="5" name="TextBox 4">
            <a:extLst>
              <a:ext uri="{FF2B5EF4-FFF2-40B4-BE49-F238E27FC236}">
                <a16:creationId xmlns:a16="http://schemas.microsoft.com/office/drawing/2014/main" id="{365398C9-6A5A-3AD9-8EBA-E9AC6DB7772C}"/>
              </a:ext>
            </a:extLst>
          </p:cNvPr>
          <p:cNvSpPr txBox="1"/>
          <p:nvPr/>
        </p:nvSpPr>
        <p:spPr>
          <a:xfrm>
            <a:off x="800485" y="5972848"/>
            <a:ext cx="1042169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solidFill>
                  <a:srgbClr val="C00000"/>
                </a:solidFill>
                <a:latin typeface="Garamond"/>
                <a:ea typeface="+mn-lt"/>
                <a:cs typeface="+mn-lt"/>
              </a:rPr>
              <a:t>✅ Both models achieve ~78% accuracy with </a:t>
            </a:r>
            <a:r>
              <a:rPr lang="en-US" sz="2000" err="1">
                <a:solidFill>
                  <a:srgbClr val="C00000"/>
                </a:solidFill>
                <a:latin typeface="Garamond"/>
                <a:ea typeface="+mn-lt"/>
                <a:cs typeface="+mn-lt"/>
              </a:rPr>
              <a:t>CodeBERT</a:t>
            </a:r>
            <a:r>
              <a:rPr lang="en-US" sz="2000" dirty="0">
                <a:solidFill>
                  <a:srgbClr val="C00000"/>
                </a:solidFill>
                <a:latin typeface="Garamond"/>
                <a:ea typeface="+mn-lt"/>
                <a:cs typeface="+mn-lt"/>
              </a:rPr>
              <a:t> embeddings alone</a:t>
            </a:r>
            <a:endParaRPr lang="en-US" sz="2000" dirty="0">
              <a:solidFill>
                <a:srgbClr val="C00000"/>
              </a:solidFill>
              <a:latin typeface="Garamond"/>
            </a:endParaRPr>
          </a:p>
          <a:p>
            <a:pPr algn="ctr"/>
            <a:r>
              <a:rPr lang="en-US" sz="2000" dirty="0">
                <a:solidFill>
                  <a:srgbClr val="C00000"/>
                </a:solidFill>
                <a:latin typeface="Garamond"/>
                <a:ea typeface="+mn-lt"/>
                <a:cs typeface="+mn-lt"/>
              </a:rPr>
              <a:t>✅ Nearly identical performance (difference &lt;0.2%)</a:t>
            </a:r>
            <a:endParaRPr lang="en-US" sz="2000" dirty="0">
              <a:solidFill>
                <a:srgbClr val="C00000"/>
              </a:solidFill>
              <a:latin typeface="Garamond"/>
            </a:endParaRPr>
          </a:p>
          <a:p>
            <a:pPr algn="ctr"/>
            <a:endParaRPr lang="en-US" sz="2000" dirty="0">
              <a:solidFill>
                <a:srgbClr val="C00000"/>
              </a:solidFill>
              <a:latin typeface="Garamond"/>
            </a:endParaRPr>
          </a:p>
        </p:txBody>
      </p:sp>
    </p:spTree>
    <p:extLst>
      <p:ext uri="{BB962C8B-B14F-4D97-AF65-F5344CB8AC3E}">
        <p14:creationId xmlns:p14="http://schemas.microsoft.com/office/powerpoint/2010/main" val="1347106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0B7A3-0FD9-E407-411D-D2D500458C61}"/>
              </a:ext>
            </a:extLst>
          </p:cNvPr>
          <p:cNvSpPr>
            <a:spLocks noGrp="1"/>
          </p:cNvSpPr>
          <p:nvPr>
            <p:ph type="title"/>
          </p:nvPr>
        </p:nvSpPr>
        <p:spPr/>
        <p:txBody>
          <a:bodyPr>
            <a:normAutofit/>
          </a:bodyPr>
          <a:lstStyle/>
          <a:p>
            <a:r>
              <a:rPr lang="en-US" sz="3600" b="1" dirty="0">
                <a:latin typeface="Mongolian Baiti"/>
                <a:ea typeface="+mj-lt"/>
                <a:cs typeface="+mj-lt"/>
              </a:rPr>
              <a:t>Detailed Performance Analysis</a:t>
            </a:r>
            <a:endParaRPr lang="en-US" sz="3600" dirty="0">
              <a:latin typeface="Mongolian Baiti"/>
              <a:cs typeface="Mongolian Baiti"/>
            </a:endParaRPr>
          </a:p>
        </p:txBody>
      </p:sp>
      <p:graphicFrame>
        <p:nvGraphicFramePr>
          <p:cNvPr id="5" name="Table 4">
            <a:extLst>
              <a:ext uri="{FF2B5EF4-FFF2-40B4-BE49-F238E27FC236}">
                <a16:creationId xmlns:a16="http://schemas.microsoft.com/office/drawing/2014/main" id="{71575AE2-3E8F-8898-0A31-361E51E91038}"/>
              </a:ext>
            </a:extLst>
          </p:cNvPr>
          <p:cNvGraphicFramePr>
            <a:graphicFrameLocks noGrp="1"/>
          </p:cNvGraphicFramePr>
          <p:nvPr>
            <p:extLst>
              <p:ext uri="{D42A27DB-BD31-4B8C-83A1-F6EECF244321}">
                <p14:modId xmlns:p14="http://schemas.microsoft.com/office/powerpoint/2010/main" val="70984459"/>
              </p:ext>
            </p:extLst>
          </p:nvPr>
        </p:nvGraphicFramePr>
        <p:xfrm>
          <a:off x="1149619" y="1715285"/>
          <a:ext cx="9631103" cy="767080"/>
        </p:xfrm>
        <a:graphic>
          <a:graphicData uri="http://schemas.openxmlformats.org/drawingml/2006/table">
            <a:tbl>
              <a:tblPr firstRow="1" bandRow="1">
                <a:tableStyleId>{5C22544A-7EE6-4342-B048-85BDC9FD1C3A}</a:tableStyleId>
              </a:tblPr>
              <a:tblGrid>
                <a:gridCol w="5499443">
                  <a:extLst>
                    <a:ext uri="{9D8B030D-6E8A-4147-A177-3AD203B41FA5}">
                      <a16:colId xmlns:a16="http://schemas.microsoft.com/office/drawing/2014/main" val="1329419809"/>
                    </a:ext>
                  </a:extLst>
                </a:gridCol>
                <a:gridCol w="4131660">
                  <a:extLst>
                    <a:ext uri="{9D8B030D-6E8A-4147-A177-3AD203B41FA5}">
                      <a16:colId xmlns:a16="http://schemas.microsoft.com/office/drawing/2014/main" val="3108736840"/>
                    </a:ext>
                  </a:extLst>
                </a:gridCol>
              </a:tblGrid>
              <a:tr h="370840">
                <a:tc>
                  <a:txBody>
                    <a:bodyPr/>
                    <a:lstStyle/>
                    <a:p>
                      <a:pPr lvl="0" algn="ctr">
                        <a:buNone/>
                      </a:pPr>
                      <a:r>
                        <a:rPr lang="en-US" sz="2000" b="0" i="0" u="none" strike="noStrike" noProof="0" dirty="0">
                          <a:solidFill>
                            <a:schemeClr val="tx1"/>
                          </a:solidFill>
                          <a:latin typeface="Garamond"/>
                        </a:rPr>
                        <a:t>Random Forest Confusion Matrix</a:t>
                      </a:r>
                      <a:endParaRPr lang="en-US" sz="2000" dirty="0">
                        <a:latin typeface="Garamond"/>
                      </a:endParaRPr>
                    </a:p>
                  </a:txBody>
                  <a:tcPr>
                    <a:solidFill>
                      <a:schemeClr val="bg1"/>
                    </a:solidFill>
                  </a:tcPr>
                </a:tc>
                <a:tc>
                  <a:txBody>
                    <a:bodyPr/>
                    <a:lstStyle/>
                    <a:p>
                      <a:pPr lvl="0" algn="ctr">
                        <a:buNone/>
                      </a:pPr>
                      <a:r>
                        <a:rPr lang="en-US" sz="2000" b="0" i="0" u="none" strike="noStrike" noProof="0" dirty="0">
                          <a:solidFill>
                            <a:schemeClr val="tx1"/>
                          </a:solidFill>
                          <a:latin typeface="Garamond"/>
                        </a:rPr>
                        <a:t>Neural Network Confusion Matrix</a:t>
                      </a:r>
                      <a:endParaRPr lang="en-US" sz="2000" dirty="0">
                        <a:latin typeface="Garamond"/>
                      </a:endParaRPr>
                    </a:p>
                  </a:txBody>
                  <a:tcPr>
                    <a:solidFill>
                      <a:schemeClr val="bg1"/>
                    </a:solidFill>
                  </a:tcPr>
                </a:tc>
                <a:extLst>
                  <a:ext uri="{0D108BD9-81ED-4DB2-BD59-A6C34878D82A}">
                    <a16:rowId xmlns:a16="http://schemas.microsoft.com/office/drawing/2014/main" val="5395360"/>
                  </a:ext>
                </a:extLst>
              </a:tr>
              <a:tr h="370840">
                <a:tc>
                  <a:txBody>
                    <a:bodyPr/>
                    <a:lstStyle/>
                    <a:p>
                      <a:endParaRPr lang="en-US" dirty="0">
                        <a:solidFill>
                          <a:schemeClr val="tx1"/>
                        </a:solidFill>
                        <a:latin typeface="Garamond"/>
                      </a:endParaRPr>
                    </a:p>
                  </a:txBody>
                  <a:tcPr>
                    <a:solidFill>
                      <a:schemeClr val="bg1"/>
                    </a:solidFill>
                  </a:tcPr>
                </a:tc>
                <a:tc>
                  <a:txBody>
                    <a:bodyPr/>
                    <a:lstStyle/>
                    <a:p>
                      <a:endParaRPr lang="en-US" dirty="0">
                        <a:solidFill>
                          <a:schemeClr val="tx1"/>
                        </a:solidFill>
                        <a:latin typeface="Garamond"/>
                      </a:endParaRPr>
                    </a:p>
                  </a:txBody>
                  <a:tcPr>
                    <a:solidFill>
                      <a:schemeClr val="bg1"/>
                    </a:solidFill>
                  </a:tcPr>
                </a:tc>
                <a:extLst>
                  <a:ext uri="{0D108BD9-81ED-4DB2-BD59-A6C34878D82A}">
                    <a16:rowId xmlns:a16="http://schemas.microsoft.com/office/drawing/2014/main" val="816874283"/>
                  </a:ext>
                </a:extLst>
              </a:tr>
            </a:tbl>
          </a:graphicData>
        </a:graphic>
      </p:graphicFrame>
      <p:pic>
        <p:nvPicPr>
          <p:cNvPr id="6" name="Picture 5" descr="A screenshot of a computer screen&#10;&#10;AI-generated content may be incorrect.">
            <a:extLst>
              <a:ext uri="{FF2B5EF4-FFF2-40B4-BE49-F238E27FC236}">
                <a16:creationId xmlns:a16="http://schemas.microsoft.com/office/drawing/2014/main" id="{355BF548-7FDE-A0B1-72EF-0E0208C91D30}"/>
              </a:ext>
            </a:extLst>
          </p:cNvPr>
          <p:cNvPicPr>
            <a:picLocks noChangeAspect="1"/>
          </p:cNvPicPr>
          <p:nvPr/>
        </p:nvPicPr>
        <p:blipFill>
          <a:blip r:embed="rId3"/>
          <a:stretch>
            <a:fillRect/>
          </a:stretch>
        </p:blipFill>
        <p:spPr>
          <a:xfrm>
            <a:off x="1788487" y="2309861"/>
            <a:ext cx="3958360" cy="2238280"/>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CB94CEA0-C849-C329-D062-2FAFC98E77F6}"/>
              </a:ext>
            </a:extLst>
          </p:cNvPr>
          <p:cNvPicPr>
            <a:picLocks noChangeAspect="1"/>
          </p:cNvPicPr>
          <p:nvPr/>
        </p:nvPicPr>
        <p:blipFill>
          <a:blip r:embed="rId4"/>
          <a:stretch>
            <a:fillRect/>
          </a:stretch>
        </p:blipFill>
        <p:spPr>
          <a:xfrm>
            <a:off x="6574655" y="2310629"/>
            <a:ext cx="3961054" cy="2236741"/>
          </a:xfrm>
          <a:prstGeom prst="rect">
            <a:avLst/>
          </a:prstGeom>
        </p:spPr>
      </p:pic>
      <p:pic>
        <p:nvPicPr>
          <p:cNvPr id="8" name="Picture 7" descr="A black and white screen with white text&#10;&#10;AI-generated content may be incorrect.">
            <a:extLst>
              <a:ext uri="{FF2B5EF4-FFF2-40B4-BE49-F238E27FC236}">
                <a16:creationId xmlns:a16="http://schemas.microsoft.com/office/drawing/2014/main" id="{C73F95BD-8192-3744-E131-B4E34497A5E2}"/>
              </a:ext>
            </a:extLst>
          </p:cNvPr>
          <p:cNvPicPr>
            <a:picLocks noChangeAspect="1"/>
          </p:cNvPicPr>
          <p:nvPr/>
        </p:nvPicPr>
        <p:blipFill>
          <a:blip r:embed="rId5"/>
          <a:stretch>
            <a:fillRect/>
          </a:stretch>
        </p:blipFill>
        <p:spPr>
          <a:xfrm>
            <a:off x="1760778" y="4656089"/>
            <a:ext cx="8793597" cy="2202487"/>
          </a:xfrm>
          <a:prstGeom prst="rect">
            <a:avLst/>
          </a:prstGeom>
        </p:spPr>
      </p:pic>
    </p:spTree>
    <p:extLst>
      <p:ext uri="{BB962C8B-B14F-4D97-AF65-F5344CB8AC3E}">
        <p14:creationId xmlns:p14="http://schemas.microsoft.com/office/powerpoint/2010/main" val="3061276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C1E13-900D-0C9E-987F-9067DB3B9617}"/>
              </a:ext>
            </a:extLst>
          </p:cNvPr>
          <p:cNvSpPr>
            <a:spLocks noGrp="1"/>
          </p:cNvSpPr>
          <p:nvPr>
            <p:ph idx="1"/>
          </p:nvPr>
        </p:nvSpPr>
        <p:spPr>
          <a:xfrm>
            <a:off x="838200" y="917383"/>
            <a:ext cx="10515600" cy="5259580"/>
          </a:xfrm>
        </p:spPr>
        <p:txBody>
          <a:bodyPr vert="horz" lIns="91440" tIns="45720" rIns="91440" bIns="45720" rtlCol="0" anchor="t">
            <a:normAutofit/>
          </a:bodyPr>
          <a:lstStyle/>
          <a:p>
            <a:pPr marL="0" indent="0">
              <a:buNone/>
            </a:pPr>
            <a:r>
              <a:rPr lang="en-US" dirty="0"/>
              <a:t>Per Class Analysis</a:t>
            </a:r>
          </a:p>
          <a:p>
            <a:pPr marL="0" indent="0">
              <a:buNone/>
            </a:pPr>
            <a:endParaRPr lang="en-US" dirty="0"/>
          </a:p>
        </p:txBody>
      </p:sp>
      <p:graphicFrame>
        <p:nvGraphicFramePr>
          <p:cNvPr id="4" name="Table 3">
            <a:extLst>
              <a:ext uri="{FF2B5EF4-FFF2-40B4-BE49-F238E27FC236}">
                <a16:creationId xmlns:a16="http://schemas.microsoft.com/office/drawing/2014/main" id="{224C2CFA-BC1D-5E72-6849-7E9AA1FFAFD8}"/>
              </a:ext>
            </a:extLst>
          </p:cNvPr>
          <p:cNvGraphicFramePr>
            <a:graphicFrameLocks noGrp="1"/>
          </p:cNvGraphicFramePr>
          <p:nvPr>
            <p:extLst>
              <p:ext uri="{D42A27DB-BD31-4B8C-83A1-F6EECF244321}">
                <p14:modId xmlns:p14="http://schemas.microsoft.com/office/powerpoint/2010/main" val="3141632148"/>
              </p:ext>
            </p:extLst>
          </p:nvPr>
        </p:nvGraphicFramePr>
        <p:xfrm>
          <a:off x="841741" y="1715285"/>
          <a:ext cx="9184668" cy="2416401"/>
        </p:xfrm>
        <a:graphic>
          <a:graphicData uri="http://schemas.openxmlformats.org/drawingml/2006/table">
            <a:tbl>
              <a:tblPr firstRow="1" bandRow="1">
                <a:tableStyleId>{5C22544A-7EE6-4342-B048-85BDC9FD1C3A}</a:tableStyleId>
              </a:tblPr>
              <a:tblGrid>
                <a:gridCol w="4592334">
                  <a:extLst>
                    <a:ext uri="{9D8B030D-6E8A-4147-A177-3AD203B41FA5}">
                      <a16:colId xmlns:a16="http://schemas.microsoft.com/office/drawing/2014/main" val="4021729153"/>
                    </a:ext>
                  </a:extLst>
                </a:gridCol>
                <a:gridCol w="4592334">
                  <a:extLst>
                    <a:ext uri="{9D8B030D-6E8A-4147-A177-3AD203B41FA5}">
                      <a16:colId xmlns:a16="http://schemas.microsoft.com/office/drawing/2014/main" val="3676020668"/>
                    </a:ext>
                  </a:extLst>
                </a:gridCol>
              </a:tblGrid>
              <a:tr h="737831">
                <a:tc>
                  <a:txBody>
                    <a:bodyPr/>
                    <a:lstStyle/>
                    <a:p>
                      <a:pPr lvl="0" algn="ctr">
                        <a:buNone/>
                      </a:pPr>
                      <a:r>
                        <a:rPr lang="en-US" sz="2000" b="1" i="0" u="none" strike="noStrike" noProof="0" dirty="0">
                          <a:solidFill>
                            <a:schemeClr val="tx1"/>
                          </a:solidFill>
                          <a:latin typeface="Garamond"/>
                        </a:rPr>
                        <a:t>Random Forest:</a:t>
                      </a:r>
                      <a:endParaRPr lang="en-US" sz="2000" b="1">
                        <a:latin typeface="Garamond"/>
                      </a:endParaRPr>
                    </a:p>
                  </a:txBody>
                  <a:tcPr>
                    <a:solidFill>
                      <a:schemeClr val="bg1"/>
                    </a:solidFill>
                  </a:tcPr>
                </a:tc>
                <a:tc>
                  <a:txBody>
                    <a:bodyPr/>
                    <a:lstStyle/>
                    <a:p>
                      <a:pPr lvl="0" algn="ctr">
                        <a:buNone/>
                      </a:pPr>
                      <a:r>
                        <a:rPr lang="en-US" sz="2000" b="1" i="0" u="none" strike="noStrike" noProof="0" dirty="0">
                          <a:solidFill>
                            <a:schemeClr val="tx1"/>
                          </a:solidFill>
                          <a:latin typeface="Garamond"/>
                        </a:rPr>
                        <a:t>Neural Network:</a:t>
                      </a:r>
                      <a:endParaRPr lang="en-US" sz="2000" b="1">
                        <a:latin typeface="Garamond"/>
                      </a:endParaRPr>
                    </a:p>
                  </a:txBody>
                  <a:tcPr>
                    <a:solidFill>
                      <a:schemeClr val="bg1"/>
                    </a:solidFill>
                  </a:tcPr>
                </a:tc>
                <a:extLst>
                  <a:ext uri="{0D108BD9-81ED-4DB2-BD59-A6C34878D82A}">
                    <a16:rowId xmlns:a16="http://schemas.microsoft.com/office/drawing/2014/main" val="152986428"/>
                  </a:ext>
                </a:extLst>
              </a:tr>
              <a:tr h="1678570">
                <a:tc>
                  <a:txBody>
                    <a:bodyPr/>
                    <a:lstStyle/>
                    <a:p>
                      <a:pPr marL="228600" indent="-228600">
                        <a:buAutoNum type="arabicPeriod"/>
                      </a:pPr>
                      <a:r>
                        <a:rPr lang="en-US" sz="1800" b="0" i="0" u="none" strike="noStrike" noProof="0" dirty="0">
                          <a:solidFill>
                            <a:schemeClr val="tx1"/>
                          </a:solidFill>
                          <a:latin typeface="Garamond"/>
                        </a:rPr>
                        <a:t>Better at detecting smelly code (Recall: 0.86)</a:t>
                      </a:r>
                    </a:p>
                    <a:p>
                      <a:pPr marL="228600" lvl="0" indent="-228600">
                        <a:buAutoNum type="arabicPeriod"/>
                      </a:pPr>
                      <a:r>
                        <a:rPr lang="en-US" sz="1800" b="0" i="0" u="none" strike="noStrike" noProof="0" dirty="0">
                          <a:solidFill>
                            <a:schemeClr val="tx1"/>
                          </a:solidFill>
                          <a:latin typeface="Garamond"/>
                        </a:rPr>
                        <a:t>Higher precision for clean code (0.83)</a:t>
                      </a:r>
                    </a:p>
                    <a:p>
                      <a:pPr marL="228600" lvl="0" indent="-228600">
                        <a:buAutoNum type="arabicPeriod"/>
                      </a:pPr>
                      <a:r>
                        <a:rPr lang="en-US" sz="1800" b="0" i="0" u="none" strike="noStrike" noProof="0" dirty="0">
                          <a:solidFill>
                            <a:schemeClr val="tx1"/>
                          </a:solidFill>
                          <a:latin typeface="Garamond"/>
                        </a:rPr>
                        <a:t>More false positives for clean code (145)</a:t>
                      </a:r>
                    </a:p>
                  </a:txBody>
                  <a:tcPr>
                    <a:solidFill>
                      <a:schemeClr val="bg1"/>
                    </a:solidFill>
                  </a:tcPr>
                </a:tc>
                <a:tc>
                  <a:txBody>
                    <a:bodyPr/>
                    <a:lstStyle/>
                    <a:p>
                      <a:pPr marL="342900" indent="-342900">
                        <a:buAutoNum type="arabicPeriod"/>
                      </a:pPr>
                      <a:r>
                        <a:rPr lang="en-US" sz="1800" b="0" i="0" u="none" strike="noStrike" noProof="0" dirty="0">
                          <a:solidFill>
                            <a:schemeClr val="tx1"/>
                          </a:solidFill>
                          <a:latin typeface="Garamond"/>
                        </a:rPr>
                        <a:t>More balanced across both classes</a:t>
                      </a:r>
                    </a:p>
                    <a:p>
                      <a:pPr marL="342900" lvl="0" indent="-342900">
                        <a:buAutoNum type="arabicPeriod"/>
                      </a:pPr>
                      <a:r>
                        <a:rPr lang="en-US" sz="1800" b="0" i="0" u="none" strike="noStrike" noProof="0" dirty="0">
                          <a:solidFill>
                            <a:schemeClr val="tx1"/>
                          </a:solidFill>
                          <a:latin typeface="Garamond"/>
                        </a:rPr>
                        <a:t>Better precision for smelly code (0.77)</a:t>
                      </a:r>
                    </a:p>
                    <a:p>
                      <a:pPr marL="342900" lvl="0" indent="-342900">
                        <a:buAutoNum type="arabicPeriod"/>
                      </a:pPr>
                      <a:r>
                        <a:rPr lang="en-US" sz="1800" b="0" i="0" u="none" strike="noStrike" noProof="0" dirty="0">
                          <a:solidFill>
                            <a:schemeClr val="tx1"/>
                          </a:solidFill>
                          <a:latin typeface="Garamond"/>
                        </a:rPr>
                        <a:t>Fewer false positives overall (125 vs 145)</a:t>
                      </a:r>
                    </a:p>
                  </a:txBody>
                  <a:tcPr>
                    <a:solidFill>
                      <a:schemeClr val="bg1"/>
                    </a:solidFill>
                  </a:tcPr>
                </a:tc>
                <a:extLst>
                  <a:ext uri="{0D108BD9-81ED-4DB2-BD59-A6C34878D82A}">
                    <a16:rowId xmlns:a16="http://schemas.microsoft.com/office/drawing/2014/main" val="3939289758"/>
                  </a:ext>
                </a:extLst>
              </a:tr>
            </a:tbl>
          </a:graphicData>
        </a:graphic>
      </p:graphicFrame>
      <p:sp>
        <p:nvSpPr>
          <p:cNvPr id="5" name="TextBox 4">
            <a:extLst>
              <a:ext uri="{FF2B5EF4-FFF2-40B4-BE49-F238E27FC236}">
                <a16:creationId xmlns:a16="http://schemas.microsoft.com/office/drawing/2014/main" id="{59C04FAA-31D2-40E8-87A5-4E3E46BF42BC}"/>
              </a:ext>
            </a:extLst>
          </p:cNvPr>
          <p:cNvSpPr txBox="1"/>
          <p:nvPr/>
        </p:nvSpPr>
        <p:spPr>
          <a:xfrm>
            <a:off x="838969" y="4294908"/>
            <a:ext cx="942109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solidFill>
                  <a:srgbClr val="C00000"/>
                </a:solidFill>
                <a:latin typeface="Garamond"/>
              </a:rPr>
              <a:t>📊 Both models show strong performance with no statistically significant difference</a:t>
            </a:r>
            <a:endParaRPr lang="en-US"/>
          </a:p>
        </p:txBody>
      </p:sp>
    </p:spTree>
    <p:extLst>
      <p:ext uri="{BB962C8B-B14F-4D97-AF65-F5344CB8AC3E}">
        <p14:creationId xmlns:p14="http://schemas.microsoft.com/office/powerpoint/2010/main" val="855251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21EC5-26D0-ACD9-087B-B16FB1F1D40A}"/>
              </a:ext>
            </a:extLst>
          </p:cNvPr>
          <p:cNvSpPr>
            <a:spLocks noGrp="1"/>
          </p:cNvSpPr>
          <p:nvPr>
            <p:ph type="title"/>
          </p:nvPr>
        </p:nvSpPr>
        <p:spPr/>
        <p:txBody>
          <a:bodyPr>
            <a:normAutofit/>
          </a:bodyPr>
          <a:lstStyle/>
          <a:p>
            <a:r>
              <a:rPr lang="en-US" sz="3600" b="1" dirty="0">
                <a:latin typeface="Mongolian Baiti"/>
                <a:ea typeface="+mj-lt"/>
                <a:cs typeface="+mj-lt"/>
              </a:rPr>
              <a:t>Error Analysis: Understanding Limitations</a:t>
            </a:r>
            <a:endParaRPr lang="en-US" sz="3600" b="1">
              <a:latin typeface="Mongolian Baiti"/>
              <a:cs typeface="Mongolian Baiti"/>
            </a:endParaRPr>
          </a:p>
        </p:txBody>
      </p:sp>
      <p:graphicFrame>
        <p:nvGraphicFramePr>
          <p:cNvPr id="10" name="Content Placeholder 9">
            <a:extLst>
              <a:ext uri="{FF2B5EF4-FFF2-40B4-BE49-F238E27FC236}">
                <a16:creationId xmlns:a16="http://schemas.microsoft.com/office/drawing/2014/main" id="{D0DF4394-880B-6B86-05B1-CD3DD282D74A}"/>
              </a:ext>
            </a:extLst>
          </p:cNvPr>
          <p:cNvGraphicFramePr>
            <a:graphicFrameLocks noGrp="1"/>
          </p:cNvGraphicFramePr>
          <p:nvPr>
            <p:ph idx="1"/>
            <p:extLst>
              <p:ext uri="{D42A27DB-BD31-4B8C-83A1-F6EECF244321}">
                <p14:modId xmlns:p14="http://schemas.microsoft.com/office/powerpoint/2010/main" val="667607052"/>
              </p:ext>
            </p:extLst>
          </p:nvPr>
        </p:nvGraphicFramePr>
        <p:xfrm>
          <a:off x="967068" y="2267137"/>
          <a:ext cx="10515600" cy="22860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008607704"/>
                    </a:ext>
                  </a:extLst>
                </a:gridCol>
                <a:gridCol w="5257800">
                  <a:extLst>
                    <a:ext uri="{9D8B030D-6E8A-4147-A177-3AD203B41FA5}">
                      <a16:colId xmlns:a16="http://schemas.microsoft.com/office/drawing/2014/main" val="2137877690"/>
                    </a:ext>
                  </a:extLst>
                </a:gridCol>
              </a:tblGrid>
              <a:tr h="370840">
                <a:tc>
                  <a:txBody>
                    <a:bodyPr/>
                    <a:lstStyle/>
                    <a:p>
                      <a:r>
                        <a:rPr lang="en-US">
                          <a:solidFill>
                            <a:schemeClr val="tx1"/>
                          </a:solidFill>
                        </a:rPr>
                        <a:t>False Positives (Clean-&gt;Smelly):</a:t>
                      </a:r>
                    </a:p>
                    <a:p>
                      <a:pPr marL="342900" lvl="0" indent="-342900">
                        <a:buAutoNum type="arabicPeriod"/>
                      </a:pPr>
                      <a:r>
                        <a:rPr lang="en-US" sz="1800" b="0" i="0" u="none" strike="noStrike" noProof="0" dirty="0">
                          <a:solidFill>
                            <a:schemeClr val="tx1"/>
                          </a:solidFill>
                          <a:latin typeface="Aptos"/>
                        </a:rPr>
                        <a:t>RF: 145 samples (29% of clean)</a:t>
                      </a:r>
                    </a:p>
                    <a:p>
                      <a:pPr marL="342900" lvl="0" indent="-342900">
                        <a:buAutoNum type="arabicPeriod"/>
                      </a:pPr>
                      <a:r>
                        <a:rPr lang="en-US" sz="1800" b="0" i="0" u="none" strike="noStrike" noProof="0" dirty="0">
                          <a:solidFill>
                            <a:schemeClr val="tx1"/>
                          </a:solidFill>
                        </a:rPr>
                        <a:t>NN: 125 samples (25% of clean)</a:t>
                      </a:r>
                    </a:p>
                    <a:p>
                      <a:pPr marL="0" lvl="0" indent="0">
                        <a:buNone/>
                      </a:pPr>
                      <a:endParaRPr lang="en-US" sz="1800" b="0" i="0" u="none" strike="noStrike" noProof="0" dirty="0">
                        <a:solidFill>
                          <a:schemeClr val="tx1"/>
                        </a:solidFill>
                      </a:endParaRPr>
                    </a:p>
                    <a:p>
                      <a:pPr marL="0" lvl="0" indent="0">
                        <a:buNone/>
                      </a:pPr>
                      <a:r>
                        <a:rPr lang="en-US" sz="1800" b="1" i="0" u="none" strike="noStrike" noProof="0" dirty="0">
                          <a:solidFill>
                            <a:schemeClr val="tx1"/>
                          </a:solidFill>
                          <a:latin typeface="Aptos"/>
                        </a:rPr>
                        <a:t>Common causes:</a:t>
                      </a:r>
                    </a:p>
                    <a:p>
                      <a:pPr marL="342900" lvl="0" indent="-342900">
                        <a:buAutoNum type="arabicPeriod"/>
                      </a:pPr>
                      <a:r>
                        <a:rPr lang="en-US" sz="1800" b="0" i="0" u="none" strike="noStrike" noProof="0" dirty="0">
                          <a:solidFill>
                            <a:schemeClr val="tx1"/>
                          </a:solidFill>
                        </a:rPr>
                        <a:t>Complex but well-designed code</a:t>
                      </a:r>
                    </a:p>
                    <a:p>
                      <a:pPr marL="342900" lvl="0" indent="-342900">
                        <a:buAutoNum type="arabicPeriod"/>
                      </a:pPr>
                      <a:r>
                        <a:rPr lang="en-US" sz="1800" b="0" i="0" u="none" strike="noStrike" noProof="0" dirty="0">
                          <a:solidFill>
                            <a:schemeClr val="tx1"/>
                          </a:solidFill>
                          <a:latin typeface="Aptos"/>
                        </a:rPr>
                        <a:t>Intentionally verbose code</a:t>
                      </a:r>
                    </a:p>
                    <a:p>
                      <a:pPr marL="342900" lvl="0" indent="-342900">
                        <a:buAutoNum type="arabicPeriod"/>
                      </a:pPr>
                      <a:r>
                        <a:rPr lang="en-US" sz="1800" b="0" i="0" u="none" strike="noStrike" noProof="0" dirty="0">
                          <a:solidFill>
                            <a:schemeClr val="tx1"/>
                          </a:solidFill>
                        </a:rPr>
                        <a:t>Design patterns resembling smells</a:t>
                      </a:r>
                      <a:endParaRPr lang="en-US" sz="1800" b="0" i="0" u="none" strike="noStrike" noProof="0" dirty="0">
                        <a:solidFill>
                          <a:schemeClr val="tx1"/>
                        </a:solidFill>
                        <a:latin typeface="Aptos"/>
                      </a:endParaRPr>
                    </a:p>
                  </a:txBody>
                  <a:tcPr>
                    <a:solidFill>
                      <a:schemeClr val="bg1"/>
                    </a:solidFill>
                  </a:tcPr>
                </a:tc>
                <a:tc>
                  <a:txBody>
                    <a:bodyPr/>
                    <a:lstStyle/>
                    <a:p>
                      <a:r>
                        <a:rPr lang="en-US" dirty="0">
                          <a:solidFill>
                            <a:schemeClr val="tx1"/>
                          </a:solidFill>
                        </a:rPr>
                        <a:t>False Negatives(Smelly-&gt; Clean):</a:t>
                      </a:r>
                    </a:p>
                    <a:p>
                      <a:pPr marL="342900" lvl="0" indent="-342900">
                        <a:buAutoNum type="arabicPeriod"/>
                      </a:pPr>
                      <a:r>
                        <a:rPr lang="en-US" sz="1800" b="0" i="0" u="none" strike="noStrike" noProof="0" dirty="0">
                          <a:solidFill>
                            <a:schemeClr val="tx1"/>
                          </a:solidFill>
                          <a:latin typeface="Aptos"/>
                        </a:rPr>
                        <a:t>RF: 73 samples (14.6% of smelly)</a:t>
                      </a:r>
                    </a:p>
                    <a:p>
                      <a:pPr marL="342900" lvl="0" indent="-342900">
                        <a:buAutoNum type="arabicPeriod"/>
                      </a:pPr>
                      <a:r>
                        <a:rPr lang="en-US" sz="1800" b="0" i="0" u="none" strike="noStrike" noProof="0">
                          <a:solidFill>
                            <a:schemeClr val="tx1"/>
                          </a:solidFill>
                        </a:rPr>
                        <a:t>NN: 95 samples (19% of smelly)</a:t>
                      </a:r>
                    </a:p>
                    <a:p>
                      <a:pPr marL="0" lvl="0" indent="0">
                        <a:buNone/>
                      </a:pPr>
                      <a:endParaRPr lang="en-US" sz="1800" b="0" i="0" u="none" strike="noStrike" noProof="0" dirty="0">
                        <a:solidFill>
                          <a:schemeClr val="tx1"/>
                        </a:solidFill>
                      </a:endParaRPr>
                    </a:p>
                    <a:p>
                      <a:pPr marL="0" lvl="0" indent="0">
                        <a:buNone/>
                      </a:pPr>
                      <a:r>
                        <a:rPr lang="en-US" sz="1800" b="0" i="0" u="none" strike="noStrike" noProof="0" dirty="0">
                          <a:solidFill>
                            <a:schemeClr val="tx1"/>
                          </a:solidFill>
                          <a:latin typeface="Aptos"/>
                        </a:rPr>
                        <a:t>Common causes:</a:t>
                      </a:r>
                    </a:p>
                    <a:p>
                      <a:pPr marL="342900" lvl="0" indent="-342900">
                        <a:buAutoNum type="arabicPeriod"/>
                      </a:pPr>
                      <a:r>
                        <a:rPr lang="en-US" sz="1800" b="0" i="0" u="none" strike="noStrike" noProof="0" dirty="0">
                          <a:solidFill>
                            <a:schemeClr val="tx1"/>
                          </a:solidFill>
                        </a:rPr>
                        <a:t>Subtle smells not captured in embeddings</a:t>
                      </a:r>
                    </a:p>
                    <a:p>
                      <a:pPr marL="342900" lvl="0" indent="-342900">
                        <a:buAutoNum type="arabicPeriod"/>
                      </a:pPr>
                      <a:r>
                        <a:rPr lang="en-US" sz="1800" b="0" i="0" u="none" strike="noStrike" noProof="0" dirty="0">
                          <a:solidFill>
                            <a:schemeClr val="tx1"/>
                          </a:solidFill>
                          <a:latin typeface="Aptos"/>
                        </a:rPr>
                        <a:t>Context-dependent smells</a:t>
                      </a:r>
                    </a:p>
                    <a:p>
                      <a:pPr marL="342900" lvl="0" indent="-342900">
                        <a:buAutoNum type="arabicPeriod"/>
                      </a:pPr>
                      <a:r>
                        <a:rPr lang="en-US" sz="1800" b="0" i="0" u="none" strike="noStrike" noProof="0" dirty="0">
                          <a:solidFill>
                            <a:schemeClr val="tx1"/>
                          </a:solidFill>
                        </a:rPr>
                        <a:t>Distributed smells across multiple locations</a:t>
                      </a:r>
                      <a:endParaRPr lang="en-US" sz="1800" b="0" i="0" u="none" strike="noStrike" noProof="0" dirty="0">
                        <a:solidFill>
                          <a:schemeClr val="tx1"/>
                        </a:solidFill>
                        <a:latin typeface="Aptos"/>
                      </a:endParaRPr>
                    </a:p>
                  </a:txBody>
                  <a:tcPr>
                    <a:solidFill>
                      <a:schemeClr val="bg1"/>
                    </a:solidFill>
                  </a:tcPr>
                </a:tc>
                <a:extLst>
                  <a:ext uri="{0D108BD9-81ED-4DB2-BD59-A6C34878D82A}">
                    <a16:rowId xmlns:a16="http://schemas.microsoft.com/office/drawing/2014/main" val="964764938"/>
                  </a:ext>
                </a:extLst>
              </a:tr>
            </a:tbl>
          </a:graphicData>
        </a:graphic>
      </p:graphicFrame>
      <p:sp>
        <p:nvSpPr>
          <p:cNvPr id="11" name="TextBox 10">
            <a:extLst>
              <a:ext uri="{FF2B5EF4-FFF2-40B4-BE49-F238E27FC236}">
                <a16:creationId xmlns:a16="http://schemas.microsoft.com/office/drawing/2014/main" id="{EFC21AE6-B045-ECDE-F314-BE238D32EE04}"/>
              </a:ext>
            </a:extLst>
          </p:cNvPr>
          <p:cNvSpPr txBox="1"/>
          <p:nvPr/>
        </p:nvSpPr>
        <p:spPr>
          <a:xfrm>
            <a:off x="969817" y="1688330"/>
            <a:ext cx="87437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accent3">
                    <a:lumMod val="60000"/>
                    <a:lumOff val="40000"/>
                  </a:schemeClr>
                </a:solidFill>
                <a:latin typeface="Garamond"/>
                <a:ea typeface="+mn-lt"/>
                <a:cs typeface="+mn-lt"/>
              </a:rPr>
              <a:t>Misclassification Patterns</a:t>
            </a:r>
            <a:endParaRPr lang="en-US" sz="2000">
              <a:solidFill>
                <a:schemeClr val="accent3">
                  <a:lumMod val="60000"/>
                  <a:lumOff val="40000"/>
                </a:schemeClr>
              </a:solidFill>
              <a:latin typeface="Garamond"/>
            </a:endParaRPr>
          </a:p>
        </p:txBody>
      </p:sp>
    </p:spTree>
    <p:extLst>
      <p:ext uri="{BB962C8B-B14F-4D97-AF65-F5344CB8AC3E}">
        <p14:creationId xmlns:p14="http://schemas.microsoft.com/office/powerpoint/2010/main" val="3006197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9F9BB5C-1033-E57B-BC2D-0BEF8CECCE4E}"/>
              </a:ext>
            </a:extLst>
          </p:cNvPr>
          <p:cNvGraphicFramePr>
            <a:graphicFrameLocks noGrp="1"/>
          </p:cNvGraphicFramePr>
          <p:nvPr>
            <p:ph idx="1"/>
            <p:extLst>
              <p:ext uri="{D42A27DB-BD31-4B8C-83A1-F6EECF244321}">
                <p14:modId xmlns:p14="http://schemas.microsoft.com/office/powerpoint/2010/main" val="1957912726"/>
              </p:ext>
            </p:extLst>
          </p:nvPr>
        </p:nvGraphicFramePr>
        <p:xfrm>
          <a:off x="736600" y="2205470"/>
          <a:ext cx="10515600" cy="2225040"/>
        </p:xfrm>
        <a:graphic>
          <a:graphicData uri="http://schemas.openxmlformats.org/drawingml/2006/table">
            <a:tbl>
              <a:tblPr bandRow="1">
                <a:tableStyleId>{5C22544A-7EE6-4342-B048-85BDC9FD1C3A}</a:tableStyleId>
              </a:tblPr>
              <a:tblGrid>
                <a:gridCol w="3505200">
                  <a:extLst>
                    <a:ext uri="{9D8B030D-6E8A-4147-A177-3AD203B41FA5}">
                      <a16:colId xmlns:a16="http://schemas.microsoft.com/office/drawing/2014/main" val="2190792926"/>
                    </a:ext>
                  </a:extLst>
                </a:gridCol>
                <a:gridCol w="3505200">
                  <a:extLst>
                    <a:ext uri="{9D8B030D-6E8A-4147-A177-3AD203B41FA5}">
                      <a16:colId xmlns:a16="http://schemas.microsoft.com/office/drawing/2014/main" val="189934618"/>
                    </a:ext>
                  </a:extLst>
                </a:gridCol>
                <a:gridCol w="3505200">
                  <a:extLst>
                    <a:ext uri="{9D8B030D-6E8A-4147-A177-3AD203B41FA5}">
                      <a16:colId xmlns:a16="http://schemas.microsoft.com/office/drawing/2014/main" val="4213511265"/>
                    </a:ext>
                  </a:extLst>
                </a:gridCol>
              </a:tblGrid>
              <a:tr h="361950">
                <a:tc>
                  <a:txBody>
                    <a:bodyPr/>
                    <a:lstStyle/>
                    <a:p>
                      <a:pPr algn="ctr" fontAlgn="base">
                        <a:lnSpc>
                          <a:spcPts val="2400"/>
                        </a:lnSpc>
                        <a:buNone/>
                      </a:pPr>
                      <a:r>
                        <a:rPr lang="en-US" sz="2000" b="1" i="0" u="none" strike="noStrike">
                          <a:solidFill>
                            <a:srgbClr val="000000"/>
                          </a:solidFill>
                          <a:effectLst/>
                          <a:latin typeface="Garamond" panose="02020404030301010803" pitchFamily="18" charset="0"/>
                        </a:rPr>
                        <a:t>Embedding Limitation</a:t>
                      </a:r>
                      <a:endParaRPr lang="en-US" b="1" i="0">
                        <a:solidFill>
                          <a:srgbClr val="FFFFFF"/>
                        </a:solidFill>
                        <a:effectLst/>
                      </a:endParaRPr>
                    </a:p>
                    <a:p>
                      <a:pPr marL="342900" lvl="0" indent="-342900" algn="l" fontAlgn="base">
                        <a:lnSpc>
                          <a:spcPts val="2400"/>
                        </a:lnSpc>
                        <a:buFont typeface="+mj-lt"/>
                        <a:buAutoNum type="arabicPeriod"/>
                      </a:pPr>
                      <a:r>
                        <a:rPr lang="en-US" sz="2000" b="0" i="0" u="none" strike="noStrike">
                          <a:solidFill>
                            <a:srgbClr val="000000"/>
                          </a:solidFill>
                          <a:effectLst/>
                          <a:latin typeface="Garamond" panose="02020404030301010803" pitchFamily="18" charset="0"/>
                        </a:rPr>
                        <a:t>512-token truncation for long code</a:t>
                      </a:r>
                      <a:endParaRPr lang="en-US" sz="1600" b="1" i="0">
                        <a:solidFill>
                          <a:srgbClr val="FFFFFF"/>
                        </a:solidFill>
                        <a:effectLst/>
                        <a:latin typeface="Arial" panose="020B0604020202020204" pitchFamily="34" charset="0"/>
                      </a:endParaRPr>
                    </a:p>
                    <a:p>
                      <a:pPr marL="342900" lvl="0" indent="-342900" algn="l" fontAlgn="base">
                        <a:lnSpc>
                          <a:spcPts val="2400"/>
                        </a:lnSpc>
                        <a:buFont typeface="+mj-lt"/>
                        <a:buAutoNum type="arabicPeriod"/>
                      </a:pPr>
                      <a:r>
                        <a:rPr lang="en-US" sz="2000" b="0" i="0" u="none" strike="noStrike">
                          <a:solidFill>
                            <a:srgbClr val="000000"/>
                          </a:solidFill>
                          <a:effectLst/>
                          <a:latin typeface="Garamond" panose="02020404030301010803" pitchFamily="18" charset="0"/>
                        </a:rPr>
                        <a:t>May miss distant code relationships</a:t>
                      </a:r>
                      <a:endParaRPr lang="en-US" sz="1600" b="1" i="0">
                        <a:solidFill>
                          <a:srgbClr val="FFFFFF"/>
                        </a:solidFill>
                        <a:effectLst/>
                        <a:latin typeface="Arial" panose="020B0604020202020204" pitchFamily="34" charset="0"/>
                      </a:endParaRPr>
                    </a:p>
                    <a:p>
                      <a:pPr marL="342900" lvl="0" indent="-342900" algn="l" fontAlgn="base">
                        <a:lnSpc>
                          <a:spcPts val="2400"/>
                        </a:lnSpc>
                        <a:buFont typeface="+mj-lt"/>
                        <a:buAutoNum type="arabicPeriod"/>
                      </a:pPr>
                      <a:r>
                        <a:rPr lang="en-US" sz="2000" b="0" i="0" u="none" strike="noStrike">
                          <a:solidFill>
                            <a:srgbClr val="000000"/>
                          </a:solidFill>
                          <a:effectLst/>
                          <a:latin typeface="Garamond" panose="02020404030301010803" pitchFamily="18" charset="0"/>
                        </a:rPr>
                        <a:t>Semantic nuances not fully captured</a:t>
                      </a:r>
                      <a:endParaRPr lang="en-US" sz="1600" b="1" i="0">
                        <a:solidFill>
                          <a:srgbClr val="FFFFFF"/>
                        </a:solidFill>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400"/>
                        </a:lnSpc>
                        <a:buNone/>
                      </a:pPr>
                      <a:r>
                        <a:rPr lang="en-US" sz="2000" b="1" i="0" u="none" strike="noStrike">
                          <a:solidFill>
                            <a:srgbClr val="000000"/>
                          </a:solidFill>
                          <a:effectLst/>
                          <a:latin typeface="Garamond" panose="02020404030301010803" pitchFamily="18" charset="0"/>
                        </a:rPr>
                        <a:t>Class Overlap</a:t>
                      </a:r>
                      <a:endParaRPr lang="en-US" b="1" i="0">
                        <a:solidFill>
                          <a:srgbClr val="FFFFFF"/>
                        </a:solidFill>
                        <a:effectLst/>
                      </a:endParaRPr>
                    </a:p>
                    <a:p>
                      <a:pPr marL="342900" lvl="0" indent="-342900" algn="l" fontAlgn="base">
                        <a:lnSpc>
                          <a:spcPts val="2400"/>
                        </a:lnSpc>
                        <a:buFont typeface="+mj-lt"/>
                        <a:buAutoNum type="arabicPeriod"/>
                      </a:pPr>
                      <a:r>
                        <a:rPr lang="en-US" sz="2000" b="0" i="0" u="none" strike="noStrike">
                          <a:solidFill>
                            <a:srgbClr val="000000"/>
                          </a:solidFill>
                          <a:effectLst/>
                          <a:latin typeface="Garamond" panose="02020404030301010803" pitchFamily="18" charset="0"/>
                        </a:rPr>
                        <a:t>Ambiguous boundary between clean/smelly</a:t>
                      </a:r>
                      <a:endParaRPr lang="en-US" sz="1600" b="1" i="0">
                        <a:solidFill>
                          <a:srgbClr val="FFFFFF"/>
                        </a:solidFill>
                        <a:effectLst/>
                        <a:latin typeface="Arial" panose="020B0604020202020204" pitchFamily="34" charset="0"/>
                      </a:endParaRPr>
                    </a:p>
                    <a:p>
                      <a:pPr marL="342900" lvl="0" indent="-342900" algn="l" fontAlgn="base">
                        <a:lnSpc>
                          <a:spcPts val="2400"/>
                        </a:lnSpc>
                        <a:buFont typeface="+mj-lt"/>
                        <a:buAutoNum type="arabicPeriod"/>
                      </a:pPr>
                      <a:r>
                        <a:rPr lang="en-US" sz="2000" b="0" i="0" u="none" strike="noStrike">
                          <a:solidFill>
                            <a:srgbClr val="000000"/>
                          </a:solidFill>
                          <a:effectLst/>
                          <a:latin typeface="Garamond" panose="02020404030301010803" pitchFamily="18" charset="0"/>
                        </a:rPr>
                        <a:t>Gray area where developers disagree</a:t>
                      </a:r>
                      <a:endParaRPr lang="en-US" sz="1600" b="1" i="0">
                        <a:solidFill>
                          <a:srgbClr val="FFFFFF"/>
                        </a:solidFill>
                        <a:effectLst/>
                        <a:latin typeface="Arial" panose="020B0604020202020204" pitchFamily="34" charset="0"/>
                      </a:endParaRPr>
                    </a:p>
                    <a:p>
                      <a:pPr marL="342900" lvl="0" indent="-342900" algn="l" fontAlgn="base">
                        <a:lnSpc>
                          <a:spcPts val="2400"/>
                        </a:lnSpc>
                        <a:buFont typeface="+mj-lt"/>
                        <a:buAutoNum type="arabicPeriod"/>
                      </a:pPr>
                      <a:r>
                        <a:rPr lang="en-US" sz="2000" b="0" i="0" u="none" strike="noStrike">
                          <a:solidFill>
                            <a:srgbClr val="000000"/>
                          </a:solidFill>
                          <a:effectLst/>
                          <a:latin typeface="Garamond" panose="02020404030301010803" pitchFamily="18" charset="0"/>
                        </a:rPr>
                        <a:t>Multi-label nature simplified to binary</a:t>
                      </a:r>
                      <a:endParaRPr lang="en-US" sz="1600" b="1" i="0">
                        <a:solidFill>
                          <a:srgbClr val="FFFFFF"/>
                        </a:solidFill>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2400"/>
                        </a:lnSpc>
                        <a:buNone/>
                      </a:pPr>
                      <a:r>
                        <a:rPr lang="en-US" sz="2000" b="1" i="0" u="none" strike="noStrike">
                          <a:solidFill>
                            <a:srgbClr val="000000"/>
                          </a:solidFill>
                          <a:effectLst/>
                          <a:latin typeface="Garamond" panose="02020404030301010803" pitchFamily="18" charset="0"/>
                        </a:rPr>
                        <a:t>Dataset Limitations</a:t>
                      </a:r>
                      <a:endParaRPr lang="en-US" b="1" i="0">
                        <a:solidFill>
                          <a:srgbClr val="FFFFFF"/>
                        </a:solidFill>
                        <a:effectLst/>
                      </a:endParaRPr>
                    </a:p>
                    <a:p>
                      <a:pPr marL="342900" lvl="0" indent="-342900" algn="l" fontAlgn="base">
                        <a:lnSpc>
                          <a:spcPts val="2400"/>
                        </a:lnSpc>
                        <a:buFont typeface="+mj-lt"/>
                        <a:buAutoNum type="arabicPeriod"/>
                      </a:pPr>
                      <a:r>
                        <a:rPr lang="en-US" sz="2000" b="0" i="0" u="none" strike="noStrike">
                          <a:solidFill>
                            <a:srgbClr val="000000"/>
                          </a:solidFill>
                          <a:effectLst/>
                          <a:latin typeface="Garamond" panose="02020404030301010803" pitchFamily="18" charset="0"/>
                        </a:rPr>
                        <a:t>5K subset may not capture full diversity</a:t>
                      </a:r>
                      <a:endParaRPr lang="en-US" sz="1600" b="1" i="0">
                        <a:solidFill>
                          <a:srgbClr val="FFFFFF"/>
                        </a:solidFill>
                        <a:effectLst/>
                        <a:latin typeface="Arial" panose="020B0604020202020204" pitchFamily="34" charset="0"/>
                      </a:endParaRPr>
                    </a:p>
                    <a:p>
                      <a:pPr marL="342900" lvl="0" indent="-342900" algn="l" fontAlgn="base">
                        <a:lnSpc>
                          <a:spcPts val="2400"/>
                        </a:lnSpc>
                        <a:buFont typeface="+mj-lt"/>
                        <a:buAutoNum type="arabicPeriod"/>
                      </a:pPr>
                      <a:r>
                        <a:rPr lang="en-US" sz="2000" b="0" i="0" u="none" strike="noStrike">
                          <a:solidFill>
                            <a:srgbClr val="000000"/>
                          </a:solidFill>
                          <a:effectLst/>
                          <a:latin typeface="Garamond" panose="02020404030301010803" pitchFamily="18" charset="0"/>
                        </a:rPr>
                        <a:t>Balanced sampling vs real-world imbalance</a:t>
                      </a:r>
                      <a:endParaRPr lang="en-US" sz="1600" b="1" i="0">
                        <a:solidFill>
                          <a:srgbClr val="FFFFFF"/>
                        </a:solidFill>
                        <a:effectLst/>
                        <a:latin typeface="Arial" panose="020B0604020202020204" pitchFamily="34" charset="0"/>
                      </a:endParaRPr>
                    </a:p>
                    <a:p>
                      <a:pPr marL="342900" lvl="0" indent="-342900" algn="l" fontAlgn="base">
                        <a:lnSpc>
                          <a:spcPts val="2400"/>
                        </a:lnSpc>
                        <a:buFont typeface="+mj-lt"/>
                        <a:buAutoNum type="arabicPeriod"/>
                      </a:pPr>
                      <a:r>
                        <a:rPr lang="en-US" sz="2000" b="0" i="0" u="none" strike="noStrike">
                          <a:solidFill>
                            <a:srgbClr val="000000"/>
                          </a:solidFill>
                          <a:effectLst/>
                          <a:latin typeface="Garamond" panose="02020404030301010803" pitchFamily="18" charset="0"/>
                        </a:rPr>
                        <a:t>Potential annotation noise</a:t>
                      </a:r>
                      <a:endParaRPr lang="en-US" sz="1600" b="1" i="0">
                        <a:solidFill>
                          <a:srgbClr val="FFFFFF"/>
                        </a:solidFill>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227619748"/>
                  </a:ext>
                </a:extLst>
              </a:tr>
            </a:tbl>
          </a:graphicData>
        </a:graphic>
      </p:graphicFrame>
      <p:sp>
        <p:nvSpPr>
          <p:cNvPr id="6" name="TextBox 5">
            <a:extLst>
              <a:ext uri="{FF2B5EF4-FFF2-40B4-BE49-F238E27FC236}">
                <a16:creationId xmlns:a16="http://schemas.microsoft.com/office/drawing/2014/main" id="{4998654D-4F6A-4D70-ABFB-0CDF79260941}"/>
              </a:ext>
            </a:extLst>
          </p:cNvPr>
          <p:cNvSpPr txBox="1"/>
          <p:nvPr/>
        </p:nvSpPr>
        <p:spPr>
          <a:xfrm>
            <a:off x="737370" y="1538239"/>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baseline="0">
                <a:solidFill>
                  <a:srgbClr val="196B24"/>
                </a:solidFill>
                <a:latin typeface="Garamond"/>
              </a:rPr>
              <a:t>Error Sources</a:t>
            </a:r>
            <a:r>
              <a:rPr sz="2000">
                <a:latin typeface="Garamond"/>
                <a:ea typeface="Garamond"/>
                <a:cs typeface="Garamond"/>
              </a:rPr>
              <a:t>​</a:t>
            </a:r>
            <a:endParaRPr lang="en-US"/>
          </a:p>
          <a:p>
            <a:pPr algn="ctr"/>
            <a:endParaRPr lang="en-US"/>
          </a:p>
        </p:txBody>
      </p:sp>
    </p:spTree>
    <p:extLst>
      <p:ext uri="{BB962C8B-B14F-4D97-AF65-F5344CB8AC3E}">
        <p14:creationId xmlns:p14="http://schemas.microsoft.com/office/powerpoint/2010/main" val="770537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A8007-7235-14D5-3E9D-E3690C8DFDD9}"/>
              </a:ext>
            </a:extLst>
          </p:cNvPr>
          <p:cNvSpPr>
            <a:spLocks noGrp="1"/>
          </p:cNvSpPr>
          <p:nvPr>
            <p:ph type="title"/>
          </p:nvPr>
        </p:nvSpPr>
        <p:spPr/>
        <p:txBody>
          <a:bodyPr>
            <a:normAutofit/>
          </a:bodyPr>
          <a:lstStyle/>
          <a:p>
            <a:r>
              <a:rPr lang="en-US" sz="3600" b="1" dirty="0">
                <a:latin typeface="Mongolian Baiti"/>
                <a:cs typeface="Mongolian Baiti"/>
              </a:rPr>
              <a:t>Key Findings</a:t>
            </a:r>
          </a:p>
        </p:txBody>
      </p:sp>
      <p:sp>
        <p:nvSpPr>
          <p:cNvPr id="3" name="Content Placeholder 2">
            <a:extLst>
              <a:ext uri="{FF2B5EF4-FFF2-40B4-BE49-F238E27FC236}">
                <a16:creationId xmlns:a16="http://schemas.microsoft.com/office/drawing/2014/main" id="{ADA817A8-271F-9943-BDA6-4B5AF92C7166}"/>
              </a:ext>
            </a:extLst>
          </p:cNvPr>
          <p:cNvSpPr>
            <a:spLocks noGrp="1"/>
          </p:cNvSpPr>
          <p:nvPr>
            <p:ph idx="1"/>
          </p:nvPr>
        </p:nvSpPr>
        <p:spPr>
          <a:xfrm>
            <a:off x="838200" y="1825625"/>
            <a:ext cx="10515600" cy="1362408"/>
          </a:xfrm>
        </p:spPr>
        <p:txBody>
          <a:bodyPr vert="horz" lIns="91440" tIns="45720" rIns="91440" bIns="45720" rtlCol="0" anchor="t">
            <a:normAutofit fontScale="92500" lnSpcReduction="20000"/>
          </a:bodyPr>
          <a:lstStyle/>
          <a:p>
            <a:pPr>
              <a:buNone/>
            </a:pPr>
            <a:r>
              <a:rPr lang="en-US" sz="2400" b="1" dirty="0">
                <a:latin typeface="Garamond"/>
              </a:rPr>
              <a:t>Finding 1: Embeddings Are Sufficient</a:t>
            </a:r>
            <a:br>
              <a:rPr lang="en-US" sz="2400" b="1" dirty="0">
                <a:latin typeface="Garamond"/>
              </a:rPr>
            </a:br>
            <a:endParaRPr lang="en-US" sz="2400" b="1" dirty="0">
              <a:latin typeface="Garamond"/>
            </a:endParaRPr>
          </a:p>
          <a:p>
            <a:pPr marL="914400" lvl="1" indent="-457200">
              <a:buFont typeface="Courier New" panose="020B0604020202020204" pitchFamily="34" charset="0"/>
              <a:buChar char="o"/>
            </a:pPr>
            <a:r>
              <a:rPr lang="en-US" sz="1800" dirty="0" err="1">
                <a:latin typeface="Garamond"/>
                <a:ea typeface="+mn-lt"/>
                <a:cs typeface="+mn-lt"/>
              </a:rPr>
              <a:t>CodeBERT</a:t>
            </a:r>
            <a:r>
              <a:rPr lang="en-US" sz="1800" dirty="0">
                <a:latin typeface="Garamond"/>
                <a:ea typeface="+mn-lt"/>
                <a:cs typeface="+mn-lt"/>
              </a:rPr>
              <a:t> embeddings alone achieve ~78% accuracy.</a:t>
            </a:r>
          </a:p>
          <a:p>
            <a:pPr marL="914400" lvl="1" indent="-457200">
              <a:buFont typeface="Courier New" panose="020B0604020202020204" pitchFamily="34" charset="0"/>
              <a:buChar char="o"/>
            </a:pPr>
            <a:r>
              <a:rPr lang="en-US" sz="1800" dirty="0">
                <a:latin typeface="Garamond"/>
                <a:ea typeface="+mn-lt"/>
                <a:cs typeface="+mn-lt"/>
              </a:rPr>
              <a:t>No manual feature engineering required.</a:t>
            </a:r>
            <a:endParaRPr lang="en-US" dirty="0">
              <a:latin typeface="Aptos" panose="020B0004020202020204"/>
              <a:ea typeface="+mn-lt"/>
              <a:cs typeface="+mn-lt"/>
            </a:endParaRPr>
          </a:p>
          <a:p>
            <a:pPr marL="914400" lvl="1" indent="-457200">
              <a:buFont typeface="Courier New" panose="020B0604020202020204" pitchFamily="34" charset="0"/>
              <a:buChar char="o"/>
            </a:pPr>
            <a:r>
              <a:rPr lang="en-US" sz="1800" dirty="0">
                <a:latin typeface="Garamond"/>
                <a:ea typeface="+mn-lt"/>
                <a:cs typeface="+mn-lt"/>
              </a:rPr>
              <a:t>Semantic understanding captures smell patterns.</a:t>
            </a:r>
          </a:p>
          <a:p>
            <a:pPr marL="914400" lvl="1" indent="-457200">
              <a:buFont typeface="Courier New" panose="020B0604020202020204" pitchFamily="34" charset="0"/>
              <a:buChar char="o"/>
            </a:pPr>
            <a:endParaRPr lang="en-US" sz="1800" dirty="0">
              <a:ea typeface="+mn-lt"/>
              <a:cs typeface="+mn-lt"/>
            </a:endParaRPr>
          </a:p>
          <a:p>
            <a:pPr marL="914400" lvl="1" indent="-457200">
              <a:buFont typeface="Courier New" panose="020B0604020202020204" pitchFamily="34" charset="0"/>
              <a:buChar char="o"/>
            </a:pPr>
            <a:endParaRPr lang="en-US" sz="1800" dirty="0">
              <a:ea typeface="+mn-lt"/>
              <a:cs typeface="+mn-lt"/>
            </a:endParaRPr>
          </a:p>
          <a:p>
            <a:pPr marL="914400" lvl="1" indent="-457200">
              <a:buFont typeface="Courier New" panose="020B0604020202020204" pitchFamily="34" charset="0"/>
              <a:buChar char="o"/>
            </a:pPr>
            <a:endParaRPr lang="en-US" sz="1800" dirty="0">
              <a:ea typeface="+mn-lt"/>
              <a:cs typeface="+mn-lt"/>
            </a:endParaRPr>
          </a:p>
          <a:p>
            <a:pPr marL="914400" lvl="1" indent="-457200">
              <a:buFont typeface="Courier New" panose="020B0604020202020204" pitchFamily="34" charset="0"/>
              <a:buChar char="o"/>
            </a:pPr>
            <a:endParaRPr lang="en-US" sz="1800" dirty="0">
              <a:ea typeface="+mn-lt"/>
              <a:cs typeface="+mn-lt"/>
            </a:endParaRPr>
          </a:p>
          <a:p>
            <a:pPr marL="914400" lvl="1" indent="-457200">
              <a:buFont typeface="Courier New" panose="020B0604020202020204" pitchFamily="34" charset="0"/>
              <a:buChar char="o"/>
            </a:pPr>
            <a:endParaRPr lang="en-US" sz="1800" dirty="0">
              <a:ea typeface="+mn-lt"/>
              <a:cs typeface="+mn-lt"/>
            </a:endParaRPr>
          </a:p>
          <a:p>
            <a:pPr marL="914400" lvl="1" indent="-457200">
              <a:buFont typeface="Courier New" panose="020B0604020202020204" pitchFamily="34" charset="0"/>
              <a:buChar char="o"/>
            </a:pPr>
            <a:endParaRPr lang="en-US" sz="1800" dirty="0"/>
          </a:p>
        </p:txBody>
      </p:sp>
      <p:sp>
        <p:nvSpPr>
          <p:cNvPr id="4" name="TextBox 3">
            <a:extLst>
              <a:ext uri="{FF2B5EF4-FFF2-40B4-BE49-F238E27FC236}">
                <a16:creationId xmlns:a16="http://schemas.microsoft.com/office/drawing/2014/main" id="{BD015B56-4375-6CBB-7B04-0FE3B2B51481}"/>
              </a:ext>
            </a:extLst>
          </p:cNvPr>
          <p:cNvSpPr txBox="1"/>
          <p:nvPr/>
        </p:nvSpPr>
        <p:spPr>
          <a:xfrm>
            <a:off x="829632" y="3831265"/>
            <a:ext cx="10525055"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latin typeface="Garamond"/>
                <a:cs typeface="Mongolian Baiti"/>
              </a:rPr>
              <a:t>Finding 2: Model Parity</a:t>
            </a:r>
            <a:br>
              <a:rPr lang="en-US" sz="2400" b="1" dirty="0">
                <a:latin typeface="Garamond"/>
                <a:cs typeface="Mongolian Baiti"/>
              </a:rPr>
            </a:br>
            <a:endParaRPr lang="en-US" sz="2400" b="1" dirty="0">
              <a:latin typeface="Mongolian Baiti"/>
              <a:cs typeface="Mongolian Baiti"/>
            </a:endParaRPr>
          </a:p>
          <a:p>
            <a:pPr marL="914400" lvl="1" indent="-457200">
              <a:buFont typeface="Courier New"/>
              <a:buChar char="o"/>
            </a:pPr>
            <a:r>
              <a:rPr lang="en-US" dirty="0">
                <a:latin typeface="Garamond"/>
                <a:ea typeface="+mn-lt"/>
                <a:cs typeface="+mn-lt"/>
              </a:rPr>
              <a:t>Random Forest and MLP perform comparably.</a:t>
            </a:r>
          </a:p>
          <a:p>
            <a:pPr marL="914400" lvl="1" indent="-457200">
              <a:buFont typeface="Courier New"/>
              <a:buChar char="o"/>
            </a:pPr>
            <a:r>
              <a:rPr lang="en-US" dirty="0">
                <a:latin typeface="Garamond"/>
                <a:ea typeface="+mn-lt"/>
                <a:cs typeface="+mn-lt"/>
              </a:rPr>
              <a:t>No statistically significant difference (&lt;0.2%).</a:t>
            </a:r>
            <a:endParaRPr lang="en-US">
              <a:latin typeface="Garamond"/>
            </a:endParaRPr>
          </a:p>
          <a:p>
            <a:pPr marL="914400" lvl="1" indent="-457200">
              <a:buFont typeface="Courier New"/>
              <a:buChar char="o"/>
            </a:pPr>
            <a:r>
              <a:rPr lang="en-US" dirty="0">
                <a:latin typeface="Garamond"/>
                <a:ea typeface="+mn-lt"/>
                <a:cs typeface="+mn-lt"/>
              </a:rPr>
              <a:t>Choice based on deployment needs, not accuracy.</a:t>
            </a:r>
          </a:p>
        </p:txBody>
      </p:sp>
    </p:spTree>
    <p:extLst>
      <p:ext uri="{BB962C8B-B14F-4D97-AF65-F5344CB8AC3E}">
        <p14:creationId xmlns:p14="http://schemas.microsoft.com/office/powerpoint/2010/main" val="1958915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CB32EB-9697-626C-BAD8-9ADA58ADB9F0}"/>
              </a:ext>
            </a:extLst>
          </p:cNvPr>
          <p:cNvSpPr>
            <a:spLocks noGrp="1"/>
          </p:cNvSpPr>
          <p:nvPr>
            <p:ph idx="1"/>
          </p:nvPr>
        </p:nvSpPr>
        <p:spPr>
          <a:xfrm>
            <a:off x="838200" y="1418044"/>
            <a:ext cx="10515600" cy="1510083"/>
          </a:xfrm>
        </p:spPr>
        <p:txBody>
          <a:bodyPr vert="horz" lIns="91440" tIns="45720" rIns="91440" bIns="45720" rtlCol="0" anchor="t">
            <a:normAutofit/>
          </a:bodyPr>
          <a:lstStyle/>
          <a:p>
            <a:pPr>
              <a:buNone/>
            </a:pPr>
            <a:r>
              <a:rPr lang="en-US" sz="2200" b="1" dirty="0">
                <a:latin typeface="Garamond"/>
                <a:cs typeface="Mongolian Baiti"/>
              </a:rPr>
              <a:t>Finding 3: Complementary Strengths</a:t>
            </a:r>
          </a:p>
          <a:p>
            <a:pPr marL="914400" lvl="1" indent="-457200">
              <a:buFont typeface="Courier New" panose="020B0604020202020204" pitchFamily="34" charset="0"/>
              <a:buChar char="o"/>
            </a:pPr>
            <a:r>
              <a:rPr lang="en-US" sz="1800" dirty="0">
                <a:latin typeface="Garamond"/>
                <a:ea typeface="+mn-lt"/>
                <a:cs typeface="+mn-lt"/>
              </a:rPr>
              <a:t>RF: Better recall for smelly code (0.86), interpretable.</a:t>
            </a:r>
          </a:p>
          <a:p>
            <a:pPr marL="914400" lvl="1" indent="-457200">
              <a:buFont typeface="Courier New" panose="020B0604020202020204" pitchFamily="34" charset="0"/>
              <a:buChar char="o"/>
            </a:pPr>
            <a:r>
              <a:rPr lang="en-US" sz="1800">
                <a:latin typeface="Garamond"/>
                <a:ea typeface="+mn-lt"/>
                <a:cs typeface="+mn-lt"/>
              </a:rPr>
              <a:t>MLP: More balanced (0.77-0.81), flexible architecture.</a:t>
            </a:r>
          </a:p>
          <a:p>
            <a:pPr marL="914400" lvl="1" indent="-457200">
              <a:buFont typeface="Courier New" panose="020B0604020202020204" pitchFamily="34" charset="0"/>
              <a:buChar char="o"/>
            </a:pPr>
            <a:r>
              <a:rPr lang="en-US" sz="1800" dirty="0">
                <a:latin typeface="Garamond"/>
                <a:ea typeface="+mn-lt"/>
                <a:cs typeface="+mn-lt"/>
              </a:rPr>
              <a:t>Both suitable for production deployment.</a:t>
            </a:r>
            <a:endParaRPr lang="en-US" sz="1800">
              <a:latin typeface="Aptos" panose="020B0004020202020204"/>
              <a:ea typeface="+mn-lt"/>
              <a:cs typeface="+mn-lt"/>
            </a:endParaRPr>
          </a:p>
        </p:txBody>
      </p:sp>
      <p:sp>
        <p:nvSpPr>
          <p:cNvPr id="5" name="Content Placeholder 2">
            <a:extLst>
              <a:ext uri="{FF2B5EF4-FFF2-40B4-BE49-F238E27FC236}">
                <a16:creationId xmlns:a16="http://schemas.microsoft.com/office/drawing/2014/main" id="{D61D3572-5AE9-F47E-178D-D3181338FF1B}"/>
              </a:ext>
            </a:extLst>
          </p:cNvPr>
          <p:cNvSpPr txBox="1">
            <a:spLocks/>
          </p:cNvSpPr>
          <p:nvPr/>
        </p:nvSpPr>
        <p:spPr>
          <a:xfrm>
            <a:off x="837019" y="3732397"/>
            <a:ext cx="10515600" cy="151008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b="1" dirty="0">
                <a:latin typeface="Garamond"/>
                <a:cs typeface="Mongolian Baiti"/>
              </a:rPr>
              <a:t>Finding 4: Practical Deployment</a:t>
            </a:r>
            <a:endParaRPr lang="en-US" sz="2200" b="1" dirty="0">
              <a:latin typeface="Garamond"/>
            </a:endParaRPr>
          </a:p>
          <a:p>
            <a:pPr marL="914400" lvl="1" indent="-457200">
              <a:buFont typeface="Courier New" panose="020B0604020202020204" pitchFamily="34" charset="0"/>
              <a:buChar char="o"/>
            </a:pPr>
            <a:r>
              <a:rPr lang="en-US" sz="1800" dirty="0">
                <a:latin typeface="Garamond"/>
                <a:ea typeface="+mn-lt"/>
                <a:cs typeface="+mn-lt"/>
              </a:rPr>
              <a:t>Real-time inference capability (&lt;0.01s per sample).</a:t>
            </a:r>
          </a:p>
          <a:p>
            <a:pPr marL="914400" lvl="1" indent="-457200">
              <a:buFont typeface="Courier New" panose="020B0604020202020204" pitchFamily="34" charset="0"/>
              <a:buChar char="o"/>
            </a:pPr>
            <a:r>
              <a:rPr lang="en-US" sz="1800" dirty="0">
                <a:latin typeface="Garamond"/>
                <a:ea typeface="+mn-lt"/>
                <a:cs typeface="+mn-lt"/>
              </a:rPr>
              <a:t>Standard hardware sufficient (CPU-only).</a:t>
            </a:r>
          </a:p>
          <a:p>
            <a:pPr marL="914400" lvl="1" indent="-457200">
              <a:buFont typeface="Courier New" panose="020B0604020202020204" pitchFamily="34" charset="0"/>
              <a:buChar char="o"/>
            </a:pPr>
            <a:r>
              <a:rPr lang="en-US" sz="1800" dirty="0">
                <a:latin typeface="Garamond"/>
                <a:ea typeface="+mn-lt"/>
                <a:cs typeface="+mn-lt"/>
              </a:rPr>
              <a:t>Simple architecture (</a:t>
            </a:r>
            <a:r>
              <a:rPr lang="en-US" sz="1800" err="1">
                <a:latin typeface="Garamond"/>
                <a:ea typeface="+mn-lt"/>
                <a:cs typeface="+mn-lt"/>
              </a:rPr>
              <a:t>CodeBERT</a:t>
            </a:r>
            <a:r>
              <a:rPr lang="en-US" sz="1800" dirty="0">
                <a:latin typeface="Garamond"/>
                <a:ea typeface="+mn-lt"/>
                <a:cs typeface="+mn-lt"/>
              </a:rPr>
              <a:t> + Classifier).</a:t>
            </a:r>
            <a:endParaRPr lang="en-US" sz="1800" dirty="0">
              <a:latin typeface="Aptos" panose="020B0004020202020204"/>
              <a:ea typeface="+mn-lt"/>
              <a:cs typeface="+mn-lt"/>
            </a:endParaRPr>
          </a:p>
        </p:txBody>
      </p:sp>
      <p:sp>
        <p:nvSpPr>
          <p:cNvPr id="6" name="TextBox 5">
            <a:extLst>
              <a:ext uri="{FF2B5EF4-FFF2-40B4-BE49-F238E27FC236}">
                <a16:creationId xmlns:a16="http://schemas.microsoft.com/office/drawing/2014/main" id="{D48DF9DC-79C5-A1AF-87B1-CD801D322910}"/>
              </a:ext>
            </a:extLst>
          </p:cNvPr>
          <p:cNvSpPr txBox="1"/>
          <p:nvPr/>
        </p:nvSpPr>
        <p:spPr>
          <a:xfrm>
            <a:off x="634114" y="6041951"/>
            <a:ext cx="10388600" cy="4001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solidFill>
                  <a:srgbClr val="C00000"/>
                </a:solidFill>
                <a:latin typeface="Garamond"/>
                <a:ea typeface="+mn-lt"/>
                <a:cs typeface="+mn-lt"/>
              </a:rPr>
              <a:t>🎯 </a:t>
            </a:r>
            <a:r>
              <a:rPr lang="en-US" sz="2000" err="1">
                <a:solidFill>
                  <a:srgbClr val="C00000"/>
                </a:solidFill>
                <a:latin typeface="Garamond"/>
                <a:ea typeface="+mn-lt"/>
                <a:cs typeface="+mn-lt"/>
              </a:rPr>
              <a:t>CodeBERT</a:t>
            </a:r>
            <a:r>
              <a:rPr lang="en-US" sz="2000" dirty="0">
                <a:solidFill>
                  <a:srgbClr val="C00000"/>
                </a:solidFill>
                <a:latin typeface="Garamond"/>
                <a:ea typeface="+mn-lt"/>
                <a:cs typeface="+mn-lt"/>
              </a:rPr>
              <a:t> + Lightweight Classifiers = Practical Code Smell Detection</a:t>
            </a:r>
            <a:endParaRPr lang="en-US" sz="2000">
              <a:solidFill>
                <a:srgbClr val="C00000"/>
              </a:solidFill>
              <a:latin typeface="Garamond"/>
            </a:endParaRPr>
          </a:p>
        </p:txBody>
      </p:sp>
    </p:spTree>
    <p:extLst>
      <p:ext uri="{BB962C8B-B14F-4D97-AF65-F5344CB8AC3E}">
        <p14:creationId xmlns:p14="http://schemas.microsoft.com/office/powerpoint/2010/main" val="2884761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A62EB-1D4B-3F20-48A7-A88C908825CB}"/>
              </a:ext>
            </a:extLst>
          </p:cNvPr>
          <p:cNvSpPr>
            <a:spLocks noGrp="1"/>
          </p:cNvSpPr>
          <p:nvPr>
            <p:ph type="title"/>
          </p:nvPr>
        </p:nvSpPr>
        <p:spPr/>
        <p:txBody>
          <a:bodyPr>
            <a:normAutofit/>
          </a:bodyPr>
          <a:lstStyle/>
          <a:p>
            <a:r>
              <a:rPr lang="en-US" sz="3600" b="1" dirty="0">
                <a:latin typeface="Mongolian Baiti"/>
                <a:ea typeface="+mj-lt"/>
                <a:cs typeface="+mj-lt"/>
              </a:rPr>
              <a:t>Practical Deployment: Real-World Integration</a:t>
            </a:r>
            <a:endParaRPr lang="en-US" sz="3600" b="1" dirty="0">
              <a:latin typeface="Mongolian Baiti"/>
            </a:endParaRPr>
          </a:p>
        </p:txBody>
      </p:sp>
      <p:sp>
        <p:nvSpPr>
          <p:cNvPr id="3" name="Content Placeholder 2">
            <a:extLst>
              <a:ext uri="{FF2B5EF4-FFF2-40B4-BE49-F238E27FC236}">
                <a16:creationId xmlns:a16="http://schemas.microsoft.com/office/drawing/2014/main" id="{4D2B5890-F24C-DF4C-2281-7EFE79AC1A49}"/>
              </a:ext>
            </a:extLst>
          </p:cNvPr>
          <p:cNvSpPr>
            <a:spLocks noGrp="1"/>
          </p:cNvSpPr>
          <p:nvPr>
            <p:ph idx="1"/>
          </p:nvPr>
        </p:nvSpPr>
        <p:spPr>
          <a:xfrm>
            <a:off x="838200" y="1530436"/>
            <a:ext cx="10515600" cy="1632852"/>
          </a:xfrm>
        </p:spPr>
        <p:txBody>
          <a:bodyPr vert="horz" lIns="91440" tIns="45720" rIns="91440" bIns="45720" rtlCol="0" anchor="t">
            <a:normAutofit/>
          </a:bodyPr>
          <a:lstStyle/>
          <a:p>
            <a:pPr marL="0" indent="0">
              <a:buNone/>
            </a:pPr>
            <a:r>
              <a:rPr lang="en-US" sz="2000" b="1" dirty="0">
                <a:latin typeface="Garamond"/>
                <a:ea typeface="+mn-lt"/>
                <a:cs typeface="+mn-lt"/>
              </a:rPr>
              <a:t>Inference Performance</a:t>
            </a:r>
          </a:p>
          <a:p>
            <a:pPr marL="914400" lvl="1" indent="-457200">
              <a:buFont typeface="Courier New" panose="020B0604020202020204" pitchFamily="34" charset="0"/>
              <a:buChar char="o"/>
            </a:pPr>
            <a:r>
              <a:rPr lang="en-US" sz="1800" b="1" dirty="0">
                <a:latin typeface="Garamond"/>
                <a:ea typeface="+mn-lt"/>
                <a:cs typeface="+mn-lt"/>
              </a:rPr>
              <a:t>Latency</a:t>
            </a:r>
            <a:r>
              <a:rPr lang="en-US" sz="1800" dirty="0">
                <a:latin typeface="Garamond"/>
                <a:ea typeface="+mn-lt"/>
                <a:cs typeface="+mn-lt"/>
              </a:rPr>
              <a:t>: &lt;0.01s per code sample.</a:t>
            </a:r>
          </a:p>
          <a:p>
            <a:pPr marL="914400" lvl="1" indent="-457200">
              <a:buFont typeface="Courier New" panose="020B0604020202020204" pitchFamily="34" charset="0"/>
              <a:buChar char="o"/>
            </a:pPr>
            <a:r>
              <a:rPr lang="en-US" sz="1800" b="1" dirty="0">
                <a:latin typeface="Garamond"/>
                <a:ea typeface="+mn-lt"/>
                <a:cs typeface="+mn-lt"/>
              </a:rPr>
              <a:t>Throughput</a:t>
            </a:r>
            <a:r>
              <a:rPr lang="en-US" sz="1800" dirty="0">
                <a:latin typeface="Garamond"/>
                <a:ea typeface="+mn-lt"/>
                <a:cs typeface="+mn-lt"/>
              </a:rPr>
              <a:t>: 100+ samples/second.</a:t>
            </a:r>
          </a:p>
          <a:p>
            <a:pPr marL="914400" lvl="1" indent="-457200">
              <a:buFont typeface="Courier New" panose="020B0604020202020204" pitchFamily="34" charset="0"/>
              <a:buChar char="o"/>
            </a:pPr>
            <a:r>
              <a:rPr lang="en-US" sz="1800" b="1" dirty="0">
                <a:latin typeface="Garamond"/>
                <a:ea typeface="+mn-lt"/>
                <a:cs typeface="+mn-lt"/>
              </a:rPr>
              <a:t>Resource Usage</a:t>
            </a:r>
            <a:r>
              <a:rPr lang="en-US" sz="1800" dirty="0">
                <a:latin typeface="Garamond"/>
                <a:ea typeface="+mn-lt"/>
                <a:cs typeface="+mn-lt"/>
              </a:rPr>
              <a:t>: Standard CPU sufficient.</a:t>
            </a:r>
          </a:p>
          <a:p>
            <a:pPr marL="914400" lvl="1" indent="-457200">
              <a:buFont typeface="Courier New" panose="020B0604020202020204" pitchFamily="34" charset="0"/>
              <a:buChar char="o"/>
            </a:pPr>
            <a:r>
              <a:rPr lang="en-US" sz="1800" b="1" dirty="0">
                <a:latin typeface="Garamond"/>
                <a:ea typeface="+mn-lt"/>
                <a:cs typeface="+mn-lt"/>
              </a:rPr>
              <a:t>Memory</a:t>
            </a:r>
            <a:r>
              <a:rPr lang="en-US" sz="1800" dirty="0">
                <a:latin typeface="Garamond"/>
                <a:ea typeface="+mn-lt"/>
                <a:cs typeface="+mn-lt"/>
              </a:rPr>
              <a:t>: &lt;2GB for model + embeddings.</a:t>
            </a:r>
            <a:endParaRPr lang="en-US" sz="1800">
              <a:latin typeface="Garamond"/>
            </a:endParaRPr>
          </a:p>
          <a:p>
            <a:pPr marL="914400" lvl="1" indent="-457200">
              <a:buAutoNum type="arabicPeriod"/>
            </a:pPr>
            <a:endParaRPr lang="en-US" sz="1600" dirty="0">
              <a:latin typeface="Garamond"/>
            </a:endParaRPr>
          </a:p>
          <a:p>
            <a:pPr marL="457200" indent="-457200">
              <a:buAutoNum type="arabicPeriod"/>
            </a:pPr>
            <a:endParaRPr lang="en-US" sz="2000" dirty="0">
              <a:latin typeface="Aptos"/>
            </a:endParaRPr>
          </a:p>
        </p:txBody>
      </p:sp>
      <p:sp>
        <p:nvSpPr>
          <p:cNvPr id="5" name="TextBox 4">
            <a:extLst>
              <a:ext uri="{FF2B5EF4-FFF2-40B4-BE49-F238E27FC236}">
                <a16:creationId xmlns:a16="http://schemas.microsoft.com/office/drawing/2014/main" id="{70D2FCD3-6366-B21C-18F7-6DC3256C8BE1}"/>
              </a:ext>
            </a:extLst>
          </p:cNvPr>
          <p:cNvSpPr txBox="1"/>
          <p:nvPr/>
        </p:nvSpPr>
        <p:spPr>
          <a:xfrm>
            <a:off x="837513" y="3384378"/>
            <a:ext cx="593124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Garamond"/>
                <a:ea typeface="+mn-lt"/>
                <a:cs typeface="+mn-lt"/>
              </a:rPr>
              <a:t>Integration Options</a:t>
            </a:r>
            <a:endParaRPr lang="en-US">
              <a:latin typeface="Aptos" panose="020B0004020202020204"/>
              <a:ea typeface="+mn-lt"/>
              <a:cs typeface="+mn-lt"/>
            </a:endParaRPr>
          </a:p>
        </p:txBody>
      </p:sp>
      <p:graphicFrame>
        <p:nvGraphicFramePr>
          <p:cNvPr id="6" name="Table 5">
            <a:extLst>
              <a:ext uri="{FF2B5EF4-FFF2-40B4-BE49-F238E27FC236}">
                <a16:creationId xmlns:a16="http://schemas.microsoft.com/office/drawing/2014/main" id="{1855C71B-EDC6-74F7-22DB-DCC3C8713CA8}"/>
              </a:ext>
            </a:extLst>
          </p:cNvPr>
          <p:cNvGraphicFramePr>
            <a:graphicFrameLocks noGrp="1"/>
          </p:cNvGraphicFramePr>
          <p:nvPr>
            <p:extLst>
              <p:ext uri="{D42A27DB-BD31-4B8C-83A1-F6EECF244321}">
                <p14:modId xmlns:p14="http://schemas.microsoft.com/office/powerpoint/2010/main" val="3865496575"/>
              </p:ext>
            </p:extLst>
          </p:nvPr>
        </p:nvGraphicFramePr>
        <p:xfrm>
          <a:off x="837788" y="3784106"/>
          <a:ext cx="10264940" cy="1859280"/>
        </p:xfrm>
        <a:graphic>
          <a:graphicData uri="http://schemas.openxmlformats.org/drawingml/2006/table">
            <a:tbl>
              <a:tblPr firstRow="1" bandRow="1">
                <a:tableStyleId>{5C22544A-7EE6-4342-B048-85BDC9FD1C3A}</a:tableStyleId>
              </a:tblPr>
              <a:tblGrid>
                <a:gridCol w="3327011">
                  <a:extLst>
                    <a:ext uri="{9D8B030D-6E8A-4147-A177-3AD203B41FA5}">
                      <a16:colId xmlns:a16="http://schemas.microsoft.com/office/drawing/2014/main" val="858528049"/>
                    </a:ext>
                  </a:extLst>
                </a:gridCol>
                <a:gridCol w="3327011">
                  <a:extLst>
                    <a:ext uri="{9D8B030D-6E8A-4147-A177-3AD203B41FA5}">
                      <a16:colId xmlns:a16="http://schemas.microsoft.com/office/drawing/2014/main" val="1219353355"/>
                    </a:ext>
                  </a:extLst>
                </a:gridCol>
                <a:gridCol w="3610918">
                  <a:extLst>
                    <a:ext uri="{9D8B030D-6E8A-4147-A177-3AD203B41FA5}">
                      <a16:colId xmlns:a16="http://schemas.microsoft.com/office/drawing/2014/main" val="4147187813"/>
                    </a:ext>
                  </a:extLst>
                </a:gridCol>
              </a:tblGrid>
              <a:tr h="370840">
                <a:tc>
                  <a:txBody>
                    <a:bodyPr/>
                    <a:lstStyle/>
                    <a:p>
                      <a:pPr lvl="0" algn="ctr">
                        <a:buNone/>
                      </a:pPr>
                      <a:r>
                        <a:rPr lang="en-US" sz="2000" b="1" i="0" u="none" strike="noStrike" noProof="0" dirty="0">
                          <a:solidFill>
                            <a:schemeClr val="tx1"/>
                          </a:solidFill>
                          <a:latin typeface="Garamond"/>
                        </a:rPr>
                        <a:t>CI/CD Pipelines</a:t>
                      </a:r>
                      <a:endParaRPr lang="en-US" sz="2000" b="1" dirty="0">
                        <a:latin typeface="Garamond"/>
                      </a:endParaRPr>
                    </a:p>
                  </a:txBody>
                  <a:tcPr>
                    <a:solidFill>
                      <a:schemeClr val="bg1"/>
                    </a:solidFill>
                  </a:tcPr>
                </a:tc>
                <a:tc>
                  <a:txBody>
                    <a:bodyPr/>
                    <a:lstStyle/>
                    <a:p>
                      <a:pPr lvl="0">
                        <a:buNone/>
                      </a:pPr>
                      <a:r>
                        <a:rPr lang="en-US" sz="2000" b="1" i="0" u="none" strike="noStrike" noProof="0" dirty="0">
                          <a:solidFill>
                            <a:schemeClr val="tx1"/>
                          </a:solidFill>
                          <a:latin typeface="Garamond"/>
                        </a:rPr>
                        <a:t>IDE Extensions</a:t>
                      </a:r>
                      <a:endParaRPr lang="en-US" b="1">
                        <a:latin typeface="Garamond"/>
                      </a:endParaRPr>
                    </a:p>
                  </a:txBody>
                  <a:tcPr>
                    <a:solidFill>
                      <a:schemeClr val="bg1"/>
                    </a:solidFill>
                  </a:tcPr>
                </a:tc>
                <a:tc>
                  <a:txBody>
                    <a:bodyPr/>
                    <a:lstStyle/>
                    <a:p>
                      <a:pPr lvl="0">
                        <a:buNone/>
                      </a:pPr>
                      <a:r>
                        <a:rPr lang="en-US" sz="2000" b="1" i="0" u="none" strike="noStrike" noProof="0" dirty="0">
                          <a:solidFill>
                            <a:schemeClr val="tx1"/>
                          </a:solidFill>
                          <a:latin typeface="Garamond"/>
                        </a:rPr>
                        <a:t>Standalone Service</a:t>
                      </a:r>
                      <a:endParaRPr lang="en-US" sz="2000" b="1">
                        <a:solidFill>
                          <a:schemeClr val="tx1"/>
                        </a:solidFill>
                        <a:latin typeface="Garamond"/>
                      </a:endParaRPr>
                    </a:p>
                  </a:txBody>
                  <a:tcPr>
                    <a:solidFill>
                      <a:schemeClr val="bg1"/>
                    </a:solidFill>
                  </a:tcPr>
                </a:tc>
                <a:extLst>
                  <a:ext uri="{0D108BD9-81ED-4DB2-BD59-A6C34878D82A}">
                    <a16:rowId xmlns:a16="http://schemas.microsoft.com/office/drawing/2014/main" val="996010106"/>
                  </a:ext>
                </a:extLst>
              </a:tr>
              <a:tr h="370840">
                <a:tc>
                  <a:txBody>
                    <a:bodyPr/>
                    <a:lstStyle/>
                    <a:p>
                      <a:pPr marL="342900" indent="-342900">
                        <a:buAutoNum type="arabicPeriod"/>
                      </a:pPr>
                      <a:r>
                        <a:rPr lang="en-US" sz="1800" b="0" i="0" u="none" strike="noStrike" noProof="0" dirty="0">
                          <a:latin typeface="Garamond"/>
                        </a:rPr>
                        <a:t>Pre-commit hooks</a:t>
                      </a:r>
                    </a:p>
                    <a:p>
                      <a:pPr marL="342900" lvl="0" indent="-342900">
                        <a:buAutoNum type="arabicPeriod"/>
                      </a:pPr>
                      <a:r>
                        <a:rPr lang="en-US" sz="1800" b="0" i="0" u="none" strike="noStrike" noProof="0" dirty="0">
                          <a:latin typeface="Garamond"/>
                        </a:rPr>
                        <a:t>Pull request checks</a:t>
                      </a:r>
                    </a:p>
                    <a:p>
                      <a:pPr marL="342900" lvl="0" indent="-342900">
                        <a:buAutoNum type="arabicPeriod"/>
                      </a:pPr>
                      <a:r>
                        <a:rPr lang="en-US" sz="1800" b="0" i="0" u="none" strike="noStrike" noProof="0" dirty="0">
                          <a:latin typeface="Garamond"/>
                        </a:rPr>
                        <a:t>Automated quality </a:t>
                      </a:r>
                      <a:r>
                        <a:rPr lang="en-US" sz="1800" b="0" i="0" u="none" strike="noStrike" noProof="0">
                          <a:latin typeface="Garamond"/>
                        </a:rPr>
                        <a:t>gates</a:t>
                      </a:r>
                    </a:p>
                    <a:p>
                      <a:pPr marL="342900" lvl="0" indent="-342900">
                        <a:buAutoNum type="arabicPeriod"/>
                      </a:pPr>
                      <a:r>
                        <a:rPr lang="en-US" sz="1800" b="0" i="0" u="none" strike="noStrike" noProof="0" dirty="0">
                          <a:latin typeface="Garamond"/>
                        </a:rPr>
                        <a:t>Block smelly code before merge</a:t>
                      </a:r>
                    </a:p>
                  </a:txBody>
                  <a:tcPr>
                    <a:solidFill>
                      <a:schemeClr val="bg1"/>
                    </a:solidFill>
                  </a:tcPr>
                </a:tc>
                <a:tc>
                  <a:txBody>
                    <a:bodyPr/>
                    <a:lstStyle/>
                    <a:p>
                      <a:pPr marL="342900" indent="-342900">
                        <a:buAutoNum type="arabicPeriod"/>
                      </a:pPr>
                      <a:r>
                        <a:rPr lang="en-US" sz="1800" b="0" i="0" u="none" strike="noStrike" noProof="0" dirty="0">
                          <a:latin typeface="Garamond"/>
                        </a:rPr>
                        <a:t>Real-time feedback</a:t>
                      </a:r>
                    </a:p>
                    <a:p>
                      <a:pPr marL="342900" lvl="0" indent="-342900">
                        <a:buAutoNum type="arabicPeriod"/>
                      </a:pPr>
                      <a:r>
                        <a:rPr lang="en-US" sz="1800" b="0" i="0" u="none" strike="noStrike" noProof="0" dirty="0">
                          <a:latin typeface="Garamond"/>
                        </a:rPr>
                        <a:t>Inline suggestions</a:t>
                      </a:r>
                    </a:p>
                    <a:p>
                      <a:pPr marL="342900" lvl="0" indent="-342900">
                        <a:buAutoNum type="arabicPeriod"/>
                      </a:pPr>
                      <a:r>
                        <a:rPr lang="en-US" sz="1800" b="0" i="0" u="none" strike="noStrike" noProof="0" dirty="0">
                          <a:latin typeface="Garamond"/>
                        </a:rPr>
                        <a:t>Code review assistance</a:t>
                      </a:r>
                    </a:p>
                    <a:p>
                      <a:pPr marL="342900" lvl="0" indent="-342900">
                        <a:buAutoNum type="arabicPeriod"/>
                      </a:pPr>
                      <a:r>
                        <a:rPr lang="en-US" sz="1800" b="0" i="0" u="none" strike="noStrike" noProof="0" dirty="0">
                          <a:latin typeface="Garamond"/>
                        </a:rPr>
                        <a:t>Developer education</a:t>
                      </a:r>
                    </a:p>
                  </a:txBody>
                  <a:tcPr>
                    <a:solidFill>
                      <a:schemeClr val="bg1"/>
                    </a:solidFill>
                  </a:tcPr>
                </a:tc>
                <a:tc>
                  <a:txBody>
                    <a:bodyPr/>
                    <a:lstStyle/>
                    <a:p>
                      <a:pPr marL="342900" lvl="0" indent="-342900">
                        <a:buAutoNum type="arabicPeriod"/>
                      </a:pPr>
                      <a:r>
                        <a:rPr lang="en-US" sz="1800" b="0" i="0" u="none" strike="noStrike" noProof="0" dirty="0">
                          <a:latin typeface="Garamond"/>
                        </a:rPr>
                        <a:t>REST API</a:t>
                      </a:r>
                    </a:p>
                    <a:p>
                      <a:pPr marL="342900" lvl="0" indent="-342900">
                        <a:buAutoNum type="arabicPeriod"/>
                      </a:pPr>
                      <a:r>
                        <a:rPr lang="en-US" sz="1800" b="0" i="0" u="none" strike="noStrike" noProof="0" dirty="0">
                          <a:latin typeface="Garamond"/>
                        </a:rPr>
                        <a:t>Batch processing</a:t>
                      </a:r>
                    </a:p>
                    <a:p>
                      <a:pPr marL="342900" lvl="0" indent="-342900">
                        <a:buAutoNum type="arabicPeriod"/>
                      </a:pPr>
                      <a:r>
                        <a:rPr lang="en-US" sz="1800" b="0" i="0" u="none" strike="noStrike" noProof="0" dirty="0">
                          <a:latin typeface="Garamond"/>
                        </a:rPr>
                        <a:t>Integration with existing tools</a:t>
                      </a:r>
                    </a:p>
                    <a:p>
                      <a:pPr marL="342900" lvl="0" indent="-342900">
                        <a:buAutoNum type="arabicPeriod"/>
                      </a:pPr>
                      <a:r>
                        <a:rPr lang="en-US" sz="1800" b="0" i="0" u="none" strike="noStrike" noProof="0" dirty="0">
                          <a:latin typeface="Garamond"/>
                        </a:rPr>
                        <a:t>Scalable architecture</a:t>
                      </a:r>
                    </a:p>
                  </a:txBody>
                  <a:tcPr>
                    <a:solidFill>
                      <a:schemeClr val="bg1"/>
                    </a:solidFill>
                  </a:tcPr>
                </a:tc>
                <a:extLst>
                  <a:ext uri="{0D108BD9-81ED-4DB2-BD59-A6C34878D82A}">
                    <a16:rowId xmlns:a16="http://schemas.microsoft.com/office/drawing/2014/main" val="3220174240"/>
                  </a:ext>
                </a:extLst>
              </a:tr>
            </a:tbl>
          </a:graphicData>
        </a:graphic>
      </p:graphicFrame>
    </p:spTree>
    <p:extLst>
      <p:ext uri="{BB962C8B-B14F-4D97-AF65-F5344CB8AC3E}">
        <p14:creationId xmlns:p14="http://schemas.microsoft.com/office/powerpoint/2010/main" val="2029647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F64F1-F520-1E46-B508-73162F6A9545}"/>
              </a:ext>
            </a:extLst>
          </p:cNvPr>
          <p:cNvSpPr>
            <a:spLocks noGrp="1"/>
          </p:cNvSpPr>
          <p:nvPr>
            <p:ph type="title"/>
          </p:nvPr>
        </p:nvSpPr>
        <p:spPr/>
        <p:txBody>
          <a:bodyPr>
            <a:normAutofit/>
          </a:bodyPr>
          <a:lstStyle/>
          <a:p>
            <a:r>
              <a:rPr lang="en-US" sz="3600" b="1" dirty="0">
                <a:latin typeface="Mongolian Baiti"/>
                <a:cs typeface="Mongolian Baiti"/>
              </a:rPr>
              <a:t>Limitations &amp; Future Improvements</a:t>
            </a:r>
            <a:endParaRPr lang="en-US" b="1" dirty="0">
              <a:latin typeface="Mongolian Baiti"/>
              <a:cs typeface="Mongolian Baiti"/>
            </a:endParaRPr>
          </a:p>
        </p:txBody>
      </p:sp>
      <p:sp>
        <p:nvSpPr>
          <p:cNvPr id="3" name="Content Placeholder 2">
            <a:extLst>
              <a:ext uri="{FF2B5EF4-FFF2-40B4-BE49-F238E27FC236}">
                <a16:creationId xmlns:a16="http://schemas.microsoft.com/office/drawing/2014/main" id="{763B7EC5-61BC-42E9-DE12-AF25DE859E2B}"/>
              </a:ext>
            </a:extLst>
          </p:cNvPr>
          <p:cNvSpPr>
            <a:spLocks noGrp="1"/>
          </p:cNvSpPr>
          <p:nvPr>
            <p:ph idx="1"/>
          </p:nvPr>
        </p:nvSpPr>
        <p:spPr>
          <a:xfrm>
            <a:off x="838200" y="1825625"/>
            <a:ext cx="10515600" cy="1935636"/>
          </a:xfrm>
        </p:spPr>
        <p:txBody>
          <a:bodyPr vert="horz" lIns="91440" tIns="45720" rIns="91440" bIns="45720" rtlCol="0" anchor="t">
            <a:normAutofit/>
          </a:bodyPr>
          <a:lstStyle/>
          <a:p>
            <a:pPr>
              <a:buNone/>
            </a:pPr>
            <a:r>
              <a:rPr lang="en-US" sz="2000" b="1" dirty="0">
                <a:latin typeface="Garamond"/>
              </a:rPr>
              <a:t>Dataset Limitations</a:t>
            </a:r>
            <a:endParaRPr lang="en-US" sz="2000" b="1">
              <a:latin typeface="Garamond"/>
            </a:endParaRPr>
          </a:p>
          <a:p>
            <a:pPr marL="457200" indent="-457200">
              <a:buAutoNum type="arabicPeriod"/>
            </a:pPr>
            <a:r>
              <a:rPr lang="en-US" sz="1800" dirty="0">
                <a:latin typeface="Garamond"/>
                <a:ea typeface="+mn-lt"/>
                <a:cs typeface="+mn-lt"/>
              </a:rPr>
              <a:t>Subset of full corpus (5K/107K).</a:t>
            </a:r>
            <a:endParaRPr lang="en-US" sz="1800" b="1" dirty="0">
              <a:latin typeface="Garamond"/>
              <a:ea typeface="+mn-lt"/>
              <a:cs typeface="+mn-lt"/>
            </a:endParaRPr>
          </a:p>
          <a:p>
            <a:pPr marL="457200" indent="-457200">
              <a:buAutoNum type="arabicPeriod"/>
            </a:pPr>
            <a:r>
              <a:rPr lang="en-US" sz="1800" dirty="0">
                <a:latin typeface="Garamond"/>
                <a:ea typeface="+mn-lt"/>
                <a:cs typeface="+mn-lt"/>
              </a:rPr>
              <a:t>Artificially balanced (50/50) vs real-world imbalance.</a:t>
            </a:r>
          </a:p>
          <a:p>
            <a:pPr marL="457200" indent="-457200">
              <a:buAutoNum type="arabicPeriod"/>
            </a:pPr>
            <a:r>
              <a:rPr lang="en-US" sz="1800" dirty="0">
                <a:latin typeface="Garamond"/>
                <a:ea typeface="+mn-lt"/>
                <a:cs typeface="+mn-lt"/>
              </a:rPr>
              <a:t>Java-only (language-specific).</a:t>
            </a:r>
          </a:p>
          <a:p>
            <a:pPr marL="457200" indent="-457200">
              <a:buAutoNum type="arabicPeriod"/>
            </a:pPr>
            <a:r>
              <a:rPr lang="en-US" sz="1800" dirty="0">
                <a:latin typeface="Garamond"/>
                <a:ea typeface="+mn-lt"/>
                <a:cs typeface="+mn-lt"/>
              </a:rPr>
              <a:t>Binary classification (loses smell-type granularity)</a:t>
            </a:r>
            <a:endParaRPr lang="en-US" sz="1800" dirty="0">
              <a:latin typeface="Garamond"/>
            </a:endParaRPr>
          </a:p>
        </p:txBody>
      </p:sp>
      <p:sp>
        <p:nvSpPr>
          <p:cNvPr id="5" name="Content Placeholder 2">
            <a:extLst>
              <a:ext uri="{FF2B5EF4-FFF2-40B4-BE49-F238E27FC236}">
                <a16:creationId xmlns:a16="http://schemas.microsoft.com/office/drawing/2014/main" id="{D5349DCA-EB0A-4A48-BEA3-23F46D1FA10F}"/>
              </a:ext>
            </a:extLst>
          </p:cNvPr>
          <p:cNvSpPr txBox="1">
            <a:spLocks/>
          </p:cNvSpPr>
          <p:nvPr/>
        </p:nvSpPr>
        <p:spPr>
          <a:xfrm>
            <a:off x="836579" y="4182961"/>
            <a:ext cx="10515600" cy="193563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2000" b="1" dirty="0">
                <a:latin typeface="Garamond"/>
              </a:rPr>
              <a:t>Model Limitations</a:t>
            </a:r>
            <a:endParaRPr lang="en-US" sz="1800" b="1">
              <a:latin typeface="Garamond"/>
            </a:endParaRPr>
          </a:p>
          <a:p>
            <a:pPr marL="457200" indent="-457200">
              <a:buAutoNum type="arabicPeriod"/>
            </a:pPr>
            <a:r>
              <a:rPr lang="en-US" sz="1800" err="1">
                <a:latin typeface="Garamond"/>
                <a:ea typeface="+mn-lt"/>
                <a:cs typeface="+mn-lt"/>
              </a:rPr>
              <a:t>CodeBERT</a:t>
            </a:r>
            <a:r>
              <a:rPr lang="en-US" sz="1800" dirty="0">
                <a:latin typeface="Garamond"/>
                <a:ea typeface="+mn-lt"/>
                <a:cs typeface="+mn-lt"/>
              </a:rPr>
              <a:t> used as frozen encoder (no fine-tuning).</a:t>
            </a:r>
            <a:endParaRPr lang="en-US" sz="1800" b="1">
              <a:latin typeface="Garamond"/>
              <a:ea typeface="+mn-lt"/>
              <a:cs typeface="+mn-lt"/>
            </a:endParaRPr>
          </a:p>
          <a:p>
            <a:pPr marL="457200" indent="-457200">
              <a:buAutoNum type="arabicPeriod"/>
            </a:pPr>
            <a:r>
              <a:rPr lang="en-US" sz="1800" dirty="0">
                <a:latin typeface="Garamond"/>
                <a:ea typeface="+mn-lt"/>
                <a:cs typeface="+mn-lt"/>
              </a:rPr>
              <a:t>512-token sequence limit (truncates long code).</a:t>
            </a:r>
          </a:p>
          <a:p>
            <a:pPr marL="457200" indent="-457200">
              <a:buAutoNum type="arabicPeriod"/>
            </a:pPr>
            <a:r>
              <a:rPr lang="en-US" sz="1800" dirty="0">
                <a:latin typeface="Garamond"/>
                <a:ea typeface="+mn-lt"/>
                <a:cs typeface="+mn-lt"/>
              </a:rPr>
              <a:t>Limited hyperparameter exploration.</a:t>
            </a:r>
          </a:p>
          <a:p>
            <a:pPr marL="457200" indent="-457200">
              <a:buAutoNum type="arabicPeriod"/>
            </a:pPr>
            <a:r>
              <a:rPr lang="en-US" sz="1800" dirty="0">
                <a:latin typeface="Garamond"/>
                <a:ea typeface="+mn-lt"/>
                <a:cs typeface="+mn-lt"/>
              </a:rPr>
              <a:t>No ensemble methods.</a:t>
            </a:r>
            <a:endParaRPr lang="en-US" sz="1800" dirty="0">
              <a:latin typeface="Garamond"/>
            </a:endParaRPr>
          </a:p>
        </p:txBody>
      </p:sp>
    </p:spTree>
    <p:extLst>
      <p:ext uri="{BB962C8B-B14F-4D97-AF65-F5344CB8AC3E}">
        <p14:creationId xmlns:p14="http://schemas.microsoft.com/office/powerpoint/2010/main" val="1735721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65093-1719-B973-F02A-4E861DB45ACB}"/>
              </a:ext>
            </a:extLst>
          </p:cNvPr>
          <p:cNvSpPr>
            <a:spLocks noGrp="1"/>
          </p:cNvSpPr>
          <p:nvPr>
            <p:ph type="title"/>
          </p:nvPr>
        </p:nvSpPr>
        <p:spPr/>
        <p:txBody>
          <a:bodyPr>
            <a:normAutofit/>
          </a:bodyPr>
          <a:lstStyle/>
          <a:p>
            <a:r>
              <a:rPr lang="en-US" sz="3600" b="1" dirty="0">
                <a:latin typeface="Mongolian Baiti"/>
                <a:cs typeface="Mongolian Baiti"/>
              </a:rPr>
              <a:t>Research Questions: Answered</a:t>
            </a:r>
            <a:endParaRPr lang="en-US" sz="3600" dirty="0">
              <a:latin typeface="Mongolian Baiti"/>
              <a:cs typeface="Mongolian Baiti"/>
            </a:endParaRPr>
          </a:p>
        </p:txBody>
      </p:sp>
      <p:sp>
        <p:nvSpPr>
          <p:cNvPr id="3" name="Content Placeholder 2">
            <a:extLst>
              <a:ext uri="{FF2B5EF4-FFF2-40B4-BE49-F238E27FC236}">
                <a16:creationId xmlns:a16="http://schemas.microsoft.com/office/drawing/2014/main" id="{A2900B41-1BE5-25E8-43CE-4FA399CBF142}"/>
              </a:ext>
            </a:extLst>
          </p:cNvPr>
          <p:cNvSpPr>
            <a:spLocks noGrp="1"/>
          </p:cNvSpPr>
          <p:nvPr>
            <p:ph idx="1"/>
          </p:nvPr>
        </p:nvSpPr>
        <p:spPr>
          <a:xfrm>
            <a:off x="838200" y="1825625"/>
            <a:ext cx="10677727" cy="2648997"/>
          </a:xfrm>
        </p:spPr>
        <p:txBody>
          <a:bodyPr vert="horz" lIns="91440" tIns="45720" rIns="91440" bIns="45720" rtlCol="0" anchor="t">
            <a:normAutofit lnSpcReduction="10000"/>
          </a:bodyPr>
          <a:lstStyle/>
          <a:p>
            <a:pPr>
              <a:buNone/>
            </a:pPr>
            <a:r>
              <a:rPr lang="en-US" sz="2000" b="1" dirty="0">
                <a:latin typeface="Garamond"/>
              </a:rPr>
              <a:t>RQ1: </a:t>
            </a:r>
            <a:r>
              <a:rPr lang="en-US" sz="2000" b="1" err="1">
                <a:latin typeface="Garamond"/>
              </a:rPr>
              <a:t>CodeBERT</a:t>
            </a:r>
            <a:r>
              <a:rPr lang="en-US" sz="2000" b="1" dirty="0">
                <a:latin typeface="Garamond"/>
              </a:rPr>
              <a:t> embeddings enable effective binary smell detection on Smelly-Code++?</a:t>
            </a:r>
          </a:p>
          <a:p>
            <a:pPr>
              <a:buNone/>
            </a:pPr>
            <a:r>
              <a:rPr lang="en-US" sz="2000" dirty="0">
                <a:latin typeface="Aptos"/>
              </a:rPr>
              <a:t>✅ </a:t>
            </a:r>
            <a:r>
              <a:rPr lang="en-US" sz="1800" dirty="0">
                <a:latin typeface="Garamond"/>
              </a:rPr>
              <a:t>YES
</a:t>
            </a:r>
            <a:r>
              <a:rPr lang="en-US" sz="1900" dirty="0" err="1">
                <a:latin typeface="Garamond"/>
              </a:rPr>
              <a:t>CodeBERT</a:t>
            </a:r>
            <a:r>
              <a:rPr lang="en-US" sz="1900" dirty="0">
                <a:latin typeface="Garamond"/>
              </a:rPr>
              <a:t> embeddings alone achieve ~78% accuracy
Semantic patterns captured without manual features
Transfer learning successfully applies to quality assessment
Both RF and MLP achieve comparable performance</a:t>
            </a:r>
            <a:endParaRPr lang="en-US"/>
          </a:p>
        </p:txBody>
      </p:sp>
      <p:sp>
        <p:nvSpPr>
          <p:cNvPr id="9" name="TextBox 8">
            <a:extLst>
              <a:ext uri="{FF2B5EF4-FFF2-40B4-BE49-F238E27FC236}">
                <a16:creationId xmlns:a16="http://schemas.microsoft.com/office/drawing/2014/main" id="{681BDC77-8FBF-D9AF-8963-76217F6DB374}"/>
              </a:ext>
            </a:extLst>
          </p:cNvPr>
          <p:cNvSpPr txBox="1"/>
          <p:nvPr/>
        </p:nvSpPr>
        <p:spPr>
          <a:xfrm>
            <a:off x="834957" y="4020765"/>
            <a:ext cx="10035702"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Garamond"/>
                <a:ea typeface="+mn-lt"/>
                <a:cs typeface="+mn-lt"/>
              </a:rPr>
              <a:t>RQ2: Given identical embedding features, how do RF and MLP compare?</a:t>
            </a:r>
          </a:p>
          <a:p>
            <a:r>
              <a:rPr lang="en-US" sz="2000" dirty="0">
                <a:ea typeface="+mn-lt"/>
                <a:cs typeface="+mn-lt"/>
              </a:rPr>
              <a:t>✅ </a:t>
            </a:r>
            <a:r>
              <a:rPr lang="en-US" dirty="0">
                <a:latin typeface="Garamond"/>
                <a:ea typeface="+mn-lt"/>
                <a:cs typeface="+mn-lt"/>
              </a:rPr>
              <a:t>NEARLY IDENTICAL</a:t>
            </a:r>
            <a:endParaRPr lang="en-US" dirty="0">
              <a:latin typeface="Garamond"/>
            </a:endParaRPr>
          </a:p>
          <a:p>
            <a:endParaRPr lang="en-US" dirty="0">
              <a:latin typeface="Garamond"/>
            </a:endParaRPr>
          </a:p>
          <a:p>
            <a:r>
              <a:rPr lang="en-US" dirty="0">
                <a:latin typeface="Garamond"/>
                <a:ea typeface="+mn-lt"/>
                <a:cs typeface="+mn-lt"/>
              </a:rPr>
              <a:t>No statistically significant difference (&lt;0.2%)</a:t>
            </a:r>
            <a:endParaRPr lang="en-US" dirty="0">
              <a:latin typeface="Garamond"/>
            </a:endParaRPr>
          </a:p>
          <a:p>
            <a:r>
              <a:rPr lang="en-US" dirty="0">
                <a:latin typeface="Garamond"/>
                <a:ea typeface="+mn-lt"/>
                <a:cs typeface="+mn-lt"/>
              </a:rPr>
              <a:t>RF: Better recall for smelly code (0.86), interpretable, fast training</a:t>
            </a:r>
            <a:endParaRPr lang="en-US" dirty="0">
              <a:latin typeface="Garamond"/>
            </a:endParaRPr>
          </a:p>
          <a:p>
            <a:r>
              <a:rPr lang="en-US" dirty="0">
                <a:latin typeface="Garamond"/>
                <a:ea typeface="+mn-lt"/>
                <a:cs typeface="+mn-lt"/>
              </a:rPr>
              <a:t>MLP: More balanced (0.77-0.81), flexible, lower model size</a:t>
            </a:r>
            <a:endParaRPr lang="en-US" dirty="0">
              <a:latin typeface="Garamond"/>
            </a:endParaRPr>
          </a:p>
          <a:p>
            <a:r>
              <a:rPr lang="en-US" dirty="0">
                <a:latin typeface="Garamond"/>
                <a:ea typeface="+mn-lt"/>
                <a:cs typeface="+mn-lt"/>
              </a:rPr>
              <a:t>Choice depends on deployment needs, not accuracy</a:t>
            </a:r>
            <a:endParaRPr lang="en-US" dirty="0">
              <a:latin typeface="Garamond"/>
            </a:endParaRPr>
          </a:p>
          <a:p>
            <a:endParaRPr lang="en-US" sz="2000" b="1" dirty="0">
              <a:latin typeface="Garamond"/>
            </a:endParaRPr>
          </a:p>
        </p:txBody>
      </p:sp>
    </p:spTree>
    <p:extLst>
      <p:ext uri="{BB962C8B-B14F-4D97-AF65-F5344CB8AC3E}">
        <p14:creationId xmlns:p14="http://schemas.microsoft.com/office/powerpoint/2010/main" val="1692368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7632BEC-FC6E-C0F7-AE85-504EE5262380}"/>
              </a:ext>
            </a:extLst>
          </p:cNvPr>
          <p:cNvSpPr txBox="1">
            <a:spLocks/>
          </p:cNvSpPr>
          <p:nvPr/>
        </p:nvSpPr>
        <p:spPr>
          <a:xfrm>
            <a:off x="757136" y="2101242"/>
            <a:ext cx="10677727" cy="31029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000" b="1" dirty="0">
                <a:latin typeface="Garamond"/>
              </a:rPr>
              <a:t>RQ3: </a:t>
            </a:r>
            <a:r>
              <a:rPr lang="en-US" sz="2000" b="1" dirty="0">
                <a:latin typeface="Garamond"/>
                <a:ea typeface="+mn-lt"/>
                <a:cs typeface="+mn-lt"/>
              </a:rPr>
              <a:t>What practices improve reproducibility and reduce threats to validity?</a:t>
            </a:r>
            <a:endParaRPr lang="en-US" sz="2000" b="1" dirty="0">
              <a:latin typeface="Garamond"/>
            </a:endParaRPr>
          </a:p>
          <a:p>
            <a:pPr>
              <a:buNone/>
            </a:pPr>
            <a:r>
              <a:rPr lang="en-US" sz="1900" dirty="0">
                <a:ea typeface="+mn-lt"/>
                <a:cs typeface="+mn-lt"/>
              </a:rPr>
              <a:t>✅</a:t>
            </a:r>
            <a:r>
              <a:rPr lang="en-US" sz="1800" dirty="0">
                <a:latin typeface="Garamond"/>
                <a:ea typeface="+mn-lt"/>
                <a:cs typeface="+mn-lt"/>
              </a:rPr>
              <a:t> SYSTEMATIC METHODOLOGY</a:t>
            </a:r>
            <a:br>
              <a:rPr lang="en-US" sz="1800" dirty="0">
                <a:latin typeface="Garamond"/>
                <a:ea typeface="+mn-lt"/>
                <a:cs typeface="+mn-lt"/>
              </a:rPr>
            </a:br>
            <a:endParaRPr lang="en-US" sz="1800">
              <a:latin typeface="Garamond"/>
            </a:endParaRPr>
          </a:p>
          <a:p>
            <a:pPr>
              <a:buNone/>
            </a:pPr>
            <a:r>
              <a:rPr lang="en-US" sz="1800" dirty="0">
                <a:latin typeface="Garamond"/>
                <a:ea typeface="+mn-lt"/>
                <a:cs typeface="+mn-lt"/>
              </a:rPr>
              <a:t>Balanced sampling strategy addresses class imbalance</a:t>
            </a:r>
            <a:endParaRPr lang="en-US" sz="1800">
              <a:latin typeface="Garamond"/>
            </a:endParaRPr>
          </a:p>
          <a:p>
            <a:pPr>
              <a:buNone/>
            </a:pPr>
            <a:r>
              <a:rPr lang="en-US" sz="1800" dirty="0">
                <a:latin typeface="Garamond"/>
                <a:ea typeface="+mn-lt"/>
                <a:cs typeface="+mn-lt"/>
              </a:rPr>
              <a:t>Stratified train/test split maintains distribution</a:t>
            </a:r>
            <a:endParaRPr lang="en-US" sz="1800">
              <a:latin typeface="Garamond"/>
            </a:endParaRPr>
          </a:p>
          <a:p>
            <a:pPr>
              <a:buNone/>
            </a:pPr>
            <a:r>
              <a:rPr lang="en-US" sz="1800" dirty="0">
                <a:latin typeface="Garamond"/>
                <a:ea typeface="+mn-lt"/>
                <a:cs typeface="+mn-lt"/>
              </a:rPr>
              <a:t>Fixed random seed (42) ensures reproducibility</a:t>
            </a:r>
            <a:endParaRPr lang="en-US" sz="1800">
              <a:latin typeface="Garamond"/>
            </a:endParaRPr>
          </a:p>
          <a:p>
            <a:pPr>
              <a:buNone/>
            </a:pPr>
            <a:r>
              <a:rPr lang="en-US" sz="1800" dirty="0">
                <a:latin typeface="Garamond"/>
                <a:ea typeface="+mn-lt"/>
                <a:cs typeface="+mn-lt"/>
              </a:rPr>
              <a:t>Comprehensive multi-metric evaluation framework</a:t>
            </a:r>
            <a:endParaRPr lang="en-US" sz="1800">
              <a:latin typeface="Garamond"/>
            </a:endParaRPr>
          </a:p>
          <a:p>
            <a:pPr>
              <a:buNone/>
            </a:pPr>
            <a:r>
              <a:rPr lang="en-US" sz="1800" dirty="0">
                <a:latin typeface="Garamond"/>
                <a:ea typeface="+mn-lt"/>
                <a:cs typeface="+mn-lt"/>
              </a:rPr>
              <a:t>Clear documentation of preprocessing and hyperparameters</a:t>
            </a:r>
            <a:endParaRPr lang="en-US" sz="1800">
              <a:latin typeface="Garamond"/>
            </a:endParaRPr>
          </a:p>
          <a:p>
            <a:pPr>
              <a:buFont typeface="Arial" panose="020B0604020202020204" pitchFamily="34" charset="0"/>
              <a:buNone/>
            </a:pPr>
            <a:endParaRPr lang="en-US" sz="1900" dirty="0">
              <a:latin typeface="Garamond"/>
            </a:endParaRPr>
          </a:p>
        </p:txBody>
      </p:sp>
    </p:spTree>
    <p:extLst>
      <p:ext uri="{BB962C8B-B14F-4D97-AF65-F5344CB8AC3E}">
        <p14:creationId xmlns:p14="http://schemas.microsoft.com/office/powerpoint/2010/main" val="2153329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20EA-AA25-FB9D-4FDA-16A03FDB60E5}"/>
              </a:ext>
            </a:extLst>
          </p:cNvPr>
          <p:cNvSpPr>
            <a:spLocks noGrp="1"/>
          </p:cNvSpPr>
          <p:nvPr>
            <p:ph type="title"/>
          </p:nvPr>
        </p:nvSpPr>
        <p:spPr/>
        <p:txBody>
          <a:bodyPr>
            <a:normAutofit/>
          </a:bodyPr>
          <a:lstStyle/>
          <a:p>
            <a:r>
              <a:rPr lang="en-US" sz="3600" b="1" dirty="0">
                <a:latin typeface="Mongolian Baiti"/>
                <a:cs typeface="Mongolian Baiti"/>
              </a:rPr>
              <a:t>Future Work</a:t>
            </a:r>
            <a:endParaRPr lang="en-US" sz="3600">
              <a:latin typeface="Mongolian Baiti"/>
              <a:cs typeface="Mongolian Baiti"/>
            </a:endParaRPr>
          </a:p>
        </p:txBody>
      </p:sp>
      <p:graphicFrame>
        <p:nvGraphicFramePr>
          <p:cNvPr id="4" name="Table 3">
            <a:extLst>
              <a:ext uri="{FF2B5EF4-FFF2-40B4-BE49-F238E27FC236}">
                <a16:creationId xmlns:a16="http://schemas.microsoft.com/office/drawing/2014/main" id="{DEF17408-CFEA-6B40-01DF-335A944EE2CA}"/>
              </a:ext>
            </a:extLst>
          </p:cNvPr>
          <p:cNvGraphicFramePr>
            <a:graphicFrameLocks noGrp="1"/>
          </p:cNvGraphicFramePr>
          <p:nvPr>
            <p:extLst>
              <p:ext uri="{D42A27DB-BD31-4B8C-83A1-F6EECF244321}">
                <p14:modId xmlns:p14="http://schemas.microsoft.com/office/powerpoint/2010/main" val="3091679621"/>
              </p:ext>
            </p:extLst>
          </p:nvPr>
        </p:nvGraphicFramePr>
        <p:xfrm>
          <a:off x="834813" y="1712976"/>
          <a:ext cx="10674822" cy="2296160"/>
        </p:xfrm>
        <a:graphic>
          <a:graphicData uri="http://schemas.openxmlformats.org/drawingml/2006/table">
            <a:tbl>
              <a:tblPr firstRow="1" bandRow="1">
                <a:tableStyleId>{5C22544A-7EE6-4342-B048-85BDC9FD1C3A}</a:tableStyleId>
              </a:tblPr>
              <a:tblGrid>
                <a:gridCol w="3558274">
                  <a:extLst>
                    <a:ext uri="{9D8B030D-6E8A-4147-A177-3AD203B41FA5}">
                      <a16:colId xmlns:a16="http://schemas.microsoft.com/office/drawing/2014/main" val="2014742"/>
                    </a:ext>
                  </a:extLst>
                </a:gridCol>
                <a:gridCol w="3558274">
                  <a:extLst>
                    <a:ext uri="{9D8B030D-6E8A-4147-A177-3AD203B41FA5}">
                      <a16:colId xmlns:a16="http://schemas.microsoft.com/office/drawing/2014/main" val="4212073434"/>
                    </a:ext>
                  </a:extLst>
                </a:gridCol>
                <a:gridCol w="3558274">
                  <a:extLst>
                    <a:ext uri="{9D8B030D-6E8A-4147-A177-3AD203B41FA5}">
                      <a16:colId xmlns:a16="http://schemas.microsoft.com/office/drawing/2014/main" val="961428553"/>
                    </a:ext>
                  </a:extLst>
                </a:gridCol>
              </a:tblGrid>
              <a:tr h="558800">
                <a:tc>
                  <a:txBody>
                    <a:bodyPr/>
                    <a:lstStyle/>
                    <a:p>
                      <a:pPr algn="ctr"/>
                      <a:r>
                        <a:rPr lang="en-US" dirty="0">
                          <a:solidFill>
                            <a:schemeClr val="tx1"/>
                          </a:solidFill>
                        </a:rPr>
                        <a:t>Short Term</a:t>
                      </a:r>
                    </a:p>
                  </a:txBody>
                  <a:tcPr>
                    <a:solidFill>
                      <a:schemeClr val="bg1"/>
                    </a:solidFill>
                  </a:tcPr>
                </a:tc>
                <a:tc>
                  <a:txBody>
                    <a:bodyPr/>
                    <a:lstStyle/>
                    <a:p>
                      <a:pPr algn="ctr"/>
                      <a:r>
                        <a:rPr lang="en-US" dirty="0">
                          <a:solidFill>
                            <a:schemeClr val="tx1"/>
                          </a:solidFill>
                        </a:rPr>
                        <a:t>Medium Term</a:t>
                      </a:r>
                    </a:p>
                  </a:txBody>
                  <a:tcPr>
                    <a:solidFill>
                      <a:schemeClr val="bg1"/>
                    </a:solidFill>
                  </a:tcPr>
                </a:tc>
                <a:tc>
                  <a:txBody>
                    <a:bodyPr/>
                    <a:lstStyle/>
                    <a:p>
                      <a:pPr algn="ctr"/>
                      <a:r>
                        <a:rPr lang="en-US" dirty="0">
                          <a:solidFill>
                            <a:schemeClr val="tx1"/>
                          </a:solidFill>
                        </a:rPr>
                        <a:t>Long Term</a:t>
                      </a:r>
                    </a:p>
                  </a:txBody>
                  <a:tcPr>
                    <a:solidFill>
                      <a:schemeClr val="bg1"/>
                    </a:solidFill>
                  </a:tcPr>
                </a:tc>
                <a:extLst>
                  <a:ext uri="{0D108BD9-81ED-4DB2-BD59-A6C34878D82A}">
                    <a16:rowId xmlns:a16="http://schemas.microsoft.com/office/drawing/2014/main" val="3279058208"/>
                  </a:ext>
                </a:extLst>
              </a:tr>
              <a:tr h="1648422">
                <a:tc>
                  <a:txBody>
                    <a:bodyPr/>
                    <a:lstStyle/>
                    <a:p>
                      <a:pPr marL="342900" indent="-342900">
                        <a:buAutoNum type="arabicPeriod"/>
                      </a:pPr>
                      <a:r>
                        <a:rPr lang="en-US" sz="1800" b="0" i="0" u="none" strike="noStrike" noProof="0" dirty="0">
                          <a:latin typeface="Garamond"/>
                        </a:rPr>
                        <a:t>Full corpus training (107K samples)</a:t>
                      </a:r>
                    </a:p>
                    <a:p>
                      <a:pPr marL="342900" lvl="0" indent="-342900">
                        <a:buAutoNum type="arabicPeriod"/>
                      </a:pPr>
                      <a:r>
                        <a:rPr lang="en-US" sz="1800" b="0" i="0" u="none" strike="noStrike" noProof="0" dirty="0">
                          <a:latin typeface="Garamond"/>
                        </a:rPr>
                        <a:t>Multi-label classification</a:t>
                      </a:r>
                    </a:p>
                    <a:p>
                      <a:pPr marL="342900" lvl="0" indent="-342900">
                        <a:buAutoNum type="arabicPeriod"/>
                      </a:pPr>
                      <a:r>
                        <a:rPr lang="en-US" sz="1800" b="0" i="0" u="none" strike="noStrike" noProof="0" dirty="0">
                          <a:latin typeface="Garamond"/>
                        </a:rPr>
                        <a:t>Cross-validation evaluation</a:t>
                      </a:r>
                    </a:p>
                    <a:p>
                      <a:pPr marL="342900" lvl="0" indent="-342900">
                        <a:buAutoNum type="arabicPeriod"/>
                      </a:pPr>
                      <a:r>
                        <a:rPr lang="en-US" sz="1800" b="0" i="0" u="none" strike="noStrike" noProof="0" dirty="0">
                          <a:latin typeface="Garamond"/>
                        </a:rPr>
                        <a:t>Cross-validation evaluation</a:t>
                      </a:r>
                    </a:p>
                  </a:txBody>
                  <a:tcPr>
                    <a:solidFill>
                      <a:schemeClr val="bg1"/>
                    </a:solidFill>
                  </a:tcPr>
                </a:tc>
                <a:tc>
                  <a:txBody>
                    <a:bodyPr/>
                    <a:lstStyle/>
                    <a:p>
                      <a:pPr marL="342900" indent="-342900">
                        <a:buAutoNum type="arabicPeriod"/>
                      </a:pPr>
                      <a:r>
                        <a:rPr lang="en-US" sz="1800" b="0" i="0" u="none" strike="noStrike" noProof="0" dirty="0">
                          <a:latin typeface="Garamond"/>
                        </a:rPr>
                        <a:t>Fine-tune </a:t>
                      </a:r>
                      <a:r>
                        <a:rPr lang="en-US" sz="1800" b="0" i="0" u="none" strike="noStrike" noProof="0" err="1">
                          <a:latin typeface="Garamond"/>
                        </a:rPr>
                        <a:t>CodeBERT</a:t>
                      </a:r>
                      <a:r>
                        <a:rPr lang="en-US" sz="1800" b="0" i="0" u="none" strike="noStrike" noProof="0" dirty="0">
                          <a:latin typeface="Garamond"/>
                        </a:rPr>
                        <a:t> for smell detection</a:t>
                      </a:r>
                    </a:p>
                    <a:p>
                      <a:pPr marL="342900" lvl="0" indent="-342900">
                        <a:buAutoNum type="arabicPeriod"/>
                      </a:pPr>
                      <a:r>
                        <a:rPr lang="en-US" sz="1800" b="0" i="0" u="none" strike="noStrike" noProof="0" dirty="0">
                          <a:latin typeface="Garamond"/>
                        </a:rPr>
                        <a:t>Hybrid features (embeddings + metrics)</a:t>
                      </a:r>
                    </a:p>
                    <a:p>
                      <a:pPr marL="342900" lvl="0" indent="-342900">
                        <a:buAutoNum type="arabicPeriod"/>
                      </a:pPr>
                      <a:r>
                        <a:rPr lang="en-US" sz="1800" b="0" i="0" u="none" strike="noStrike" noProof="0" dirty="0">
                          <a:latin typeface="Garamond"/>
                        </a:rPr>
                        <a:t>Attention-based interpretability</a:t>
                      </a:r>
                    </a:p>
                    <a:p>
                      <a:pPr marL="342900" lvl="0" indent="-342900">
                        <a:buAutoNum type="arabicPeriod"/>
                      </a:pPr>
                      <a:r>
                        <a:rPr lang="en-US" sz="1800" b="0" i="0" u="none" strike="noStrike" noProof="0" dirty="0">
                          <a:latin typeface="Garamond"/>
                        </a:rPr>
                        <a:t>Multi-language support</a:t>
                      </a:r>
                    </a:p>
                  </a:txBody>
                  <a:tcPr>
                    <a:solidFill>
                      <a:schemeClr val="bg1"/>
                    </a:solidFill>
                  </a:tcPr>
                </a:tc>
                <a:tc>
                  <a:txBody>
                    <a:bodyPr/>
                    <a:lstStyle/>
                    <a:p>
                      <a:pPr marL="342900" indent="-342900">
                        <a:buAutoNum type="arabicPeriod"/>
                      </a:pPr>
                      <a:r>
                        <a:rPr lang="en-US" sz="1800" b="0" i="0" u="none" strike="noStrike" noProof="0" dirty="0">
                          <a:latin typeface="Garamond"/>
                        </a:rPr>
                        <a:t>Production deployment</a:t>
                      </a:r>
                    </a:p>
                    <a:p>
                      <a:pPr marL="342900" lvl="0" indent="-342900">
                        <a:buAutoNum type="arabicPeriod"/>
                      </a:pPr>
                      <a:r>
                        <a:rPr lang="en-US" sz="1800" b="0" i="0" u="none" strike="noStrike" noProof="0" dirty="0">
                          <a:latin typeface="Garamond"/>
                        </a:rPr>
                        <a:t>IDE/CI integration</a:t>
                      </a:r>
                    </a:p>
                    <a:p>
                      <a:pPr marL="342900" lvl="0" indent="-342900">
                        <a:buAutoNum type="arabicPeriod"/>
                      </a:pPr>
                      <a:r>
                        <a:rPr lang="en-US" sz="1800" b="0" i="0" u="none" strike="noStrike" noProof="0" dirty="0">
                          <a:latin typeface="Garamond"/>
                        </a:rPr>
                        <a:t>Explainability (SHAP/LIME)</a:t>
                      </a:r>
                    </a:p>
                    <a:p>
                      <a:pPr marL="342900" lvl="0" indent="-342900">
                        <a:buAutoNum type="arabicPeriod"/>
                      </a:pPr>
                      <a:r>
                        <a:rPr lang="en-US" sz="1800" b="0" i="0" u="none" strike="noStrike" noProof="0" dirty="0">
                          <a:latin typeface="Garamond"/>
                        </a:rPr>
                        <a:t>Developer education platform</a:t>
                      </a:r>
                    </a:p>
                  </a:txBody>
                  <a:tcPr>
                    <a:solidFill>
                      <a:schemeClr val="bg1"/>
                    </a:solidFill>
                  </a:tcPr>
                </a:tc>
                <a:extLst>
                  <a:ext uri="{0D108BD9-81ED-4DB2-BD59-A6C34878D82A}">
                    <a16:rowId xmlns:a16="http://schemas.microsoft.com/office/drawing/2014/main" val="99322927"/>
                  </a:ext>
                </a:extLst>
              </a:tr>
            </a:tbl>
          </a:graphicData>
        </a:graphic>
      </p:graphicFrame>
      <p:sp>
        <p:nvSpPr>
          <p:cNvPr id="5" name="TextBox 4">
            <a:extLst>
              <a:ext uri="{FF2B5EF4-FFF2-40B4-BE49-F238E27FC236}">
                <a16:creationId xmlns:a16="http://schemas.microsoft.com/office/drawing/2014/main" id="{65342B51-9841-00D7-6B93-3D5AA830D462}"/>
              </a:ext>
            </a:extLst>
          </p:cNvPr>
          <p:cNvSpPr txBox="1"/>
          <p:nvPr/>
        </p:nvSpPr>
        <p:spPr>
          <a:xfrm>
            <a:off x="982133" y="5452532"/>
            <a:ext cx="1022773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solidFill>
                  <a:srgbClr val="C00000"/>
                </a:solidFill>
                <a:latin typeface="Garamond"/>
              </a:rPr>
              <a:t>🔮 Comprehensive code quality assessment integrated into developer workflows</a:t>
            </a:r>
            <a:endParaRPr lang="en-US">
              <a:solidFill>
                <a:srgbClr val="C00000"/>
              </a:solidFill>
            </a:endParaRPr>
          </a:p>
        </p:txBody>
      </p:sp>
    </p:spTree>
    <p:extLst>
      <p:ext uri="{BB962C8B-B14F-4D97-AF65-F5344CB8AC3E}">
        <p14:creationId xmlns:p14="http://schemas.microsoft.com/office/powerpoint/2010/main" val="1812368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0CEAB-2C6C-C040-DB5C-8789B1F7AA2E}"/>
              </a:ext>
            </a:extLst>
          </p:cNvPr>
          <p:cNvSpPr>
            <a:spLocks noGrp="1"/>
          </p:cNvSpPr>
          <p:nvPr>
            <p:ph type="title"/>
          </p:nvPr>
        </p:nvSpPr>
        <p:spPr/>
        <p:txBody>
          <a:bodyPr>
            <a:normAutofit/>
          </a:bodyPr>
          <a:lstStyle/>
          <a:p>
            <a:r>
              <a:rPr lang="en-US" sz="3600" b="1" dirty="0">
                <a:latin typeface="Mongolian Baiti"/>
                <a:cs typeface="Mongolian Baiti"/>
              </a:rPr>
              <a:t>Conclusion</a:t>
            </a:r>
            <a:endParaRPr lang="en-US" sz="3600" dirty="0">
              <a:latin typeface="Mongolian Baiti"/>
              <a:cs typeface="Mongolian Baiti"/>
            </a:endParaRPr>
          </a:p>
        </p:txBody>
      </p:sp>
      <p:sp>
        <p:nvSpPr>
          <p:cNvPr id="3" name="Content Placeholder 2">
            <a:extLst>
              <a:ext uri="{FF2B5EF4-FFF2-40B4-BE49-F238E27FC236}">
                <a16:creationId xmlns:a16="http://schemas.microsoft.com/office/drawing/2014/main" id="{EB019646-326D-85C8-C12A-D689637CED68}"/>
              </a:ext>
            </a:extLst>
          </p:cNvPr>
          <p:cNvSpPr>
            <a:spLocks noGrp="1"/>
          </p:cNvSpPr>
          <p:nvPr>
            <p:ph idx="1"/>
          </p:nvPr>
        </p:nvSpPr>
        <p:spPr>
          <a:xfrm>
            <a:off x="838200" y="1715560"/>
            <a:ext cx="11353799" cy="4986336"/>
          </a:xfrm>
        </p:spPr>
        <p:txBody>
          <a:bodyPr vert="horz" lIns="91440" tIns="45720" rIns="91440" bIns="45720" rtlCol="0" anchor="t">
            <a:normAutofit/>
          </a:bodyPr>
          <a:lstStyle/>
          <a:p>
            <a:pPr marL="0" indent="0">
              <a:buNone/>
            </a:pPr>
            <a:r>
              <a:rPr lang="en-US" sz="2200" b="1" dirty="0">
                <a:latin typeface="Garamond"/>
                <a:ea typeface="+mn-lt"/>
                <a:cs typeface="+mn-lt"/>
              </a:rPr>
              <a:t>Main Achievement</a:t>
            </a:r>
          </a:p>
          <a:p>
            <a:pPr marL="0" indent="0">
              <a:buNone/>
            </a:pPr>
            <a:r>
              <a:rPr lang="en-US" sz="1800" dirty="0">
                <a:latin typeface="Garamond"/>
                <a:ea typeface="+mn-lt"/>
                <a:cs typeface="+mn-lt"/>
              </a:rPr>
              <a:t>Novel, practical framework for automated code smell detection.</a:t>
            </a:r>
            <a:br>
              <a:rPr lang="en-US" sz="1800" dirty="0">
                <a:latin typeface="Garamond"/>
                <a:ea typeface="+mn-lt"/>
                <a:cs typeface="+mn-lt"/>
              </a:rPr>
            </a:br>
            <a:endParaRPr lang="en-US" sz="1800" dirty="0">
              <a:latin typeface="Garamond"/>
              <a:ea typeface="+mn-lt"/>
              <a:cs typeface="+mn-lt"/>
            </a:endParaRPr>
          </a:p>
          <a:p>
            <a:pPr>
              <a:buNone/>
            </a:pPr>
            <a:r>
              <a:rPr lang="en-US" sz="2200" b="1" dirty="0">
                <a:latin typeface="Garamond"/>
              </a:rPr>
              <a:t>Key Points</a:t>
            </a:r>
            <a:endParaRPr lang="en-US" sz="2200" dirty="0">
              <a:latin typeface="Garamond"/>
            </a:endParaRPr>
          </a:p>
          <a:p>
            <a:pPr marL="457200" indent="-457200">
              <a:buAutoNum type="arabicPeriod"/>
            </a:pPr>
            <a:r>
              <a:rPr lang="en-US" sz="1800" dirty="0">
                <a:latin typeface="Garamond"/>
                <a:ea typeface="+mn-lt"/>
                <a:cs typeface="+mn-lt"/>
              </a:rPr>
              <a:t>First unified framework combining </a:t>
            </a:r>
            <a:r>
              <a:rPr lang="en-US" sz="1800" dirty="0" err="1">
                <a:latin typeface="Garamond"/>
                <a:ea typeface="+mn-lt"/>
                <a:cs typeface="+mn-lt"/>
              </a:rPr>
              <a:t>CodeBERT</a:t>
            </a:r>
            <a:r>
              <a:rPr lang="en-US" sz="1800" dirty="0">
                <a:latin typeface="Garamond"/>
                <a:ea typeface="+mn-lt"/>
                <a:cs typeface="+mn-lt"/>
              </a:rPr>
              <a:t> with both RF and MLP.</a:t>
            </a:r>
          </a:p>
          <a:p>
            <a:pPr marL="457200" indent="-457200">
              <a:buAutoNum type="arabicPeriod"/>
            </a:pPr>
            <a:r>
              <a:rPr lang="en-US" sz="1800" dirty="0">
                <a:latin typeface="Garamond"/>
                <a:ea typeface="+mn-lt"/>
                <a:cs typeface="+mn-lt"/>
              </a:rPr>
              <a:t>Eliminates feature engineering - embeddings alone achieve ~78% accuracy.</a:t>
            </a:r>
          </a:p>
          <a:p>
            <a:pPr marL="457200" indent="-457200">
              <a:buAutoNum type="arabicPeriod"/>
            </a:pPr>
            <a:r>
              <a:rPr lang="en-US" sz="1800" dirty="0">
                <a:latin typeface="Garamond"/>
                <a:ea typeface="+mn-lt"/>
                <a:cs typeface="+mn-lt"/>
              </a:rPr>
              <a:t>Production-ready - real-time inference enables CI/CD integration.</a:t>
            </a:r>
          </a:p>
          <a:p>
            <a:pPr marL="457200" indent="-457200">
              <a:buAutoNum type="arabicPeriod"/>
            </a:pPr>
            <a:endParaRPr lang="en-US" sz="1800" dirty="0">
              <a:latin typeface="Garamond"/>
              <a:ea typeface="+mn-lt"/>
              <a:cs typeface="+mn-lt"/>
            </a:endParaRPr>
          </a:p>
          <a:p>
            <a:pPr>
              <a:buNone/>
            </a:pPr>
            <a:r>
              <a:rPr lang="en-US" sz="2200" b="1" dirty="0">
                <a:latin typeface="Garamond"/>
                <a:ea typeface="+mn-lt"/>
                <a:cs typeface="+mn-lt"/>
              </a:rPr>
              <a:t>Impact Statement</a:t>
            </a:r>
          </a:p>
          <a:p>
            <a:pPr>
              <a:buNone/>
            </a:pPr>
            <a:r>
              <a:rPr lang="en-US" sz="1800" dirty="0">
                <a:latin typeface="Garamond"/>
                <a:ea typeface="+mn-lt"/>
                <a:cs typeface="+mn-lt"/>
              </a:rPr>
              <a:t> This work demonstrates that transfer learning from code understanding can successfully apply to quality assessment, reducing the engineering effort required for automated code smell detection while achieving competitive performance comparable to traditional approaches.</a:t>
            </a:r>
            <a:endParaRPr lang="en-US" sz="1800" dirty="0">
              <a:latin typeface="Garamond"/>
            </a:endParaRPr>
          </a:p>
          <a:p>
            <a:pPr>
              <a:buNone/>
            </a:pPr>
            <a:endParaRPr lang="en-US" sz="2200" b="1" dirty="0">
              <a:latin typeface="Garamond"/>
            </a:endParaRPr>
          </a:p>
        </p:txBody>
      </p:sp>
    </p:spTree>
    <p:extLst>
      <p:ext uri="{BB962C8B-B14F-4D97-AF65-F5344CB8AC3E}">
        <p14:creationId xmlns:p14="http://schemas.microsoft.com/office/powerpoint/2010/main" val="3627566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fferent colored question marks">
            <a:extLst>
              <a:ext uri="{FF2B5EF4-FFF2-40B4-BE49-F238E27FC236}">
                <a16:creationId xmlns:a16="http://schemas.microsoft.com/office/drawing/2014/main" id="{20E242A9-FE0A-D8CB-94E1-11EE41F11F32}"/>
              </a:ext>
            </a:extLst>
          </p:cNvPr>
          <p:cNvPicPr>
            <a:picLocks noChangeAspect="1"/>
          </p:cNvPicPr>
          <p:nvPr/>
        </p:nvPicPr>
        <p:blipFill>
          <a:blip r:embed="rId3"/>
          <a:srcRect r="433" b="6"/>
          <a:stretch>
            <a:fillRect/>
          </a:stretch>
        </p:blipFill>
        <p:spPr>
          <a:xfrm>
            <a:off x="20" y="-7619"/>
            <a:ext cx="12191979" cy="6887364"/>
          </a:xfrm>
          <a:prstGeom prst="rect">
            <a:avLst/>
          </a:prstGeom>
        </p:spPr>
      </p:pic>
      <p:sp>
        <p:nvSpPr>
          <p:cNvPr id="8" name="Rectangle 7">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AE231-7557-0088-14DB-B8ED1F6B0D26}"/>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b="1">
                <a:solidFill>
                  <a:srgbClr val="FFFFFF"/>
                </a:solidFill>
              </a:rPr>
              <a:t>Thank You &amp; Questions</a:t>
            </a:r>
            <a:endParaRPr lang="en-US" sz="4000">
              <a:solidFill>
                <a:srgbClr val="FFFFFF"/>
              </a:solidFill>
            </a:endParaRPr>
          </a:p>
        </p:txBody>
      </p:sp>
    </p:spTree>
    <p:extLst>
      <p:ext uri="{BB962C8B-B14F-4D97-AF65-F5344CB8AC3E}">
        <p14:creationId xmlns:p14="http://schemas.microsoft.com/office/powerpoint/2010/main" val="3382067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35</Slides>
  <Notes>28</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Semantic and Structural Fusion  for Code Smell Detection  Using CodeBERT and  Random Forest </vt:lpstr>
      <vt:lpstr>Agenda</vt:lpstr>
      <vt:lpstr>First Unified Framework: CodeBERT + Random Forest  for Automated Code Smell Detection</vt:lpstr>
      <vt:lpstr>PowerPoint Presentation</vt:lpstr>
      <vt:lpstr>The Code Smell Problem: A Growing Challenge </vt:lpstr>
      <vt:lpstr>Research Gap: What's Missing? </vt:lpstr>
      <vt:lpstr>Research Questions</vt:lpstr>
      <vt:lpstr>What are Code Smells?</vt:lpstr>
      <vt:lpstr>CodeBERT: Semantic Code Understanding</vt:lpstr>
      <vt:lpstr>PowerPoint Presentation</vt:lpstr>
      <vt:lpstr>A Novel Approach: Unified Framework</vt:lpstr>
      <vt:lpstr>Dataset: SmellyCode++</vt:lpstr>
      <vt:lpstr>Exploratory Data Analysis: Key Insights</vt:lpstr>
      <vt:lpstr>PowerPoint Presentation</vt:lpstr>
      <vt:lpstr>Methodology: End-to-End Pipeline</vt:lpstr>
      <vt:lpstr>PowerPoint Presentation</vt:lpstr>
      <vt:lpstr>PowerPoint Presentation</vt:lpstr>
      <vt:lpstr>PowerPoint Presentation</vt:lpstr>
      <vt:lpstr>Feature Extraction: CodeBERT Embeddings</vt:lpstr>
      <vt:lpstr>Random Forest Classifier</vt:lpstr>
      <vt:lpstr>Experimental Setup</vt:lpstr>
      <vt:lpstr>Results: Strong Performance Across Both Models</vt:lpstr>
      <vt:lpstr>Detailed Performance Analysis</vt:lpstr>
      <vt:lpstr>PowerPoint Presentation</vt:lpstr>
      <vt:lpstr>Error Analysis: Understanding Limitations</vt:lpstr>
      <vt:lpstr>PowerPoint Presentation</vt:lpstr>
      <vt:lpstr>Key Findings</vt:lpstr>
      <vt:lpstr>PowerPoint Presentation</vt:lpstr>
      <vt:lpstr>Practical Deployment: Real-World Integration</vt:lpstr>
      <vt:lpstr>Limitations &amp; Future Improvements</vt:lpstr>
      <vt:lpstr>Research Questions: Answered</vt:lpstr>
      <vt:lpstr>PowerPoint Presentation</vt:lpstr>
      <vt:lpstr>Future Work</vt:lpstr>
      <vt:lpstr>Conclusion</vt:lpstr>
      <vt:lpstr>Thank You &amp;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1553</cp:revision>
  <dcterms:created xsi:type="dcterms:W3CDTF">2025-11-30T22:16:41Z</dcterms:created>
  <dcterms:modified xsi:type="dcterms:W3CDTF">2025-12-16T23:07:20Z</dcterms:modified>
</cp:coreProperties>
</file>